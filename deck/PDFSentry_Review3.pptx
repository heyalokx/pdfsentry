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charts/chart1.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charts/chart2.xml" ContentType="application/vnd.openxmlformats-officedocument.drawingml.chart+xml"/>
  <Override PartName="/ppt/slideMasters/slideMaster13.xml" ContentType="application/vnd.openxmlformats-officedocument.presentationml.slideMaster+xml"/>
  <Override PartName="/ppt/slides/slide13.xml" ContentType="application/vnd.openxmlformats-officedocument.presentationml.slide+xml"/>
  <Override PartName="/ppt/charts/chart3.xml" ContentType="application/vnd.openxmlformats-officedocument.drawingml.chart+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Lst>
  <p:notesMasterIdLst>
    <p:notesMasterId r:id="rId1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notesMaster" Target="notesMasters/notesMaster1.xml"/><Relationship Id="rId20" Type="http://schemas.openxmlformats.org/officeDocument/2006/relationships/presProps" Target="presProps.xml"/><Relationship Id="rId21" Type="http://schemas.openxmlformats.org/officeDocument/2006/relationships/viewProps" Target="viewProps.xml"/><Relationship Id="rId22" Type="http://schemas.openxmlformats.org/officeDocument/2006/relationships/theme" Target="theme/theme1.xml"/><Relationship Id="rId23"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attention</c:v>
                </c:pt>
              </c:strCache>
            </c:strRef>
          </c:tx>
          <c:spPr>
            <a:solidFill>
              <a:srgbClr val="6B7178"/>
            </a:solidFill>
            <a:effectLst/>
          </c:spPr>
          <c:invertIfNegative val="0"/>
          <c:dLbls>
            <c:numFmt formatCode="0&quot;%&quot;" sourceLinked="0"/>
            <c:txPr>
              <a:bodyPr/>
              <a:lstStyle/>
              <a:p>
                <a:pPr>
                  <a:defRPr b="0" i="0" strike="noStrike" sz="1100" u="none">
                    <a:solidFill>
                      <a:srgbClr val="3A3F46"/>
                    </a:solidFill>
                    <a:latin typeface="Calibri"/>
                  </a:defRPr>
                </a:pPr>
              </a:p>
            </c:txPr>
            <c:showLegendKey val="0"/>
            <c:showVal val="1"/>
            <c:showCatName val="0"/>
            <c:showSerName val="0"/>
            <c:showPercent val="0"/>
            <c:showBubbleSize val="0"/>
            <c:showLeaderLines val="0"/>
          </c:dLbls>
          <c:dPt>
            <c:idx val="0"/>
            <c:invertIfNegative val="0"/>
            <c:bubble3D val="0"/>
            <c:spPr>
              <a:solidFill>
                <a:srgbClr val="6b7178"/>
              </a:solidFill>
              <a:effectLst/>
            </c:spPr>
          </c:dPt>
          <c:dPt>
            <c:idx val="1"/>
            <c:invertIfNegative val="0"/>
            <c:bubble3D val="0"/>
            <c:spPr>
              <a:solidFill>
                <a:srgbClr val="6b7178"/>
              </a:solidFill>
              <a:effectLst/>
            </c:spPr>
          </c:dPt>
          <c:dPt>
            <c:idx val="2"/>
            <c:invertIfNegative val="0"/>
            <c:bubble3D val="0"/>
            <c:spPr>
              <a:solidFill>
                <a:srgbClr val="6b7178"/>
              </a:solidFill>
              <a:effectLst/>
            </c:spPr>
          </c:dPt>
          <c:dPt>
            <c:idx val="3"/>
            <c:invertIfNegative val="0"/>
            <c:bubble3D val="0"/>
            <c:spPr>
              <a:solidFill>
                <a:srgbClr val="b4473f"/>
              </a:solidFill>
              <a:effectLst/>
            </c:spPr>
          </c:dPt>
          <c:cat>
            <c:multiLvlStrRef>
              <c:f>Sheet1!$A$2:$A$5</c:f>
              <c:multiLvlStrCache>
                <c:ptCount val="4"/>
                <c:lvl>
                  <c:pt idx="0">
                    <c:v>strings</c:v>
                  </c:pt>
                  <c:pt idx="1">
                    <c:v>byte histogram</c:v>
                  </c:pt>
                  <c:pt idx="2">
                    <c:v>byte entropy</c:v>
                  </c:pt>
                  <c:pt idx="3">
                    <c:v>structure</c:v>
                  </c:pt>
                </c:lvl>
              </c:multiLvlStrCache>
            </c:multiLvlStrRef>
          </c:cat>
          <c:val>
            <c:numRef>
              <c:f>Sheet1!$B$2:$B$5</c:f>
              <c:numCache>
                <c:formatCode>General</c:formatCode>
                <c:ptCount val="4"/>
                <c:pt idx="0">
                  <c:v>60</c:v>
                </c:pt>
                <c:pt idx="1">
                  <c:v>29</c:v>
                </c:pt>
                <c:pt idx="2">
                  <c:v>9</c:v>
                </c:pt>
                <c:pt idx="3">
                  <c:v>0.4</c:v>
                </c:pt>
              </c:numCache>
            </c:numRef>
          </c:val>
        </c:ser>
        <c:dLbls>
          <c:numFmt formatCode="0&quot;%&quot;" sourceLinked="0"/>
          <c:txPr>
            <a:bodyPr/>
            <a:lstStyle/>
            <a:p>
              <a:pPr>
                <a:defRPr b="0" i="0" strike="noStrike" sz="1100" u="none">
                  <a:solidFill>
                    <a:srgbClr val="3A3F46"/>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6B7178"/>
                </a:solidFill>
                <a:latin typeface="Calibri"/>
              </a:defRPr>
            </a:pPr>
            <a:endParaRPr lang="en-US"/>
          </a:p>
        </c:txPr>
        <c:crossAx val="2094734552"/>
        <c:crosses val="autoZero"/>
        <c:auto val="1"/>
        <c:lblAlgn val="ctr"/>
        <c:noMultiLvlLbl val="1"/>
      </c:catAx>
      <c:valAx>
        <c:axId val="2094734552"/>
        <c:scaling>
          <c:orientation val="minMax"/>
          <c:max val="70"/>
          <c:min val="0"/>
        </c:scaling>
        <c:delete val="0"/>
        <c:axPos val="l"/>
        <c:majorGridlines>
          <c:spPr>
            <a:ln w="9525" cap="flat">
              <a:solidFill>
                <a:srgbClr val="e2e4e8"/>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6B7178"/>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ROC-AUC</c:v>
                </c:pt>
              </c:strCache>
            </c:strRef>
          </c:tx>
          <c:spPr>
            <a:solidFill>
              <a:srgbClr val="C08A2E"/>
            </a:solidFill>
            <a:effectLst/>
          </c:spPr>
          <c:invertIfNegative val="0"/>
          <c:dLbls>
            <c:numFmt formatCode="0.000" sourceLinked="0"/>
            <c:txPr>
              <a:bodyPr/>
              <a:lstStyle/>
              <a:p>
                <a:pPr>
                  <a:defRPr b="0" i="0" strike="noStrike" sz="1200" u="none">
                    <a:solidFill>
                      <a:srgbClr val="3A3F46"/>
                    </a:solidFill>
                    <a:latin typeface="Calibri"/>
                  </a:defRPr>
                </a:pPr>
              </a:p>
            </c:txPr>
            <c:showLegendKey val="0"/>
            <c:showVal val="1"/>
            <c:showCatName val="0"/>
            <c:showSerName val="0"/>
            <c:showPercent val="0"/>
            <c:showBubbleSize val="0"/>
            <c:showLeaderLines val="0"/>
          </c:dLbls>
          <c:dPt>
            <c:idx val="0"/>
            <c:invertIfNegative val="0"/>
            <c:bubble3D val="0"/>
            <c:spPr>
              <a:solidFill>
                <a:srgbClr val="c08a2e"/>
              </a:solidFill>
              <a:effectLst/>
            </c:spPr>
          </c:dPt>
          <c:dPt>
            <c:idx val="1"/>
            <c:invertIfNegative val="0"/>
            <c:bubble3D val="0"/>
            <c:spPr>
              <a:solidFill>
                <a:srgbClr val="2f8f82"/>
              </a:solidFill>
              <a:effectLst/>
            </c:spPr>
          </c:dPt>
          <c:cat>
            <c:multiLvlStrRef>
              <c:f>Sheet1!$A$2:$A$3</c:f>
              <c:multiLvlStrCache>
                <c:ptCount val="2"/>
                <c:lvl>
                  <c:pt idx="0">
                    <c:v>EMBER score alone</c:v>
                  </c:pt>
                  <c:pt idx="1">
                    <c:v>EMBER + reachability</c:v>
                  </c:pt>
                </c:lvl>
              </c:multiLvlStrCache>
            </c:multiLvlStrRef>
          </c:cat>
          <c:val>
            <c:numRef>
              <c:f>Sheet1!$B$2:$B$3</c:f>
              <c:numCache>
                <c:formatCode>General</c:formatCode>
                <c:ptCount val="2"/>
                <c:pt idx="0">
                  <c:v>0.649</c:v>
                </c:pt>
                <c:pt idx="1">
                  <c:v>0.998</c:v>
                </c:pt>
              </c:numCache>
            </c:numRef>
          </c:val>
        </c:ser>
        <c:dLbls>
          <c:numFmt formatCode="0.000" sourceLinked="0"/>
          <c:txPr>
            <a:bodyPr/>
            <a:lstStyle/>
            <a:p>
              <a:pPr>
                <a:defRPr b="0" i="0" strike="noStrike" sz="1200" u="none">
                  <a:solidFill>
                    <a:srgbClr val="3A3F46"/>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6B7178"/>
                </a:solidFill>
                <a:latin typeface="Calibri"/>
              </a:defRPr>
            </a:pPr>
            <a:endParaRPr lang="en-US"/>
          </a:p>
        </c:txPr>
        <c:crossAx val="2094734552"/>
        <c:crosses val="autoZero"/>
        <c:auto val="1"/>
        <c:lblAlgn val="ctr"/>
        <c:noMultiLvlLbl val="1"/>
      </c:catAx>
      <c:valAx>
        <c:axId val="2094734552"/>
        <c:scaling>
          <c:orientation val="minMax"/>
          <c:max val="1"/>
          <c:min val="0"/>
        </c:scaling>
        <c:delete val="0"/>
        <c:axPos val="l"/>
        <c:majorGridlines>
          <c:spPr>
            <a:ln w="9525" cap="flat">
              <a:solidFill>
                <a:srgbClr val="e2e4e8"/>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6B7178"/>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EMBER score</c:v>
                </c:pt>
              </c:strCache>
            </c:strRef>
          </c:tx>
          <c:spPr>
            <a:solidFill>
              <a:srgbClr val="C08A2E"/>
            </a:solidFill>
            <a:effectLst/>
          </c:spPr>
          <c:invertIfNegative val="0"/>
          <c:dLbls>
            <c:numFmt formatCode="0.00" sourceLinked="0"/>
            <c:txPr>
              <a:bodyPr/>
              <a:lstStyle/>
              <a:p>
                <a:pPr>
                  <a:defRPr b="0" i="0" strike="noStrike" sz="900" u="none">
                    <a:solidFill>
                      <a:srgbClr val="3A3F46"/>
                    </a:solidFill>
                    <a:latin typeface="Calibri"/>
                  </a:defRPr>
                </a:pPr>
              </a:p>
            </c:txPr>
            <c:showLegendKey val="0"/>
            <c:showVal val="1"/>
            <c:showCatName val="0"/>
            <c:showSerName val="0"/>
            <c:showPercent val="0"/>
            <c:showBubbleSize val="0"/>
            <c:showLeaderLines val="0"/>
          </c:dLbls>
          <c:dPt>
            <c:idx val="0"/>
            <c:invertIfNegative val="0"/>
            <c:bubble3D val="0"/>
            <c:spPr>
              <a:solidFill>
                <a:srgbClr val="c08a2e"/>
              </a:solidFill>
              <a:effectLst/>
            </c:spPr>
          </c:dPt>
          <c:dPt>
            <c:idx val="1"/>
            <c:invertIfNegative val="0"/>
            <c:bubble3D val="0"/>
            <c:spPr>
              <a:solidFill>
                <a:srgbClr val="c08a2e"/>
              </a:solidFill>
              <a:effectLst/>
            </c:spPr>
          </c:dPt>
          <c:dPt>
            <c:idx val="2"/>
            <c:invertIfNegative val="0"/>
            <c:bubble3D val="0"/>
            <c:spPr>
              <a:solidFill>
                <a:srgbClr val="2f8f82"/>
              </a:solidFill>
              <a:effectLst/>
            </c:spPr>
          </c:dPt>
          <c:dPt>
            <c:idx val="3"/>
            <c:invertIfNegative val="0"/>
            <c:bubble3D val="0"/>
            <c:spPr>
              <a:solidFill>
                <a:srgbClr val="2f8f82"/>
              </a:solidFill>
              <a:effectLst/>
            </c:spPr>
          </c:dPt>
          <c:dPt>
            <c:idx val="4"/>
            <c:invertIfNegative val="0"/>
            <c:bubble3D val="0"/>
            <c:spPr>
              <a:solidFill>
                <a:srgbClr val="c08a2e"/>
              </a:solidFill>
              <a:effectLst/>
            </c:spPr>
          </c:dPt>
          <c:dPt>
            <c:idx val="5"/>
            <c:invertIfNegative val="0"/>
            <c:bubble3D val="0"/>
            <c:spPr>
              <a:solidFill>
                <a:srgbClr val="2f8f82"/>
              </a:solidFill>
              <a:effectLst/>
            </c:spPr>
          </c:dPt>
          <c:dPt>
            <c:idx val="6"/>
            <c:invertIfNegative val="0"/>
            <c:bubble3D val="0"/>
            <c:spPr>
              <a:solidFill>
                <a:srgbClr val="c08a2e"/>
              </a:solidFill>
              <a:effectLst/>
            </c:spPr>
          </c:dPt>
          <c:dPt>
            <c:idx val="7"/>
            <c:invertIfNegative val="0"/>
            <c:bubble3D val="0"/>
            <c:spPr>
              <a:solidFill>
                <a:srgbClr val="c08a2e"/>
              </a:solidFill>
              <a:effectLst/>
            </c:spPr>
          </c:dPt>
          <c:cat>
            <c:multiLvlStrRef>
              <c:f>Sheet1!$A$2:$A$9</c:f>
              <c:multiLvlStrCache>
                <c:ptCount val="8"/>
                <c:lvl>
                  <c:pt idx="0">
                    <c:v>baseline</c:v>
                  </c:pt>
                  <c:pt idx="1">
                    <c:v>recompress</c:v>
                  </c:pt>
                  <c:pt idx="2">
                    <c:v>decompress</c:v>
                  </c:pt>
                  <c:pt idx="3">
                    <c:v>objstm+</c:v>
                  </c:pt>
                  <c:pt idx="4">
                    <c:v>objstm−</c:v>
                  </c:pt>
                  <c:pt idx="5">
                    <c:v>normalize</c:v>
                  </c:pt>
                  <c:pt idx="6">
                    <c:v>linearize</c:v>
                  </c:pt>
                  <c:pt idx="7">
                    <c:v>encrypt</c:v>
                  </c:pt>
                </c:lvl>
              </c:multiLvlStrCache>
            </c:multiLvlStrRef>
          </c:cat>
          <c:val>
            <c:numRef>
              <c:f>Sheet1!$B$2:$B$9</c:f>
              <c:numCache>
                <c:formatCode>General</c:formatCode>
                <c:ptCount val="8"/>
                <c:pt idx="0">
                  <c:v>0.8</c:v>
                </c:pt>
                <c:pt idx="1">
                  <c:v>0.57</c:v>
                </c:pt>
                <c:pt idx="2">
                  <c:v>0.02</c:v>
                </c:pt>
                <c:pt idx="3">
                  <c:v>0</c:v>
                </c:pt>
                <c:pt idx="4">
                  <c:v>0.8</c:v>
                </c:pt>
                <c:pt idx="5">
                  <c:v>0.07</c:v>
                </c:pt>
                <c:pt idx="6">
                  <c:v>0.73</c:v>
                </c:pt>
                <c:pt idx="7">
                  <c:v>0.98</c:v>
                </c:pt>
              </c:numCache>
            </c:numRef>
          </c:val>
        </c:ser>
        <c:dLbls>
          <c:numFmt formatCode="0.00" sourceLinked="0"/>
          <c:txPr>
            <a:bodyPr/>
            <a:lstStyle/>
            <a:p>
              <a:pPr>
                <a:defRPr b="0" i="0" strike="noStrike" sz="900" u="none">
                  <a:solidFill>
                    <a:srgbClr val="3A3F46"/>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6B7178"/>
                </a:solidFill>
                <a:latin typeface="Calibri"/>
              </a:defRPr>
            </a:pPr>
            <a:endParaRPr lang="en-US"/>
          </a:p>
        </c:txPr>
        <c:crossAx val="2094734552"/>
        <c:crosses val="autoZero"/>
        <c:auto val="1"/>
        <c:lblAlgn val="ctr"/>
        <c:noMultiLvlLbl val="1"/>
      </c:catAx>
      <c:valAx>
        <c:axId val="2094734552"/>
        <c:scaling>
          <c:orientation val="minMax"/>
          <c:max val="1"/>
          <c:min val="0"/>
        </c:scaling>
        <c:delete val="0"/>
        <c:axPos val="l"/>
        <c:majorGridlines>
          <c:spPr>
            <a:ln w="9525" cap="flat">
              <a:solidFill>
                <a:srgbClr val="e2e4e8"/>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6B7178"/>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with the paradox: the benchmark looks solved, yet nearly half of real evasive malware is missed. Stress that these 805 are not synthetic — they are samples that already evaded AV, so they are the realistic threat. This motivates everything that follows.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Place PDFSentry in the literature. Signatures and count-based models (PDFRate, Slayer) are defeated by cheap edits; Hidost is structure-aware but static-path only. Our novelty is reachability — connecting an automatic trigger to a dangerous capability — which none of these model.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thesis slide — spend time here. Contrast the two questions explicitly. The key line: an attacker can change how a file looks for free, but to defeat reachability they must sever the trigger-to-action path, which disarms their own payload.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the pipeline left to right. Emphasise “never executed” — this is pure static analysis, which is both safer and reproducible. The fusion node is where our structural signal meets the byte-ML score; the output is not just a label but a verdict plus a witness path.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your “depth” slide — show the machinery. Name the trigger vectors explicitly; examiners like to see you know the PDF spec. The BFS is bounded for safety against pathological files. Stress determinism: unlike an ML model, this cannot drift.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Explain why a scalar score is not enough. A clickable URL and an auto-run JavaScript are both “active” but very different threats. The taxonomy encodes that distinction, and it is why we get zero false positives on benign links in testing.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Show that reachability is not a single rule but a rich, interpretable feature space. The star feature is the hidden-gap signature: a payload that is reachable yet has a zero naive token count can only exist through deliberate concealment. Every feature is human-readable, unlike the 2568-D byte vector.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Establish rigour before the results. Note we follow the EMBER authors’ own evaluation protocol so our baseline is honest. Distinguish the two experiment types: real-malware evidence (features only) and controlled mechanism studies (our twins). Reiterate: nothing is ever executed.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“why” evidence. SHAP on the real model shows it reasons almost entirely from string and byte statistics and essentially ignores structure. Critically, the feature profile of what it misses is nearly identical to what it catches — so once a file’s byte profile looks benign, the model has nothing left. That void is what reachability fills.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strongest real-data result — it is on actual malware, not twins, and it is confound-free because it uses EMBER’s own features. The misses are systematically more compressed, higher-entropy and larger: the hallmark of hiding active content in object streams. State the p-values to show it is not noise.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Pillar one. On the controlled twins, EMBER alone scores 0.649 ROC-AUC — barely better than chance for this evasion class. Fusing reachability lifts it to 0.998. Be scrupulous: say clearly this is the controlled study, not the 0.78 benchmark (which we address under limitations).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Pillar two — our novel robustness result. Take one malicious document, re-save it losslessly eight ways: the behaviour is byte-for-byte identical, yet EMBER’s score ranges from 0.00 to 0.98. Across 704 variants it flips verdict on 78.4% of documents. Reachability is invariant — stability index 1.000 — because it reads behaviour, not encoding.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Pillar three — trust. An ML score is a number you must trust; our verdict comes with a path a human can re-check in seconds. Zero false positives on 285 benign documents at the auto-execution gate, fully deterministic, and fast enough to sit in an email gateway. This is what turns a research result into something deployable.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Make this concrete and operational. First two bullets are behaviours; the rest are checkable IoCs a SOC analyst could use. The hidden-gap IoC is the memorable one: a payload that is reachable but “invisible” to a token count is, by definition, deliberately concealed.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the argument, then pre-empt the hard question. PDFSentry wins on every structural property. Then be the first to say what we did NOT do: we did not beat the 0.78 benchmark, because that needs raw evasive files to retrain, which we could not obtain. The 0.998 is controlled. Owning this is what makes the rest credible.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Slide-1-image-1.jpe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slideLayout" Target="../slideLayouts/slideLayout1.xml"/><Relationship Id="rI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Slide-2-image-1.jpe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Slide-3-image-1.jpe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Slide-4-image-1.jpe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Slide-5-image-1.jpeg"/><Relationship Id="rId2" Type="http://schemas.openxmlformats.org/officeDocument/2006/relationships/image" Target="../media/image-5-2.png"/><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Slide-6-image-1.jpe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Slide-7-image-1.jpe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Slide-8-image-1.jpe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Slide-9-image-1.jpe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2" Type="http://schemas.openxmlformats.org/officeDocument/2006/relationships/chart" Target="/ppt/charts/chart1.xml"/><Relationship Id="rId1" Type="http://schemas.openxmlformats.org/officeDocument/2006/relationships/image" Target="../media/Slide-10-image-1.jpeg"/><Relationship Id="rId3" Type="http://schemas.openxmlformats.org/officeDocument/2006/relationships/slideLayout" Target="../slideLayouts/slideLayout1.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Slide-11-image-1.jpe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2" Type="http://schemas.openxmlformats.org/officeDocument/2006/relationships/chart" Target="/ppt/charts/chart2.xml"/><Relationship Id="rId1" Type="http://schemas.openxmlformats.org/officeDocument/2006/relationships/image" Target="../media/Slide-12-image-1.jpeg"/><Relationship Id="rId3" Type="http://schemas.openxmlformats.org/officeDocument/2006/relationships/slideLayout" Target="../slideLayouts/slideLayout1.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2" Type="http://schemas.openxmlformats.org/officeDocument/2006/relationships/chart" Target="/ppt/charts/chart3.xml"/><Relationship Id="rId1" Type="http://schemas.openxmlformats.org/officeDocument/2006/relationships/image" Target="../media/Slide-13-image-1.jpeg"/><Relationship Id="rId3" Type="http://schemas.openxmlformats.org/officeDocument/2006/relationships/slideLayout" Target="../slideLayouts/slideLayout1.xml"/><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Slide-14-image-1.jpeg"/><Relationship Id="rId2" Type="http://schemas.openxmlformats.org/officeDocument/2006/relationships/image" Target="../media/image-14-2.jpg"/><Relationship Id="rId3" Type="http://schemas.openxmlformats.org/officeDocument/2006/relationships/slideLayout" Target="../slideLayouts/slideLayout1.xml"/><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Slide-15-image-1.jpeg"/><Relationship Id="rId2" Type="http://schemas.openxmlformats.org/officeDocument/2006/relationships/image" Target="../media/image-15-2.png"/><Relationship Id="rId3" Type="http://schemas.openxmlformats.org/officeDocument/2006/relationships/slideLayout" Target="../slideLayouts/slideLayout1.xml"/><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Slide-16-image-1.jpe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Slide-17-image-1.jpeg"/><Relationship Id="rId2" Type="http://schemas.openxmlformats.org/officeDocument/2006/relationships/image" Target="../media/image-17-2.png"/><Relationship Id="rId3" Type="http://schemas.openxmlformats.org/officeDocument/2006/relationships/slideLayout" Target="../slideLayouts/slideLayout1.xml"/><Relationship Id="rId4" Type="http://schemas.openxmlformats.org/officeDocument/2006/relationships/notesSlide" Target="../notesSlides/notesSlide1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502920" y="292608"/>
            <a:ext cx="4572000" cy="274320"/>
          </a:xfrm>
          <a:prstGeom prst="rect">
            <a:avLst/>
          </a:prstGeom>
          <a:noFill/>
          <a:ln/>
        </p:spPr>
        <p:txBody>
          <a:bodyPr wrap="square" lIns="0" tIns="0" rIns="0" bIns="0" rtlCol="0" anchor="ctr"/>
          <a:lstStyle/>
          <a:p>
            <a:pPr indent="0" marL="0">
              <a:buNone/>
            </a:pPr>
            <a:r>
              <a:rPr lang="en-US" sz="1100" b="1" spc="400" kern="0" dirty="0">
                <a:solidFill>
                  <a:srgbClr val="6B7178"/>
                </a:solidFill>
                <a:latin typeface="Calibri" pitchFamily="34" charset="0"/>
                <a:ea typeface="Calibri" pitchFamily="34" charset="-122"/>
                <a:cs typeface="Calibri" pitchFamily="34" charset="-120"/>
              </a:rPr>
              <a:t>PDFSENTRY</a:t>
            </a:r>
            <a:endParaRPr lang="en-US" sz="1100" dirty="0"/>
          </a:p>
        </p:txBody>
      </p:sp>
      <p:sp>
        <p:nvSpPr>
          <p:cNvPr id="3" name="Text 1"/>
          <p:cNvSpPr txBox="1"/>
          <p:nvPr/>
        </p:nvSpPr>
        <p:spPr>
          <a:xfrm>
            <a:off x="6659575" y="292608"/>
            <a:ext cx="5029200" cy="274320"/>
          </a:xfrm>
          <a:prstGeom prst="rect">
            <a:avLst/>
          </a:prstGeom>
          <a:noFill/>
          <a:ln/>
        </p:spPr>
        <p:txBody>
          <a:bodyPr wrap="square" lIns="0" tIns="0" rIns="0" bIns="0" rtlCol="0" anchor="ctr"/>
          <a:lstStyle/>
          <a:p>
            <a:pPr algn="r" indent="0" marL="0">
              <a:buNone/>
            </a:pPr>
            <a:r>
              <a:rPr lang="en-US" sz="1100" spc="300" kern="0" dirty="0">
                <a:solidFill>
                  <a:srgbClr val="6B7178"/>
                </a:solidFill>
                <a:latin typeface="Calibri" pitchFamily="34" charset="0"/>
                <a:ea typeface="Calibri" pitchFamily="34" charset="-122"/>
                <a:cs typeface="Calibri" pitchFamily="34" charset="-120"/>
              </a:rPr>
              <a:t>BCSE321L · MALWARE ANALYSIS</a:t>
            </a:r>
            <a:endParaRPr lang="en-US" sz="1100" dirty="0"/>
          </a:p>
        </p:txBody>
      </p:sp>
      <p:pic>
        <p:nvPicPr>
          <p:cNvPr id="4" name="Image 0" descr="/home/claude/PDFSentry/deck/assets/orn_globe.png">    </p:cNvPr>
          <p:cNvPicPr>
            <a:picLocks noChangeAspect="1"/>
          </p:cNvPicPr>
          <p:nvPr/>
        </p:nvPicPr>
        <p:blipFill>
          <a:blip r:embed="rId2">
            <a:alphaModFix amt="72000"/>
          </a:blip>
          <a:stretch>
            <a:fillRect/>
          </a:stretch>
        </p:blipFill>
        <p:spPr>
          <a:xfrm>
            <a:off x="7955280" y="1325880"/>
            <a:ext cx="3657600" cy="3657600"/>
          </a:xfrm>
          <a:prstGeom prst="rect">
            <a:avLst/>
          </a:prstGeom>
        </p:spPr>
      </p:pic>
      <p:pic>
        <p:nvPicPr>
          <p:cNvPr id="5" name="Image 1" descr="/home/claude/PDFSentry/deck/assets/orn_arcs.png">    </p:cNvPr>
          <p:cNvPicPr>
            <a:picLocks noChangeAspect="1"/>
          </p:cNvPicPr>
          <p:nvPr/>
        </p:nvPicPr>
        <p:blipFill>
          <a:blip r:embed="rId3">
            <a:alphaModFix amt="55000"/>
          </a:blip>
          <a:stretch>
            <a:fillRect/>
          </a:stretch>
        </p:blipFill>
        <p:spPr>
          <a:xfrm>
            <a:off x="10241280" y="4572000"/>
            <a:ext cx="1371600" cy="1371600"/>
          </a:xfrm>
          <a:prstGeom prst="rect">
            <a:avLst/>
          </a:prstGeom>
        </p:spPr>
      </p:pic>
      <p:sp>
        <p:nvSpPr>
          <p:cNvPr id="6" name="Text 2"/>
          <p:cNvSpPr txBox="1"/>
          <p:nvPr/>
        </p:nvSpPr>
        <p:spPr>
          <a:xfrm>
            <a:off x="548640" y="1783080"/>
            <a:ext cx="7315200" cy="365760"/>
          </a:xfrm>
          <a:prstGeom prst="rect">
            <a:avLst/>
          </a:prstGeom>
          <a:noFill/>
          <a:ln/>
        </p:spPr>
        <p:txBody>
          <a:bodyPr wrap="square" lIns="0" tIns="0" rIns="0" bIns="0" rtlCol="0" anchor="ctr"/>
          <a:lstStyle/>
          <a:p>
            <a:pPr indent="0" marL="0">
              <a:buNone/>
            </a:pPr>
            <a:r>
              <a:rPr lang="en-US" sz="1400" b="1" spc="500" kern="0" dirty="0">
                <a:solidFill>
                  <a:srgbClr val="2F8F82"/>
                </a:solidFill>
                <a:latin typeface="Calibri" pitchFamily="34" charset="0"/>
                <a:ea typeface="Calibri" pitchFamily="34" charset="-122"/>
                <a:cs typeface="Calibri" pitchFamily="34" charset="-120"/>
              </a:rPr>
              <a:t>REVIEW 3 — FINAL DEFENCE</a:t>
            </a:r>
            <a:endParaRPr lang="en-US" sz="1400" dirty="0"/>
          </a:p>
        </p:txBody>
      </p:sp>
      <p:sp>
        <p:nvSpPr>
          <p:cNvPr id="7" name="Text 3"/>
          <p:cNvSpPr txBox="1"/>
          <p:nvPr/>
        </p:nvSpPr>
        <p:spPr>
          <a:xfrm>
            <a:off x="475488" y="2167128"/>
            <a:ext cx="8229600" cy="1371600"/>
          </a:xfrm>
          <a:prstGeom prst="rect">
            <a:avLst/>
          </a:prstGeom>
          <a:noFill/>
          <a:ln/>
        </p:spPr>
        <p:txBody>
          <a:bodyPr wrap="square" lIns="0" tIns="0" rIns="0" bIns="0" rtlCol="0" anchor="ctr"/>
          <a:lstStyle/>
          <a:p>
            <a:pPr indent="0" marL="0">
              <a:buNone/>
            </a:pPr>
            <a:r>
              <a:rPr lang="en-US" sz="8200" spc="100" kern="0" dirty="0">
                <a:solidFill>
                  <a:srgbClr val="1B1E22"/>
                </a:solidFill>
                <a:latin typeface="Arial Black" pitchFamily="34" charset="0"/>
                <a:ea typeface="Arial Black" pitchFamily="34" charset="-122"/>
                <a:cs typeface="Arial Black" pitchFamily="34" charset="-120"/>
              </a:rPr>
              <a:t>PDFSentry</a:t>
            </a:r>
            <a:endParaRPr lang="en-US" sz="8200" dirty="0"/>
          </a:p>
        </p:txBody>
      </p:sp>
      <p:sp>
        <p:nvSpPr>
          <p:cNvPr id="8" name="Text 4"/>
          <p:cNvSpPr txBox="1"/>
          <p:nvPr/>
        </p:nvSpPr>
        <p:spPr>
          <a:xfrm>
            <a:off x="548640" y="3611880"/>
            <a:ext cx="7040880" cy="822960"/>
          </a:xfrm>
          <a:prstGeom prst="rect">
            <a:avLst/>
          </a:prstGeom>
          <a:noFill/>
          <a:ln/>
        </p:spPr>
        <p:txBody>
          <a:bodyPr wrap="square" lIns="0" tIns="0" rIns="0" bIns="0" rtlCol="0" anchor="ctr"/>
          <a:lstStyle/>
          <a:p>
            <a:pPr indent="0" marL="0">
              <a:lnSpc>
                <a:spcPct val="105000"/>
              </a:lnSpc>
              <a:buNone/>
            </a:pPr>
            <a:r>
              <a:rPr lang="en-US" sz="2100" dirty="0">
                <a:solidFill>
                  <a:srgbClr val="3A3F46"/>
                </a:solidFill>
                <a:latin typeface="Calibri" pitchFamily="34" charset="0"/>
                <a:ea typeface="Calibri" pitchFamily="34" charset="-122"/>
                <a:cs typeface="Calibri" pitchFamily="34" charset="-120"/>
              </a:rPr>
              <a:t>Explainable, Drift-Resilient Static Detection of Malicious PDF Files</a:t>
            </a:r>
            <a:endParaRPr lang="en-US" sz="2100" dirty="0"/>
          </a:p>
        </p:txBody>
      </p:sp>
      <p:sp>
        <p:nvSpPr>
          <p:cNvPr id="9" name="Text 5"/>
          <p:cNvSpPr txBox="1"/>
          <p:nvPr/>
        </p:nvSpPr>
        <p:spPr>
          <a:xfrm>
            <a:off x="548640" y="4480560"/>
            <a:ext cx="7040880" cy="457200"/>
          </a:xfrm>
          <a:prstGeom prst="rect">
            <a:avLst/>
          </a:prstGeom>
          <a:noFill/>
          <a:ln/>
        </p:spPr>
        <p:txBody>
          <a:bodyPr wrap="square" lIns="0" tIns="0" rIns="0" bIns="0" rtlCol="0" anchor="ctr"/>
          <a:lstStyle/>
          <a:p>
            <a:pPr indent="0" marL="0">
              <a:lnSpc>
                <a:spcPct val="105000"/>
              </a:lnSpc>
              <a:buNone/>
            </a:pPr>
            <a:r>
              <a:rPr lang="en-US" sz="1300" i="1" dirty="0">
                <a:solidFill>
                  <a:srgbClr val="6B7178"/>
                </a:solidFill>
                <a:latin typeface="Calibri" pitchFamily="34" charset="0"/>
                <a:ea typeface="Calibri" pitchFamily="34" charset="-122"/>
                <a:cs typeface="Calibri" pitchFamily="34" charset="-120"/>
              </a:rPr>
              <a:t>Reachability over recognition — reading what a PDF will do, not just what it contains.</a:t>
            </a:r>
            <a:endParaRPr lang="en-US" sz="1300" dirty="0"/>
          </a:p>
        </p:txBody>
      </p:sp>
      <p:sp>
        <p:nvSpPr>
          <p:cNvPr id="10" name="Text 6"/>
          <p:cNvSpPr txBox="1"/>
          <p:nvPr/>
        </p:nvSpPr>
        <p:spPr>
          <a:xfrm>
            <a:off x="548640" y="5440680"/>
            <a:ext cx="6766560" cy="1005840"/>
          </a:xfrm>
          <a:prstGeom prst="rect">
            <a:avLst/>
          </a:prstGeom>
          <a:noFill/>
          <a:ln/>
        </p:spPr>
        <p:txBody>
          <a:bodyPr wrap="square" lIns="0" tIns="0" rIns="0" bIns="0" rtlCol="0" anchor="ctr"/>
          <a:lstStyle/>
          <a:p>
            <a:pPr indent="0" marL="0">
              <a:lnSpc>
                <a:spcPct val="130000"/>
              </a:lnSpc>
              <a:buNone/>
            </a:pPr>
            <a:r>
              <a:rPr lang="en-US" sz="1400" dirty="0">
                <a:solidFill>
                  <a:srgbClr val="6B7178"/>
                </a:solidFill>
                <a:latin typeface="Calibri" pitchFamily="34" charset="0"/>
                <a:ea typeface="Calibri" pitchFamily="34" charset="-122"/>
                <a:cs typeface="Calibri" pitchFamily="34" charset="-120"/>
              </a:rPr>
              <a:t>Alok Singh  23BCI0158</a:t>
            </a:r>
            <a:endParaRPr lang="en-US" sz="1400" dirty="0"/>
          </a:p>
          <a:p>
            <a:pPr indent="0" marL="0">
              <a:lnSpc>
                <a:spcPct val="130000"/>
              </a:lnSpc>
              <a:buNone/>
            </a:pPr>
            <a:r>
              <a:rPr lang="en-US" sz="1400" dirty="0">
                <a:solidFill>
                  <a:srgbClr val="6B7178"/>
                </a:solidFill>
                <a:latin typeface="Calibri" pitchFamily="34" charset="0"/>
                <a:ea typeface="Calibri" pitchFamily="34" charset="-122"/>
                <a:cs typeface="Calibri" pitchFamily="34" charset="-120"/>
              </a:rPr>
              <a:t>Mrinali Charhate  23BCI0073</a:t>
            </a:r>
            <a:endParaRPr lang="en-US" sz="1400" dirty="0"/>
          </a:p>
          <a:p>
            <a:pPr indent="0" marL="0">
              <a:lnSpc>
                <a:spcPct val="130000"/>
              </a:lnSpc>
              <a:buNone/>
            </a:pPr>
            <a:r>
              <a:rPr lang="en-US" sz="1400" dirty="0">
                <a:solidFill>
                  <a:srgbClr val="6B7178"/>
                </a:solidFill>
                <a:latin typeface="Calibri" pitchFamily="34" charset="0"/>
                <a:ea typeface="Calibri" pitchFamily="34" charset="-122"/>
                <a:cs typeface="Calibri" pitchFamily="34" charset="-120"/>
              </a:rPr>
              <a:t>Aarya Ashish Nagvekar  23BCI0061</a:t>
            </a:r>
            <a:endParaRPr lang="en-US" sz="1400" dirty="0"/>
          </a:p>
        </p:txBody>
      </p:sp>
      <p:sp>
        <p:nvSpPr>
          <p:cNvPr id="11" name="Text 7"/>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100" i="1" dirty="0">
                <a:solidFill>
                  <a:srgbClr val="9AA0A8"/>
                </a:solidFill>
                <a:latin typeface="Calibri" pitchFamily="34" charset="0"/>
                <a:ea typeface="Calibri" pitchFamily="34" charset="-122"/>
                <a:cs typeface="Calibri" pitchFamily="34" charset="-120"/>
              </a:rPr>
              <a:t>BCSE321L — Malware Analysis · Vellore Institute of Technology</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502920" y="292608"/>
            <a:ext cx="4572000" cy="274320"/>
          </a:xfrm>
          <a:prstGeom prst="rect">
            <a:avLst/>
          </a:prstGeom>
          <a:noFill/>
          <a:ln/>
        </p:spPr>
        <p:txBody>
          <a:bodyPr wrap="square" lIns="0" tIns="0" rIns="0" bIns="0" rtlCol="0" anchor="ctr"/>
          <a:lstStyle/>
          <a:p>
            <a:pPr indent="0" marL="0">
              <a:buNone/>
            </a:pPr>
            <a:r>
              <a:rPr lang="en-US" sz="1100" b="1" spc="400" kern="0" dirty="0">
                <a:solidFill>
                  <a:srgbClr val="6B7178"/>
                </a:solidFill>
                <a:latin typeface="Calibri" pitchFamily="34" charset="0"/>
                <a:ea typeface="Calibri" pitchFamily="34" charset="-122"/>
                <a:cs typeface="Calibri" pitchFamily="34" charset="-120"/>
              </a:rPr>
              <a:t>PDFSENTRY</a:t>
            </a:r>
            <a:endParaRPr lang="en-US" sz="1100" dirty="0"/>
          </a:p>
        </p:txBody>
      </p:sp>
      <p:sp>
        <p:nvSpPr>
          <p:cNvPr id="3" name="Text 1"/>
          <p:cNvSpPr txBox="1"/>
          <p:nvPr/>
        </p:nvSpPr>
        <p:spPr>
          <a:xfrm>
            <a:off x="6659575" y="292608"/>
            <a:ext cx="5029200" cy="274320"/>
          </a:xfrm>
          <a:prstGeom prst="rect">
            <a:avLst/>
          </a:prstGeom>
          <a:noFill/>
          <a:ln/>
        </p:spPr>
        <p:txBody>
          <a:bodyPr wrap="square" lIns="0" tIns="0" rIns="0" bIns="0" rtlCol="0" anchor="ctr"/>
          <a:lstStyle/>
          <a:p>
            <a:pPr algn="r" indent="0" marL="0">
              <a:buNone/>
            </a:pPr>
            <a:r>
              <a:rPr lang="en-US" sz="1100" spc="300" kern="0" dirty="0">
                <a:solidFill>
                  <a:srgbClr val="6B7178"/>
                </a:solidFill>
                <a:latin typeface="Calibri" pitchFamily="34" charset="0"/>
                <a:ea typeface="Calibri" pitchFamily="34" charset="-122"/>
                <a:cs typeface="Calibri" pitchFamily="34" charset="-120"/>
              </a:rPr>
              <a:t>REVIEW 3 · FINAL</a:t>
            </a:r>
            <a:endParaRPr lang="en-US" sz="1100" dirty="0"/>
          </a:p>
        </p:txBody>
      </p:sp>
      <p:sp>
        <p:nvSpPr>
          <p:cNvPr id="4" name="Text 2"/>
          <p:cNvSpPr txBox="1"/>
          <p:nvPr/>
        </p:nvSpPr>
        <p:spPr>
          <a:xfrm>
            <a:off x="512064" y="786384"/>
            <a:ext cx="10058400" cy="256032"/>
          </a:xfrm>
          <a:prstGeom prst="rect">
            <a:avLst/>
          </a:prstGeom>
          <a:noFill/>
          <a:ln/>
        </p:spPr>
        <p:txBody>
          <a:bodyPr wrap="square" lIns="0" tIns="0" rIns="0" bIns="0" rtlCol="0" anchor="ctr"/>
          <a:lstStyle/>
          <a:p>
            <a:pPr indent="0" marL="0">
              <a:buNone/>
            </a:pPr>
            <a:r>
              <a:rPr lang="en-US" sz="1100" b="1" spc="400" kern="0" dirty="0">
                <a:solidFill>
                  <a:srgbClr val="2F8F82"/>
                </a:solidFill>
                <a:latin typeface="Calibri" pitchFamily="34" charset="0"/>
                <a:ea typeface="Calibri" pitchFamily="34" charset="-122"/>
                <a:cs typeface="Calibri" pitchFamily="34" charset="-120"/>
              </a:rPr>
              <a:t>01 · PROBLEM</a:t>
            </a:r>
            <a:endParaRPr lang="en-US" sz="1100" dirty="0"/>
          </a:p>
        </p:txBody>
      </p:sp>
      <p:sp>
        <p:nvSpPr>
          <p:cNvPr id="5" name="Text 3"/>
          <p:cNvSpPr txBox="1"/>
          <p:nvPr/>
        </p:nvSpPr>
        <p:spPr>
          <a:xfrm>
            <a:off x="502920" y="1078992"/>
            <a:ext cx="11155680" cy="731520"/>
          </a:xfrm>
          <a:prstGeom prst="rect">
            <a:avLst/>
          </a:prstGeom>
          <a:noFill/>
          <a:ln/>
        </p:spPr>
        <p:txBody>
          <a:bodyPr wrap="square" lIns="0" tIns="0" rIns="0" bIns="0" rtlCol="0" anchor="ctr"/>
          <a:lstStyle/>
          <a:p>
            <a:pPr indent="0" marL="0">
              <a:buNone/>
            </a:pPr>
            <a:r>
              <a:rPr lang="en-US" sz="3200" dirty="0">
                <a:solidFill>
                  <a:srgbClr val="1B1E22"/>
                </a:solidFill>
                <a:latin typeface="Arial Black" pitchFamily="34" charset="0"/>
                <a:ea typeface="Arial Black" pitchFamily="34" charset="-122"/>
                <a:cs typeface="Arial Black" pitchFamily="34" charset="-120"/>
              </a:rPr>
              <a:t>The problem — the evasive gap</a:t>
            </a:r>
            <a:endParaRPr lang="en-US" sz="3200" dirty="0"/>
          </a:p>
        </p:txBody>
      </p:sp>
      <p:sp>
        <p:nvSpPr>
          <p:cNvPr id="6" name="Text 4"/>
          <p:cNvSpPr txBox="1"/>
          <p:nvPr/>
        </p:nvSpPr>
        <p:spPr>
          <a:xfrm>
            <a:off x="548640" y="1783080"/>
            <a:ext cx="10881360" cy="548640"/>
          </a:xfrm>
          <a:prstGeom prst="rect">
            <a:avLst/>
          </a:prstGeom>
          <a:noFill/>
          <a:ln/>
        </p:spPr>
        <p:txBody>
          <a:bodyPr wrap="square" lIns="0" tIns="0" rIns="0" bIns="0" rtlCol="0" anchor="ctr"/>
          <a:lstStyle/>
          <a:p>
            <a:pPr indent="0" marL="0">
              <a:lnSpc>
                <a:spcPct val="105000"/>
              </a:lnSpc>
              <a:buNone/>
            </a:pPr>
            <a:r>
              <a:rPr lang="en-US" sz="1550" dirty="0">
                <a:solidFill>
                  <a:srgbClr val="3A3F46"/>
                </a:solidFill>
                <a:latin typeface="Calibri" pitchFamily="34" charset="0"/>
                <a:ea typeface="Calibri" pitchFamily="34" charset="-122"/>
                <a:cs typeface="Calibri" pitchFamily="34" charset="-120"/>
              </a:rPr>
              <a:t>The malware that matters most — evasive, post-antivirus PDFs — is exactly where today’s detectors fail.</a:t>
            </a:r>
            <a:endParaRPr lang="en-US" sz="1550" dirty="0"/>
          </a:p>
        </p:txBody>
      </p:sp>
      <p:sp>
        <p:nvSpPr>
          <p:cNvPr id="7" name="Text 5"/>
          <p:cNvSpPr txBox="1"/>
          <p:nvPr/>
        </p:nvSpPr>
        <p:spPr>
          <a:xfrm>
            <a:off x="566928" y="2423160"/>
            <a:ext cx="10881360" cy="2788920"/>
          </a:xfrm>
          <a:prstGeom prst="rect">
            <a:avLst/>
          </a:prstGeom>
          <a:noFill/>
          <a:ln/>
        </p:spPr>
        <p:txBody>
          <a:bodyPr wrap="square" lIns="0" tIns="0" rIns="0" bIns="0" rtlCol="0" anchor="t"/>
          <a:lstStyle/>
          <a:p>
            <a:pPr marL="342900" indent="-342900">
              <a:lnSpc>
                <a:spcPct val="118000"/>
              </a:lnSpc>
              <a:buSzPct val="100000"/>
              <a:buChar char="•"/>
            </a:pPr>
            <a:r>
              <a:rPr lang="en-US" sz="1600" b="1" dirty="0">
                <a:solidFill>
                  <a:srgbClr val="1B1E22"/>
                </a:solidFill>
                <a:latin typeface="Calibri" pitchFamily="34" charset="0"/>
                <a:ea typeface="Calibri" pitchFamily="34" charset="-122"/>
                <a:cs typeface="Calibri" pitchFamily="34" charset="-120"/>
              </a:rPr>
              <a:t>State of the art  </a:t>
            </a:r>
            <a:pPr indent="0" marL="0">
              <a:lnSpc>
                <a:spcPct val="118000"/>
              </a:lnSpc>
              <a:spcAft>
                <a:spcPts val="1300"/>
              </a:spcAft>
              <a:buNone/>
            </a:pPr>
            <a:r>
              <a:rPr lang="en-US" sz="1600" dirty="0">
                <a:solidFill>
                  <a:srgbClr val="3A3F46"/>
                </a:solidFill>
                <a:latin typeface="Calibri" pitchFamily="34" charset="0"/>
                <a:ea typeface="Calibri" pitchFamily="34" charset="-122"/>
                <a:cs typeface="Calibri" pitchFamily="34" charset="-120"/>
              </a:rPr>
              <a:t>EMBER2024 is a leading ML detector for PDFs — near-perfect on ordinary malware (PR-AUC 0.9933).</a:t>
            </a:r>
            <a:endParaRPr lang="en-US" sz="1600" dirty="0"/>
          </a:p>
          <a:p>
            <a:pPr marL="342900" indent="-342900">
              <a:lnSpc>
                <a:spcPct val="118000"/>
              </a:lnSpc>
              <a:buSzPct val="100000"/>
              <a:buChar char="•"/>
            </a:pPr>
            <a:r>
              <a:rPr lang="en-US" sz="1600" b="1" dirty="0">
                <a:solidFill>
                  <a:srgbClr val="1B1E22"/>
                </a:solidFill>
                <a:latin typeface="Calibri" pitchFamily="34" charset="0"/>
                <a:ea typeface="Calibri" pitchFamily="34" charset="-122"/>
                <a:cs typeface="Calibri" pitchFamily="34" charset="-120"/>
              </a:rPr>
              <a:t>It breaks on evasion  </a:t>
            </a:r>
            <a:pPr indent="0" marL="0">
              <a:lnSpc>
                <a:spcPct val="118000"/>
              </a:lnSpc>
              <a:spcAft>
                <a:spcPts val="1300"/>
              </a:spcAft>
              <a:buNone/>
            </a:pPr>
            <a:r>
              <a:rPr lang="en-US" sz="1600" dirty="0">
                <a:solidFill>
                  <a:srgbClr val="3A3F46"/>
                </a:solidFill>
                <a:latin typeface="Calibri" pitchFamily="34" charset="0"/>
                <a:ea typeface="Calibri" pitchFamily="34" charset="-122"/>
                <a:cs typeface="Calibri" pitchFamily="34" charset="-120"/>
              </a:rPr>
              <a:t>On its own 805-sample challenge set of malware that already beat antivirus, PR-AUC collapses to 0.7841.</a:t>
            </a:r>
            <a:endParaRPr lang="en-US" sz="1600" dirty="0"/>
          </a:p>
          <a:p>
            <a:pPr marL="342900" indent="-342900">
              <a:lnSpc>
                <a:spcPct val="118000"/>
              </a:lnSpc>
              <a:buSzPct val="100000"/>
              <a:buChar char="•"/>
            </a:pPr>
            <a:r>
              <a:rPr lang="en-US" sz="1600" b="1" dirty="0">
                <a:solidFill>
                  <a:srgbClr val="1B1E22"/>
                </a:solidFill>
                <a:latin typeface="Calibri" pitchFamily="34" charset="0"/>
                <a:ea typeface="Calibri" pitchFamily="34" charset="-122"/>
                <a:cs typeface="Calibri" pitchFamily="34" charset="-120"/>
              </a:rPr>
              <a:t>Why it breaks  </a:t>
            </a:r>
            <a:pPr indent="0" marL="0">
              <a:lnSpc>
                <a:spcPct val="118000"/>
              </a:lnSpc>
              <a:spcAft>
                <a:spcPts val="1300"/>
              </a:spcAft>
              <a:buNone/>
            </a:pPr>
            <a:r>
              <a:rPr lang="en-US" sz="1600" dirty="0">
                <a:solidFill>
                  <a:srgbClr val="3A3F46"/>
                </a:solidFill>
                <a:latin typeface="Calibri" pitchFamily="34" charset="0"/>
                <a:ea typeface="Calibri" pitchFamily="34" charset="-122"/>
                <a:cs typeface="Calibri" pitchFamily="34" charset="-120"/>
              </a:rPr>
              <a:t>It classifies byte and string statistics; it has no view of the document’s object graph or its auto-execution behaviour.</a:t>
            </a:r>
            <a:endParaRPr lang="en-US" sz="1600" dirty="0"/>
          </a:p>
          <a:p>
            <a:pPr marL="342900" indent="-342900">
              <a:lnSpc>
                <a:spcPct val="118000"/>
              </a:lnSpc>
              <a:buSzPct val="100000"/>
              <a:buChar char="•"/>
            </a:pPr>
            <a:r>
              <a:rPr lang="en-US" sz="1600" b="1" dirty="0">
                <a:solidFill>
                  <a:srgbClr val="1B1E22"/>
                </a:solidFill>
                <a:latin typeface="Calibri" pitchFamily="34" charset="0"/>
                <a:ea typeface="Calibri" pitchFamily="34" charset="-122"/>
                <a:cs typeface="Calibri" pitchFamily="34" charset="-120"/>
              </a:rPr>
              <a:t>The stakes  </a:t>
            </a:r>
            <a:pPr indent="0" marL="0">
              <a:lnSpc>
                <a:spcPct val="118000"/>
              </a:lnSpc>
              <a:spcAft>
                <a:spcPts val="1300"/>
              </a:spcAft>
              <a:buNone/>
            </a:pPr>
            <a:r>
              <a:rPr lang="en-US" sz="1600" dirty="0">
                <a:solidFill>
                  <a:srgbClr val="3A3F46"/>
                </a:solidFill>
                <a:latin typeface="Calibri" pitchFamily="34" charset="0"/>
                <a:ea typeface="Calibri" pitchFamily="34" charset="-122"/>
                <a:cs typeface="Calibri" pitchFamily="34" charset="-120"/>
              </a:rPr>
              <a:t>355 of 805 real evasive PDFs pass straight through — the exact samples that reach a user after a gateway.</a:t>
            </a:r>
            <a:endParaRPr lang="en-US" sz="1600" dirty="0"/>
          </a:p>
          <a:p>
            <a:pPr marL="342900" indent="-342900">
              <a:lnSpc>
                <a:spcPct val="118000"/>
              </a:lnSpc>
              <a:buSzPct val="100000"/>
              <a:buChar char="•"/>
            </a:pPr>
            <a:r>
              <a:rPr lang="en-US" sz="1600" b="1" dirty="0">
                <a:solidFill>
                  <a:srgbClr val="1B1E22"/>
                </a:solidFill>
                <a:latin typeface="Calibri" pitchFamily="34" charset="0"/>
                <a:ea typeface="Calibri" pitchFamily="34" charset="-122"/>
                <a:cs typeface="Calibri" pitchFamily="34" charset="-120"/>
              </a:rPr>
              <a:t>Our target  </a:t>
            </a:r>
            <a:pPr indent="0" marL="0">
              <a:lnSpc>
                <a:spcPct val="118000"/>
              </a:lnSpc>
              <a:spcAft>
                <a:spcPts val="1300"/>
              </a:spcAft>
              <a:buNone/>
            </a:pPr>
            <a:r>
              <a:rPr lang="en-US" sz="1600" dirty="0">
                <a:solidFill>
                  <a:srgbClr val="3A3F46"/>
                </a:solidFill>
                <a:latin typeface="Calibri" pitchFamily="34" charset="0"/>
                <a:ea typeface="Calibri" pitchFamily="34" charset="-122"/>
                <a:cs typeface="Calibri" pitchFamily="34" charset="-120"/>
              </a:rPr>
              <a:t>Close that structural blind spot with an explainable signal that does not drift as attackers re-encode.</a:t>
            </a:r>
            <a:endParaRPr lang="en-US" sz="1600" dirty="0"/>
          </a:p>
        </p:txBody>
      </p:sp>
      <p:sp>
        <p:nvSpPr>
          <p:cNvPr id="8" name="Shape 6"/>
          <p:cNvSpPr/>
          <p:nvPr/>
        </p:nvSpPr>
        <p:spPr>
          <a:xfrm>
            <a:off x="548640" y="5074920"/>
            <a:ext cx="3383280" cy="1097280"/>
          </a:xfrm>
          <a:prstGeom prst="roundRect">
            <a:avLst>
              <a:gd name="adj" fmla="val 5833"/>
            </a:avLst>
          </a:prstGeom>
          <a:solidFill>
            <a:srgbClr val="EEF0F2"/>
          </a:solidFill>
          <a:ln w="9525">
            <a:solidFill>
              <a:srgbClr val="CED2D8"/>
            </a:solidFill>
            <a:prstDash val="solid"/>
          </a:ln>
          <a:effectLst>
            <a:outerShdw sx="100000" sy="100000" kx="0" ky="0" algn="bl" rotWithShape="0" blurRad="101600" dist="38100" dir="5400000">
              <a:srgbClr val="9aa0a8">
                <a:alpha val="30000"/>
              </a:srgbClr>
            </a:outerShdw>
          </a:effectLst>
        </p:spPr>
      </p:sp>
      <p:sp>
        <p:nvSpPr>
          <p:cNvPr id="9" name="Text 7"/>
          <p:cNvSpPr txBox="1"/>
          <p:nvPr/>
        </p:nvSpPr>
        <p:spPr>
          <a:xfrm>
            <a:off x="804672" y="5230368"/>
            <a:ext cx="2871216" cy="548640"/>
          </a:xfrm>
          <a:prstGeom prst="rect">
            <a:avLst/>
          </a:prstGeom>
          <a:noFill/>
          <a:ln/>
        </p:spPr>
        <p:txBody>
          <a:bodyPr wrap="square" lIns="0" tIns="0" rIns="0" bIns="0" rtlCol="0" anchor="ctr"/>
          <a:lstStyle/>
          <a:p>
            <a:pPr indent="0" marL="0">
              <a:buNone/>
            </a:pPr>
            <a:r>
              <a:rPr lang="en-US" sz="2700" dirty="0">
                <a:solidFill>
                  <a:srgbClr val="C08A2E"/>
                </a:solidFill>
                <a:latin typeface="Arial Black" pitchFamily="34" charset="0"/>
                <a:ea typeface="Arial Black" pitchFamily="34" charset="-122"/>
                <a:cs typeface="Arial Black" pitchFamily="34" charset="-120"/>
              </a:rPr>
              <a:t>0.9933 → 0.7841</a:t>
            </a:r>
            <a:endParaRPr lang="en-US" sz="2700" dirty="0"/>
          </a:p>
        </p:txBody>
      </p:sp>
      <p:sp>
        <p:nvSpPr>
          <p:cNvPr id="10" name="Text 8"/>
          <p:cNvSpPr txBox="1"/>
          <p:nvPr/>
        </p:nvSpPr>
        <p:spPr>
          <a:xfrm>
            <a:off x="804672" y="5769864"/>
            <a:ext cx="2871216" cy="365760"/>
          </a:xfrm>
          <a:prstGeom prst="rect">
            <a:avLst/>
          </a:prstGeom>
          <a:noFill/>
          <a:ln/>
        </p:spPr>
        <p:txBody>
          <a:bodyPr wrap="square" lIns="0" tIns="0" rIns="0" bIns="0" rtlCol="0" anchor="ctr"/>
          <a:lstStyle/>
          <a:p>
            <a:pPr indent="0" marL="0">
              <a:lnSpc>
                <a:spcPct val="100000"/>
              </a:lnSpc>
              <a:buNone/>
            </a:pPr>
            <a:r>
              <a:rPr lang="en-US" sz="1050" dirty="0">
                <a:solidFill>
                  <a:srgbClr val="6B7178"/>
                </a:solidFill>
                <a:latin typeface="Calibri" pitchFamily="34" charset="0"/>
                <a:ea typeface="Calibri" pitchFamily="34" charset="-122"/>
                <a:cs typeface="Calibri" pitchFamily="34" charset="-120"/>
              </a:rPr>
              <a:t>PR-AUC: ordinary → evasive</a:t>
            </a:r>
            <a:endParaRPr lang="en-US" sz="1050" dirty="0"/>
          </a:p>
        </p:txBody>
      </p:sp>
      <p:sp>
        <p:nvSpPr>
          <p:cNvPr id="11" name="Shape 9"/>
          <p:cNvSpPr/>
          <p:nvPr/>
        </p:nvSpPr>
        <p:spPr>
          <a:xfrm>
            <a:off x="4297680" y="5074920"/>
            <a:ext cx="3383280" cy="1097280"/>
          </a:xfrm>
          <a:prstGeom prst="roundRect">
            <a:avLst>
              <a:gd name="adj" fmla="val 5833"/>
            </a:avLst>
          </a:prstGeom>
          <a:solidFill>
            <a:srgbClr val="EEF0F2"/>
          </a:solidFill>
          <a:ln w="9525">
            <a:solidFill>
              <a:srgbClr val="CED2D8"/>
            </a:solidFill>
            <a:prstDash val="solid"/>
          </a:ln>
          <a:effectLst>
            <a:outerShdw sx="100000" sy="100000" kx="0" ky="0" algn="bl" rotWithShape="0" blurRad="101600" dist="38100" dir="5400000">
              <a:srgbClr val="9aa0a8">
                <a:alpha val="30000"/>
              </a:srgbClr>
            </a:outerShdw>
          </a:effectLst>
        </p:spPr>
      </p:sp>
      <p:sp>
        <p:nvSpPr>
          <p:cNvPr id="12" name="Text 10"/>
          <p:cNvSpPr txBox="1"/>
          <p:nvPr/>
        </p:nvSpPr>
        <p:spPr>
          <a:xfrm>
            <a:off x="4553712" y="5230368"/>
            <a:ext cx="2871216" cy="548640"/>
          </a:xfrm>
          <a:prstGeom prst="rect">
            <a:avLst/>
          </a:prstGeom>
          <a:noFill/>
          <a:ln/>
        </p:spPr>
        <p:txBody>
          <a:bodyPr wrap="square" lIns="0" tIns="0" rIns="0" bIns="0" rtlCol="0" anchor="ctr"/>
          <a:lstStyle/>
          <a:p>
            <a:pPr indent="0" marL="0">
              <a:buNone/>
            </a:pPr>
            <a:r>
              <a:rPr lang="en-US" sz="2700" dirty="0">
                <a:solidFill>
                  <a:srgbClr val="B4473F"/>
                </a:solidFill>
                <a:latin typeface="Arial Black" pitchFamily="34" charset="0"/>
                <a:ea typeface="Arial Black" pitchFamily="34" charset="-122"/>
                <a:cs typeface="Arial Black" pitchFamily="34" charset="-120"/>
              </a:rPr>
              <a:t>355 / 805</a:t>
            </a:r>
            <a:endParaRPr lang="en-US" sz="2700" dirty="0"/>
          </a:p>
        </p:txBody>
      </p:sp>
      <p:sp>
        <p:nvSpPr>
          <p:cNvPr id="13" name="Text 11"/>
          <p:cNvSpPr txBox="1"/>
          <p:nvPr/>
        </p:nvSpPr>
        <p:spPr>
          <a:xfrm>
            <a:off x="4553712" y="5769864"/>
            <a:ext cx="2871216" cy="365760"/>
          </a:xfrm>
          <a:prstGeom prst="rect">
            <a:avLst/>
          </a:prstGeom>
          <a:noFill/>
          <a:ln/>
        </p:spPr>
        <p:txBody>
          <a:bodyPr wrap="square" lIns="0" tIns="0" rIns="0" bIns="0" rtlCol="0" anchor="ctr"/>
          <a:lstStyle/>
          <a:p>
            <a:pPr indent="0" marL="0">
              <a:lnSpc>
                <a:spcPct val="100000"/>
              </a:lnSpc>
              <a:buNone/>
            </a:pPr>
            <a:r>
              <a:rPr lang="en-US" sz="1050" dirty="0">
                <a:solidFill>
                  <a:srgbClr val="6B7178"/>
                </a:solidFill>
                <a:latin typeface="Calibri" pitchFamily="34" charset="0"/>
                <a:ea typeface="Calibri" pitchFamily="34" charset="-122"/>
                <a:cs typeface="Calibri" pitchFamily="34" charset="-120"/>
              </a:rPr>
              <a:t>real evasive PDFs missed</a:t>
            </a:r>
            <a:endParaRPr lang="en-US" sz="1050" dirty="0"/>
          </a:p>
        </p:txBody>
      </p:sp>
      <p:sp>
        <p:nvSpPr>
          <p:cNvPr id="14" name="Shape 12"/>
          <p:cNvSpPr/>
          <p:nvPr/>
        </p:nvSpPr>
        <p:spPr>
          <a:xfrm>
            <a:off x="8046720" y="5074920"/>
            <a:ext cx="3383280" cy="1097280"/>
          </a:xfrm>
          <a:prstGeom prst="roundRect">
            <a:avLst>
              <a:gd name="adj" fmla="val 5833"/>
            </a:avLst>
          </a:prstGeom>
          <a:solidFill>
            <a:srgbClr val="EEF0F2"/>
          </a:solidFill>
          <a:ln w="9525">
            <a:solidFill>
              <a:srgbClr val="CED2D8"/>
            </a:solidFill>
            <a:prstDash val="solid"/>
          </a:ln>
          <a:effectLst>
            <a:outerShdw sx="100000" sy="100000" kx="0" ky="0" algn="bl" rotWithShape="0" blurRad="101600" dist="38100" dir="5400000">
              <a:srgbClr val="9aa0a8">
                <a:alpha val="30000"/>
              </a:srgbClr>
            </a:outerShdw>
          </a:effectLst>
        </p:spPr>
      </p:sp>
      <p:sp>
        <p:nvSpPr>
          <p:cNvPr id="15" name="Text 13"/>
          <p:cNvSpPr txBox="1"/>
          <p:nvPr/>
        </p:nvSpPr>
        <p:spPr>
          <a:xfrm>
            <a:off x="8302752" y="5230368"/>
            <a:ext cx="2871216" cy="548640"/>
          </a:xfrm>
          <a:prstGeom prst="rect">
            <a:avLst/>
          </a:prstGeom>
          <a:noFill/>
          <a:ln/>
        </p:spPr>
        <p:txBody>
          <a:bodyPr wrap="square" lIns="0" tIns="0" rIns="0" bIns="0" rtlCol="0" anchor="ctr"/>
          <a:lstStyle/>
          <a:p>
            <a:pPr indent="0" marL="0">
              <a:buNone/>
            </a:pPr>
            <a:r>
              <a:rPr lang="en-US" sz="2700" dirty="0">
                <a:solidFill>
                  <a:srgbClr val="B4473F"/>
                </a:solidFill>
                <a:latin typeface="Arial Black" pitchFamily="34" charset="0"/>
                <a:ea typeface="Arial Black" pitchFamily="34" charset="-122"/>
                <a:cs typeface="Arial Black" pitchFamily="34" charset="-120"/>
              </a:rPr>
              <a:t>44%</a:t>
            </a:r>
            <a:endParaRPr lang="en-US" sz="2700" dirty="0"/>
          </a:p>
        </p:txBody>
      </p:sp>
      <p:sp>
        <p:nvSpPr>
          <p:cNvPr id="16" name="Text 14"/>
          <p:cNvSpPr txBox="1"/>
          <p:nvPr/>
        </p:nvSpPr>
        <p:spPr>
          <a:xfrm>
            <a:off x="8302752" y="5769864"/>
            <a:ext cx="2871216" cy="365760"/>
          </a:xfrm>
          <a:prstGeom prst="rect">
            <a:avLst/>
          </a:prstGeom>
          <a:noFill/>
          <a:ln/>
        </p:spPr>
        <p:txBody>
          <a:bodyPr wrap="square" lIns="0" tIns="0" rIns="0" bIns="0" rtlCol="0" anchor="ctr"/>
          <a:lstStyle/>
          <a:p>
            <a:pPr indent="0" marL="0">
              <a:lnSpc>
                <a:spcPct val="100000"/>
              </a:lnSpc>
              <a:buNone/>
            </a:pPr>
            <a:r>
              <a:rPr lang="en-US" sz="1050" dirty="0">
                <a:solidFill>
                  <a:srgbClr val="6B7178"/>
                </a:solidFill>
                <a:latin typeface="Calibri" pitchFamily="34" charset="0"/>
                <a:ea typeface="Calibri" pitchFamily="34" charset="-122"/>
                <a:cs typeface="Calibri" pitchFamily="34" charset="-120"/>
              </a:rPr>
              <a:t>slip-through rate</a:t>
            </a:r>
            <a:endParaRPr lang="en-US" sz="1050" dirty="0"/>
          </a:p>
        </p:txBody>
      </p:sp>
      <p:sp>
        <p:nvSpPr>
          <p:cNvPr id="17" name="Text 15"/>
          <p:cNvSpPr txBox="1"/>
          <p:nvPr/>
        </p:nvSpPr>
        <p:spPr>
          <a:xfrm>
            <a:off x="502920" y="6528816"/>
            <a:ext cx="6400800" cy="237744"/>
          </a:xfrm>
          <a:prstGeom prst="rect">
            <a:avLst/>
          </a:prstGeom>
          <a:noFill/>
          <a:ln/>
        </p:spPr>
        <p:txBody>
          <a:bodyPr wrap="square" lIns="0" tIns="0" rIns="0" bIns="0" rtlCol="0" anchor="ctr"/>
          <a:lstStyle/>
          <a:p>
            <a:pPr indent="0" marL="0">
              <a:buNone/>
            </a:pPr>
            <a:r>
              <a:rPr lang="en-US" sz="850" spc="150" kern="0" dirty="0">
                <a:solidFill>
                  <a:srgbClr val="9AA0A8"/>
                </a:solidFill>
                <a:latin typeface="Calibri" pitchFamily="34" charset="0"/>
                <a:ea typeface="Calibri" pitchFamily="34" charset="-122"/>
                <a:cs typeface="Calibri" pitchFamily="34" charset="-120"/>
              </a:rPr>
              <a:t>PDFSentry · Reachability over Recognition</a:t>
            </a:r>
            <a:endParaRPr lang="en-US" sz="850" dirty="0"/>
          </a:p>
        </p:txBody>
      </p:sp>
      <p:sp>
        <p:nvSpPr>
          <p:cNvPr id="18" name="Text 16"/>
          <p:cNvSpPr txBox="1"/>
          <p:nvPr/>
        </p:nvSpPr>
        <p:spPr>
          <a:xfrm>
            <a:off x="11323015" y="6510528"/>
            <a:ext cx="457200" cy="256032"/>
          </a:xfrm>
          <a:prstGeom prst="rect">
            <a:avLst/>
          </a:prstGeom>
          <a:noFill/>
          <a:ln/>
        </p:spPr>
        <p:txBody>
          <a:bodyPr wrap="square" lIns="0" tIns="0" rIns="0" bIns="0" rtlCol="0" anchor="ctr"/>
          <a:lstStyle/>
          <a:p>
            <a:pPr algn="r" indent="0" marL="0">
              <a:buNone/>
            </a:pPr>
            <a:r>
              <a:rPr lang="en-US" sz="950" b="1" dirty="0">
                <a:solidFill>
                  <a:srgbClr val="6B7178"/>
                </a:solidFill>
                <a:latin typeface="Calibri" pitchFamily="34" charset="0"/>
                <a:ea typeface="Calibri" pitchFamily="34" charset="-122"/>
                <a:cs typeface="Calibri" pitchFamily="34" charset="-120"/>
              </a:rPr>
              <a:t>02</a:t>
            </a:r>
            <a:endParaRPr lang="en-US" sz="9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502920" y="292608"/>
            <a:ext cx="4572000" cy="274320"/>
          </a:xfrm>
          <a:prstGeom prst="rect">
            <a:avLst/>
          </a:prstGeom>
          <a:noFill/>
          <a:ln/>
        </p:spPr>
        <p:txBody>
          <a:bodyPr wrap="square" lIns="0" tIns="0" rIns="0" bIns="0" rtlCol="0" anchor="ctr"/>
          <a:lstStyle/>
          <a:p>
            <a:pPr indent="0" marL="0">
              <a:buNone/>
            </a:pPr>
            <a:r>
              <a:rPr lang="en-US" sz="1100" b="1" spc="400" kern="0" dirty="0">
                <a:solidFill>
                  <a:srgbClr val="6B7178"/>
                </a:solidFill>
                <a:latin typeface="Calibri" pitchFamily="34" charset="0"/>
                <a:ea typeface="Calibri" pitchFamily="34" charset="-122"/>
                <a:cs typeface="Calibri" pitchFamily="34" charset="-120"/>
              </a:rPr>
              <a:t>PDFSENTRY</a:t>
            </a:r>
            <a:endParaRPr lang="en-US" sz="1100" dirty="0"/>
          </a:p>
        </p:txBody>
      </p:sp>
      <p:sp>
        <p:nvSpPr>
          <p:cNvPr id="3" name="Text 1"/>
          <p:cNvSpPr txBox="1"/>
          <p:nvPr/>
        </p:nvSpPr>
        <p:spPr>
          <a:xfrm>
            <a:off x="6659575" y="292608"/>
            <a:ext cx="5029200" cy="274320"/>
          </a:xfrm>
          <a:prstGeom prst="rect">
            <a:avLst/>
          </a:prstGeom>
          <a:noFill/>
          <a:ln/>
        </p:spPr>
        <p:txBody>
          <a:bodyPr wrap="square" lIns="0" tIns="0" rIns="0" bIns="0" rtlCol="0" anchor="ctr"/>
          <a:lstStyle/>
          <a:p>
            <a:pPr algn="r" indent="0" marL="0">
              <a:buNone/>
            </a:pPr>
            <a:r>
              <a:rPr lang="en-US" sz="1100" spc="300" kern="0" dirty="0">
                <a:solidFill>
                  <a:srgbClr val="6B7178"/>
                </a:solidFill>
                <a:latin typeface="Calibri" pitchFamily="34" charset="0"/>
                <a:ea typeface="Calibri" pitchFamily="34" charset="-122"/>
                <a:cs typeface="Calibri" pitchFamily="34" charset="-120"/>
              </a:rPr>
              <a:t>REVIEW 3 · FINAL</a:t>
            </a:r>
            <a:endParaRPr lang="en-US" sz="1100" dirty="0"/>
          </a:p>
        </p:txBody>
      </p:sp>
      <p:sp>
        <p:nvSpPr>
          <p:cNvPr id="4" name="Text 2"/>
          <p:cNvSpPr txBox="1"/>
          <p:nvPr/>
        </p:nvSpPr>
        <p:spPr>
          <a:xfrm>
            <a:off x="512064" y="786384"/>
            <a:ext cx="10058400" cy="256032"/>
          </a:xfrm>
          <a:prstGeom prst="rect">
            <a:avLst/>
          </a:prstGeom>
          <a:noFill/>
          <a:ln/>
        </p:spPr>
        <p:txBody>
          <a:bodyPr wrap="square" lIns="0" tIns="0" rIns="0" bIns="0" rtlCol="0" anchor="ctr"/>
          <a:lstStyle/>
          <a:p>
            <a:pPr indent="0" marL="0">
              <a:buNone/>
            </a:pPr>
            <a:r>
              <a:rPr lang="en-US" sz="1100" b="1" spc="400" kern="0" dirty="0">
                <a:solidFill>
                  <a:srgbClr val="2F8F82"/>
                </a:solidFill>
                <a:latin typeface="Calibri" pitchFamily="34" charset="0"/>
                <a:ea typeface="Calibri" pitchFamily="34" charset="-122"/>
                <a:cs typeface="Calibri" pitchFamily="34" charset="-120"/>
              </a:rPr>
              <a:t>02 · RELATED WORK</a:t>
            </a:r>
            <a:endParaRPr lang="en-US" sz="1100" dirty="0"/>
          </a:p>
        </p:txBody>
      </p:sp>
      <p:sp>
        <p:nvSpPr>
          <p:cNvPr id="5" name="Text 3"/>
          <p:cNvSpPr txBox="1"/>
          <p:nvPr/>
        </p:nvSpPr>
        <p:spPr>
          <a:xfrm>
            <a:off x="502920" y="1078992"/>
            <a:ext cx="11155680" cy="731520"/>
          </a:xfrm>
          <a:prstGeom prst="rect">
            <a:avLst/>
          </a:prstGeom>
          <a:noFill/>
          <a:ln/>
        </p:spPr>
        <p:txBody>
          <a:bodyPr wrap="square" lIns="0" tIns="0" rIns="0" bIns="0" rtlCol="0" anchor="ctr"/>
          <a:lstStyle/>
          <a:p>
            <a:pPr indent="0" marL="0">
              <a:buNone/>
            </a:pPr>
            <a:r>
              <a:rPr lang="en-US" sz="3200" dirty="0">
                <a:solidFill>
                  <a:srgbClr val="1B1E22"/>
                </a:solidFill>
                <a:latin typeface="Arial Black" pitchFamily="34" charset="0"/>
                <a:ea typeface="Arial Black" pitchFamily="34" charset="-122"/>
                <a:cs typeface="Arial Black" pitchFamily="34" charset="-120"/>
              </a:rPr>
              <a:t>Background &amp; related work</a:t>
            </a:r>
            <a:endParaRPr lang="en-US" sz="3200" dirty="0"/>
          </a:p>
        </p:txBody>
      </p:sp>
      <p:sp>
        <p:nvSpPr>
          <p:cNvPr id="6" name="Text 4"/>
          <p:cNvSpPr txBox="1"/>
          <p:nvPr/>
        </p:nvSpPr>
        <p:spPr>
          <a:xfrm>
            <a:off x="548640" y="1783080"/>
            <a:ext cx="10881360" cy="457200"/>
          </a:xfrm>
          <a:prstGeom prst="rect">
            <a:avLst/>
          </a:prstGeom>
          <a:noFill/>
          <a:ln/>
        </p:spPr>
        <p:txBody>
          <a:bodyPr wrap="square" lIns="0" tIns="0" rIns="0" bIns="0" rtlCol="0" anchor="ctr"/>
          <a:lstStyle/>
          <a:p>
            <a:pPr indent="0" marL="0">
              <a:buNone/>
            </a:pPr>
            <a:r>
              <a:rPr lang="en-US" sz="1500" dirty="0">
                <a:solidFill>
                  <a:srgbClr val="3A3F46"/>
                </a:solidFill>
                <a:latin typeface="Calibri" pitchFamily="34" charset="0"/>
                <a:ea typeface="Calibri" pitchFamily="34" charset="-122"/>
                <a:cs typeface="Calibri" pitchFamily="34" charset="-120"/>
              </a:rPr>
              <a:t>Prior PDF detectors read appearance or static structure — none test whether a dangerous action is reachable from a trigger.</a:t>
            </a:r>
            <a:endParaRPr lang="en-US" sz="15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548640" y="2514600"/>
          <a:ext cx="10881360" cy="914400"/>
        </p:xfrm>
        <a:graphic>
          <a:graphicData uri="http://schemas.openxmlformats.org/drawingml/2006/table">
            <a:tbl>
              <a:tblPr/>
              <a:tblGrid>
                <a:gridCol w="3291840"/>
                <a:gridCol w="3794760"/>
                <a:gridCol w="3794760"/>
              </a:tblGrid>
              <a:tr h="512064">
                <a:tc>
                  <a:txBody>
                    <a:bodyPr/>
                    <a:lstStyle/>
                    <a:p>
                      <a:pPr algn="l" indent="0" marL="0">
                        <a:buNone/>
                      </a:pPr>
                      <a:r>
                        <a:rPr lang="en-US" sz="1300" b="1" dirty="0">
                          <a:solidFill>
                            <a:srgbClr val="FFFFFF"/>
                          </a:solidFill>
                          <a:latin typeface="Calibri" pitchFamily="34" charset="0"/>
                          <a:ea typeface="Calibri" pitchFamily="34" charset="-122"/>
                          <a:cs typeface="Calibri" pitchFamily="34" charset="-120"/>
                        </a:rPr>
                        <a:t>Approach</a:t>
                      </a:r>
                      <a:endParaRPr lang="en-US" sz="1300" dirty="0">
                        <a:latin typeface="Calibri" charset="0"/>
                        <a:ea typeface="Calibri" charset="0"/>
                        <a:cs typeface="Calibri" charset="0"/>
                      </a:endParaRPr>
                    </a:p>
                  </a:txBody>
                  <a:tcPr marL="63500" marR="63500" marT="63500" marB="63500" anchor="ctr">
                    <a:lnL w="9525" cap="flat" cmpd="sng" algn="ctr">
                      <a:solidFill>
                        <a:srgbClr val="DDE1E6"/>
                      </a:solidFill>
                      <a:prstDash val="solid"/>
                      <a:round/>
                      <a:headEnd type="none" w="med" len="med"/>
                      <a:tailEnd type="none" w="med" len="med"/>
                    </a:lnL>
                    <a:lnR w="9525" cap="flat" cmpd="sng" algn="ctr">
                      <a:solidFill>
                        <a:srgbClr val="DDE1E6"/>
                      </a:solidFill>
                      <a:prstDash val="solid"/>
                      <a:round/>
                      <a:headEnd type="none" w="med" len="med"/>
                      <a:tailEnd type="none" w="med" len="med"/>
                    </a:lnR>
                    <a:lnT w="9525" cap="flat" cmpd="sng" algn="ctr">
                      <a:solidFill>
                        <a:srgbClr val="DDE1E6"/>
                      </a:solidFill>
                      <a:prstDash val="solid"/>
                      <a:round/>
                      <a:headEnd type="none" w="med" len="med"/>
                      <a:tailEnd type="none" w="med" len="med"/>
                    </a:lnT>
                    <a:lnB w="9525" cap="flat" cmpd="sng" algn="ctr">
                      <a:solidFill>
                        <a:srgbClr val="DDE1E6"/>
                      </a:solidFill>
                      <a:prstDash val="solid"/>
                      <a:round/>
                      <a:headEnd type="none" w="med" len="med"/>
                      <a:tailEnd type="none" w="med" len="med"/>
                    </a:lnB>
                    <a:solidFill>
                      <a:srgbClr val="1B1E22"/>
                    </a:solidFill>
                  </a:tcPr>
                </a:tc>
                <a:tc>
                  <a:txBody>
                    <a:bodyPr/>
                    <a:lstStyle/>
                    <a:p>
                      <a:pPr algn="ctr" indent="0" marL="0">
                        <a:buNone/>
                      </a:pPr>
                      <a:r>
                        <a:rPr lang="en-US" sz="1300" b="1" dirty="0">
                          <a:solidFill>
                            <a:srgbClr val="FFFFFF"/>
                          </a:solidFill>
                          <a:latin typeface="Calibri" pitchFamily="34" charset="0"/>
                          <a:ea typeface="Calibri" pitchFamily="34" charset="-122"/>
                          <a:cs typeface="Calibri" pitchFamily="34" charset="-120"/>
                        </a:rPr>
                        <a:t>What it uses</a:t>
                      </a:r>
                      <a:endParaRPr lang="en-US" sz="1300" dirty="0">
                        <a:latin typeface="Calibri" charset="0"/>
                        <a:ea typeface="Calibri" charset="0"/>
                        <a:cs typeface="Calibri" charset="0"/>
                      </a:endParaRPr>
                    </a:p>
                  </a:txBody>
                  <a:tcPr marL="63500" marR="63500" marT="63500" marB="63500" anchor="ctr">
                    <a:lnL w="9525" cap="flat" cmpd="sng" algn="ctr">
                      <a:solidFill>
                        <a:srgbClr val="DDE1E6"/>
                      </a:solidFill>
                      <a:prstDash val="solid"/>
                      <a:round/>
                      <a:headEnd type="none" w="med" len="med"/>
                      <a:tailEnd type="none" w="med" len="med"/>
                    </a:lnL>
                    <a:lnR w="9525" cap="flat" cmpd="sng" algn="ctr">
                      <a:solidFill>
                        <a:srgbClr val="DDE1E6"/>
                      </a:solidFill>
                      <a:prstDash val="solid"/>
                      <a:round/>
                      <a:headEnd type="none" w="med" len="med"/>
                      <a:tailEnd type="none" w="med" len="med"/>
                    </a:lnR>
                    <a:lnT w="9525" cap="flat" cmpd="sng" algn="ctr">
                      <a:solidFill>
                        <a:srgbClr val="DDE1E6"/>
                      </a:solidFill>
                      <a:prstDash val="solid"/>
                      <a:round/>
                      <a:headEnd type="none" w="med" len="med"/>
                      <a:tailEnd type="none" w="med" len="med"/>
                    </a:lnT>
                    <a:lnB w="9525" cap="flat" cmpd="sng" algn="ctr">
                      <a:solidFill>
                        <a:srgbClr val="DDE1E6"/>
                      </a:solidFill>
                      <a:prstDash val="solid"/>
                      <a:round/>
                      <a:headEnd type="none" w="med" len="med"/>
                      <a:tailEnd type="none" w="med" len="med"/>
                    </a:lnB>
                    <a:solidFill>
                      <a:srgbClr val="1B1E22"/>
                    </a:solidFill>
                  </a:tcPr>
                </a:tc>
                <a:tc>
                  <a:txBody>
                    <a:bodyPr/>
                    <a:lstStyle/>
                    <a:p>
                      <a:pPr algn="ctr" indent="0" marL="0">
                        <a:buNone/>
                      </a:pPr>
                      <a:r>
                        <a:rPr lang="en-US" sz="1300" b="1" dirty="0">
                          <a:solidFill>
                            <a:srgbClr val="FFFFFF"/>
                          </a:solidFill>
                          <a:latin typeface="Calibri" pitchFamily="34" charset="0"/>
                          <a:ea typeface="Calibri" pitchFamily="34" charset="-122"/>
                          <a:cs typeface="Calibri" pitchFamily="34" charset="-120"/>
                        </a:rPr>
                        <a:t>Why it misses evasive malware</a:t>
                      </a:r>
                      <a:endParaRPr lang="en-US" sz="1300" dirty="0">
                        <a:latin typeface="Calibri" charset="0"/>
                        <a:ea typeface="Calibri" charset="0"/>
                        <a:cs typeface="Calibri" charset="0"/>
                      </a:endParaRPr>
                    </a:p>
                  </a:txBody>
                  <a:tcPr marL="63500" marR="63500" marT="63500" marB="63500" anchor="ctr">
                    <a:lnL w="9525" cap="flat" cmpd="sng" algn="ctr">
                      <a:solidFill>
                        <a:srgbClr val="DDE1E6"/>
                      </a:solidFill>
                      <a:prstDash val="solid"/>
                      <a:round/>
                      <a:headEnd type="none" w="med" len="med"/>
                      <a:tailEnd type="none" w="med" len="med"/>
                    </a:lnL>
                    <a:lnR w="9525" cap="flat" cmpd="sng" algn="ctr">
                      <a:solidFill>
                        <a:srgbClr val="DDE1E6"/>
                      </a:solidFill>
                      <a:prstDash val="solid"/>
                      <a:round/>
                      <a:headEnd type="none" w="med" len="med"/>
                      <a:tailEnd type="none" w="med" len="med"/>
                    </a:lnR>
                    <a:lnT w="9525" cap="flat" cmpd="sng" algn="ctr">
                      <a:solidFill>
                        <a:srgbClr val="DDE1E6"/>
                      </a:solidFill>
                      <a:prstDash val="solid"/>
                      <a:round/>
                      <a:headEnd type="none" w="med" len="med"/>
                      <a:tailEnd type="none" w="med" len="med"/>
                    </a:lnT>
                    <a:lnB w="9525" cap="flat" cmpd="sng" algn="ctr">
                      <a:solidFill>
                        <a:srgbClr val="DDE1E6"/>
                      </a:solidFill>
                      <a:prstDash val="solid"/>
                      <a:round/>
                      <a:headEnd type="none" w="med" len="med"/>
                      <a:tailEnd type="none" w="med" len="med"/>
                    </a:lnB>
                    <a:solidFill>
                      <a:srgbClr val="1B1E22"/>
                    </a:solidFill>
                  </a:tcPr>
                </a:tc>
              </a:tr>
              <a:tr h="512064">
                <a:tc>
                  <a:txBody>
                    <a:bodyPr/>
                    <a:lstStyle/>
                    <a:p>
                      <a:pPr algn="l" indent="0" marL="0">
                        <a:buNone/>
                      </a:pPr>
                      <a:r>
                        <a:rPr lang="en-US" sz="1200" b="1" dirty="0">
                          <a:solidFill>
                            <a:srgbClr val="1B1E22"/>
                          </a:solidFill>
                          <a:latin typeface="Calibri" pitchFamily="34" charset="0"/>
                          <a:ea typeface="Calibri" pitchFamily="34" charset="-122"/>
                          <a:cs typeface="Calibri" pitchFamily="34" charset="-120"/>
                        </a:rPr>
                        <a:t>AV signatures</a:t>
                      </a:r>
                      <a:endParaRPr lang="en-US" sz="1200" dirty="0">
                        <a:latin typeface="Calibri" charset="0"/>
                        <a:ea typeface="Calibri" charset="0"/>
                        <a:cs typeface="Calibri" charset="0"/>
                      </a:endParaRPr>
                    </a:p>
                  </a:txBody>
                  <a:tcPr marL="63500" marR="63500" marT="63500" marB="63500" anchor="ctr">
                    <a:lnL w="9525" cap="flat" cmpd="sng" algn="ctr">
                      <a:solidFill>
                        <a:srgbClr val="DDE1E6"/>
                      </a:solidFill>
                      <a:prstDash val="solid"/>
                      <a:round/>
                      <a:headEnd type="none" w="med" len="med"/>
                      <a:tailEnd type="none" w="med" len="med"/>
                    </a:lnL>
                    <a:lnR w="9525" cap="flat" cmpd="sng" algn="ctr">
                      <a:solidFill>
                        <a:srgbClr val="DDE1E6"/>
                      </a:solidFill>
                      <a:prstDash val="solid"/>
                      <a:round/>
                      <a:headEnd type="none" w="med" len="med"/>
                      <a:tailEnd type="none" w="med" len="med"/>
                    </a:lnR>
                    <a:lnT w="9525" cap="flat" cmpd="sng" algn="ctr">
                      <a:solidFill>
                        <a:srgbClr val="DDE1E6"/>
                      </a:solidFill>
                      <a:prstDash val="solid"/>
                      <a:round/>
                      <a:headEnd type="none" w="med" len="med"/>
                      <a:tailEnd type="none" w="med" len="med"/>
                    </a:lnT>
                    <a:lnB w="9525" cap="flat" cmpd="sng" algn="ctr">
                      <a:solidFill>
                        <a:srgbClr val="DDE1E6"/>
                      </a:solidFill>
                      <a:prstDash val="solid"/>
                      <a:round/>
                      <a:headEnd type="none" w="med" len="med"/>
                      <a:tailEnd type="none" w="med" len="med"/>
                    </a:lnB>
                    <a:solidFill>
                      <a:srgbClr val="F1F3F5"/>
                    </a:solidFill>
                  </a:tcPr>
                </a:tc>
                <a:tc>
                  <a:txBody>
                    <a:bodyPr/>
                    <a:lstStyle/>
                    <a:p>
                      <a:pPr algn="ctr" indent="0" marL="0">
                        <a:buNone/>
                      </a:pPr>
                      <a:r>
                        <a:rPr lang="en-US" sz="1200" dirty="0">
                          <a:solidFill>
                            <a:srgbClr val="3A3F46"/>
                          </a:solidFill>
                          <a:latin typeface="Calibri" pitchFamily="34" charset="0"/>
                          <a:ea typeface="Calibri" pitchFamily="34" charset="-122"/>
                          <a:cs typeface="Calibri" pitchFamily="34" charset="-120"/>
                        </a:rPr>
                        <a:t>Known byte patterns</a:t>
                      </a:r>
                      <a:endParaRPr lang="en-US" sz="1200" dirty="0">
                        <a:latin typeface="Calibri" charset="0"/>
                        <a:ea typeface="Calibri" charset="0"/>
                        <a:cs typeface="Calibri" charset="0"/>
                      </a:endParaRPr>
                    </a:p>
                  </a:txBody>
                  <a:tcPr marL="63500" marR="63500" marT="63500" marB="63500" anchor="ctr">
                    <a:lnL w="9525" cap="flat" cmpd="sng" algn="ctr">
                      <a:solidFill>
                        <a:srgbClr val="DDE1E6"/>
                      </a:solidFill>
                      <a:prstDash val="solid"/>
                      <a:round/>
                      <a:headEnd type="none" w="med" len="med"/>
                      <a:tailEnd type="none" w="med" len="med"/>
                    </a:lnL>
                    <a:lnR w="9525" cap="flat" cmpd="sng" algn="ctr">
                      <a:solidFill>
                        <a:srgbClr val="DDE1E6"/>
                      </a:solidFill>
                      <a:prstDash val="solid"/>
                      <a:round/>
                      <a:headEnd type="none" w="med" len="med"/>
                      <a:tailEnd type="none" w="med" len="med"/>
                    </a:lnR>
                    <a:lnT w="9525" cap="flat" cmpd="sng" algn="ctr">
                      <a:solidFill>
                        <a:srgbClr val="DDE1E6"/>
                      </a:solidFill>
                      <a:prstDash val="solid"/>
                      <a:round/>
                      <a:headEnd type="none" w="med" len="med"/>
                      <a:tailEnd type="none" w="med" len="med"/>
                    </a:lnT>
                    <a:lnB w="9525" cap="flat" cmpd="sng" algn="ctr">
                      <a:solidFill>
                        <a:srgbClr val="DDE1E6"/>
                      </a:solidFill>
                      <a:prstDash val="solid"/>
                      <a:round/>
                      <a:headEnd type="none" w="med" len="med"/>
                      <a:tailEnd type="none" w="med" len="med"/>
                    </a:lnB>
                    <a:solidFill>
                      <a:srgbClr val="F1F3F5"/>
                    </a:solidFill>
                  </a:tcPr>
                </a:tc>
                <a:tc>
                  <a:txBody>
                    <a:bodyPr/>
                    <a:lstStyle/>
                    <a:p>
                      <a:pPr algn="ctr" indent="0" marL="0">
                        <a:buNone/>
                      </a:pPr>
                      <a:r>
                        <a:rPr lang="en-US" sz="1200" dirty="0">
                          <a:solidFill>
                            <a:srgbClr val="3A3F46"/>
                          </a:solidFill>
                          <a:latin typeface="Calibri" pitchFamily="34" charset="0"/>
                          <a:ea typeface="Calibri" pitchFamily="34" charset="-122"/>
                          <a:cs typeface="Calibri" pitchFamily="34" charset="-120"/>
                        </a:rPr>
                        <a:t>Zero-day and re-encoded variants evade by construction</a:t>
                      </a:r>
                      <a:endParaRPr lang="en-US" sz="1200" dirty="0">
                        <a:latin typeface="Calibri" charset="0"/>
                        <a:ea typeface="Calibri" charset="0"/>
                        <a:cs typeface="Calibri" charset="0"/>
                      </a:endParaRPr>
                    </a:p>
                  </a:txBody>
                  <a:tcPr marL="63500" marR="63500" marT="63500" marB="63500" anchor="ctr">
                    <a:lnL w="9525" cap="flat" cmpd="sng" algn="ctr">
                      <a:solidFill>
                        <a:srgbClr val="DDE1E6"/>
                      </a:solidFill>
                      <a:prstDash val="solid"/>
                      <a:round/>
                      <a:headEnd type="none" w="med" len="med"/>
                      <a:tailEnd type="none" w="med" len="med"/>
                    </a:lnL>
                    <a:lnR w="9525" cap="flat" cmpd="sng" algn="ctr">
                      <a:solidFill>
                        <a:srgbClr val="DDE1E6"/>
                      </a:solidFill>
                      <a:prstDash val="solid"/>
                      <a:round/>
                      <a:headEnd type="none" w="med" len="med"/>
                      <a:tailEnd type="none" w="med" len="med"/>
                    </a:lnR>
                    <a:lnT w="9525" cap="flat" cmpd="sng" algn="ctr">
                      <a:solidFill>
                        <a:srgbClr val="DDE1E6"/>
                      </a:solidFill>
                      <a:prstDash val="solid"/>
                      <a:round/>
                      <a:headEnd type="none" w="med" len="med"/>
                      <a:tailEnd type="none" w="med" len="med"/>
                    </a:lnT>
                    <a:lnB w="9525" cap="flat" cmpd="sng" algn="ctr">
                      <a:solidFill>
                        <a:srgbClr val="DDE1E6"/>
                      </a:solidFill>
                      <a:prstDash val="solid"/>
                      <a:round/>
                      <a:headEnd type="none" w="med" len="med"/>
                      <a:tailEnd type="none" w="med" len="med"/>
                    </a:lnB>
                    <a:solidFill>
                      <a:srgbClr val="F1F3F5"/>
                    </a:solidFill>
                  </a:tcPr>
                </a:tc>
              </a:tr>
              <a:tr h="512064">
                <a:tc>
                  <a:txBody>
                    <a:bodyPr/>
                    <a:lstStyle/>
                    <a:p>
                      <a:pPr algn="l" indent="0" marL="0">
                        <a:buNone/>
                      </a:pPr>
                      <a:r>
                        <a:rPr lang="en-US" sz="1200" b="1" dirty="0">
                          <a:solidFill>
                            <a:srgbClr val="1B1E22"/>
                          </a:solidFill>
                          <a:latin typeface="Calibri" pitchFamily="34" charset="0"/>
                          <a:ea typeface="Calibri" pitchFamily="34" charset="-122"/>
                          <a:cs typeface="Calibri" pitchFamily="34" charset="-120"/>
                        </a:rPr>
                        <a:t>PDFRate / Slayer</a:t>
                      </a:r>
                      <a:endParaRPr lang="en-US" sz="1200" dirty="0">
                        <a:latin typeface="Calibri" charset="0"/>
                        <a:ea typeface="Calibri" charset="0"/>
                        <a:cs typeface="Calibri" charset="0"/>
                      </a:endParaRPr>
                    </a:p>
                  </a:txBody>
                  <a:tcPr marL="63500" marR="63500" marT="63500" marB="63500" anchor="ctr">
                    <a:lnL w="9525" cap="flat" cmpd="sng" algn="ctr">
                      <a:solidFill>
                        <a:srgbClr val="DDE1E6"/>
                      </a:solidFill>
                      <a:prstDash val="solid"/>
                      <a:round/>
                      <a:headEnd type="none" w="med" len="med"/>
                      <a:tailEnd type="none" w="med" len="med"/>
                    </a:lnL>
                    <a:lnR w="9525" cap="flat" cmpd="sng" algn="ctr">
                      <a:solidFill>
                        <a:srgbClr val="DDE1E6"/>
                      </a:solidFill>
                      <a:prstDash val="solid"/>
                      <a:round/>
                      <a:headEnd type="none" w="med" len="med"/>
                      <a:tailEnd type="none" w="med" len="med"/>
                    </a:lnR>
                    <a:lnT w="9525" cap="flat" cmpd="sng" algn="ctr">
                      <a:solidFill>
                        <a:srgbClr val="DDE1E6"/>
                      </a:solidFill>
                      <a:prstDash val="solid"/>
                      <a:round/>
                      <a:headEnd type="none" w="med" len="med"/>
                      <a:tailEnd type="none" w="med" len="med"/>
                    </a:lnT>
                    <a:lnB w="9525" cap="flat" cmpd="sng" algn="ctr">
                      <a:solidFill>
                        <a:srgbClr val="DDE1E6"/>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3A3F46"/>
                          </a:solidFill>
                          <a:latin typeface="Calibri" pitchFamily="34" charset="0"/>
                          <a:ea typeface="Calibri" pitchFamily="34" charset="-122"/>
                          <a:cs typeface="Calibri" pitchFamily="34" charset="-120"/>
                        </a:rPr>
                        <a:t>Keyword &amp; count features</a:t>
                      </a:r>
                      <a:endParaRPr lang="en-US" sz="1200" dirty="0">
                        <a:latin typeface="Calibri" charset="0"/>
                        <a:ea typeface="Calibri" charset="0"/>
                        <a:cs typeface="Calibri" charset="0"/>
                      </a:endParaRPr>
                    </a:p>
                  </a:txBody>
                  <a:tcPr marL="63500" marR="63500" marT="63500" marB="63500" anchor="ctr">
                    <a:lnL w="9525" cap="flat" cmpd="sng" algn="ctr">
                      <a:solidFill>
                        <a:srgbClr val="DDE1E6"/>
                      </a:solidFill>
                      <a:prstDash val="solid"/>
                      <a:round/>
                      <a:headEnd type="none" w="med" len="med"/>
                      <a:tailEnd type="none" w="med" len="med"/>
                    </a:lnL>
                    <a:lnR w="9525" cap="flat" cmpd="sng" algn="ctr">
                      <a:solidFill>
                        <a:srgbClr val="DDE1E6"/>
                      </a:solidFill>
                      <a:prstDash val="solid"/>
                      <a:round/>
                      <a:headEnd type="none" w="med" len="med"/>
                      <a:tailEnd type="none" w="med" len="med"/>
                    </a:lnR>
                    <a:lnT w="9525" cap="flat" cmpd="sng" algn="ctr">
                      <a:solidFill>
                        <a:srgbClr val="DDE1E6"/>
                      </a:solidFill>
                      <a:prstDash val="solid"/>
                      <a:round/>
                      <a:headEnd type="none" w="med" len="med"/>
                      <a:tailEnd type="none" w="med" len="med"/>
                    </a:lnT>
                    <a:lnB w="9525" cap="flat" cmpd="sng" algn="ctr">
                      <a:solidFill>
                        <a:srgbClr val="DDE1E6"/>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3A3F46"/>
                          </a:solidFill>
                          <a:latin typeface="Calibri" pitchFamily="34" charset="0"/>
                          <a:ea typeface="Calibri" pitchFamily="34" charset="-122"/>
                          <a:cs typeface="Calibri" pitchFamily="34" charset="-120"/>
                        </a:rPr>
                        <a:t>Mimicry attacks flip counts with cheap edits</a:t>
                      </a:r>
                      <a:endParaRPr lang="en-US" sz="1200" dirty="0">
                        <a:latin typeface="Calibri" charset="0"/>
                        <a:ea typeface="Calibri" charset="0"/>
                        <a:cs typeface="Calibri" charset="0"/>
                      </a:endParaRPr>
                    </a:p>
                  </a:txBody>
                  <a:tcPr marL="63500" marR="63500" marT="63500" marB="63500" anchor="ctr">
                    <a:lnL w="9525" cap="flat" cmpd="sng" algn="ctr">
                      <a:solidFill>
                        <a:srgbClr val="DDE1E6"/>
                      </a:solidFill>
                      <a:prstDash val="solid"/>
                      <a:round/>
                      <a:headEnd type="none" w="med" len="med"/>
                      <a:tailEnd type="none" w="med" len="med"/>
                    </a:lnL>
                    <a:lnR w="9525" cap="flat" cmpd="sng" algn="ctr">
                      <a:solidFill>
                        <a:srgbClr val="DDE1E6"/>
                      </a:solidFill>
                      <a:prstDash val="solid"/>
                      <a:round/>
                      <a:headEnd type="none" w="med" len="med"/>
                      <a:tailEnd type="none" w="med" len="med"/>
                    </a:lnR>
                    <a:lnT w="9525" cap="flat" cmpd="sng" algn="ctr">
                      <a:solidFill>
                        <a:srgbClr val="DDE1E6"/>
                      </a:solidFill>
                      <a:prstDash val="solid"/>
                      <a:round/>
                      <a:headEnd type="none" w="med" len="med"/>
                      <a:tailEnd type="none" w="med" len="med"/>
                    </a:lnT>
                    <a:lnB w="9525" cap="flat" cmpd="sng" algn="ctr">
                      <a:solidFill>
                        <a:srgbClr val="DDE1E6"/>
                      </a:solidFill>
                      <a:prstDash val="solid"/>
                      <a:round/>
                      <a:headEnd type="none" w="med" len="med"/>
                      <a:tailEnd type="none" w="med" len="med"/>
                    </a:lnB>
                    <a:solidFill>
                      <a:srgbClr val="FFFFFF"/>
                    </a:solidFill>
                  </a:tcPr>
                </a:tc>
              </a:tr>
              <a:tr h="512064">
                <a:tc>
                  <a:txBody>
                    <a:bodyPr/>
                    <a:lstStyle/>
                    <a:p>
                      <a:pPr algn="l" indent="0" marL="0">
                        <a:buNone/>
                      </a:pPr>
                      <a:r>
                        <a:rPr lang="en-US" sz="1200" b="1" dirty="0">
                          <a:solidFill>
                            <a:srgbClr val="1B1E22"/>
                          </a:solidFill>
                          <a:latin typeface="Calibri" pitchFamily="34" charset="0"/>
                          <a:ea typeface="Calibri" pitchFamily="34" charset="-122"/>
                          <a:cs typeface="Calibri" pitchFamily="34" charset="-120"/>
                        </a:rPr>
                        <a:t>Hidost</a:t>
                      </a:r>
                      <a:endParaRPr lang="en-US" sz="1200" dirty="0">
                        <a:latin typeface="Calibri" charset="0"/>
                        <a:ea typeface="Calibri" charset="0"/>
                        <a:cs typeface="Calibri" charset="0"/>
                      </a:endParaRPr>
                    </a:p>
                  </a:txBody>
                  <a:tcPr marL="63500" marR="63500" marT="63500" marB="63500" anchor="ctr">
                    <a:lnL w="9525" cap="flat" cmpd="sng" algn="ctr">
                      <a:solidFill>
                        <a:srgbClr val="DDE1E6"/>
                      </a:solidFill>
                      <a:prstDash val="solid"/>
                      <a:round/>
                      <a:headEnd type="none" w="med" len="med"/>
                      <a:tailEnd type="none" w="med" len="med"/>
                    </a:lnL>
                    <a:lnR w="9525" cap="flat" cmpd="sng" algn="ctr">
                      <a:solidFill>
                        <a:srgbClr val="DDE1E6"/>
                      </a:solidFill>
                      <a:prstDash val="solid"/>
                      <a:round/>
                      <a:headEnd type="none" w="med" len="med"/>
                      <a:tailEnd type="none" w="med" len="med"/>
                    </a:lnR>
                    <a:lnT w="9525" cap="flat" cmpd="sng" algn="ctr">
                      <a:solidFill>
                        <a:srgbClr val="DDE1E6"/>
                      </a:solidFill>
                      <a:prstDash val="solid"/>
                      <a:round/>
                      <a:headEnd type="none" w="med" len="med"/>
                      <a:tailEnd type="none" w="med" len="med"/>
                    </a:lnT>
                    <a:lnB w="9525" cap="flat" cmpd="sng" algn="ctr">
                      <a:solidFill>
                        <a:srgbClr val="DDE1E6"/>
                      </a:solidFill>
                      <a:prstDash val="solid"/>
                      <a:round/>
                      <a:headEnd type="none" w="med" len="med"/>
                      <a:tailEnd type="none" w="med" len="med"/>
                    </a:lnB>
                    <a:solidFill>
                      <a:srgbClr val="F1F3F5"/>
                    </a:solidFill>
                  </a:tcPr>
                </a:tc>
                <a:tc>
                  <a:txBody>
                    <a:bodyPr/>
                    <a:lstStyle/>
                    <a:p>
                      <a:pPr algn="ctr" indent="0" marL="0">
                        <a:buNone/>
                      </a:pPr>
                      <a:r>
                        <a:rPr lang="en-US" sz="1200" dirty="0">
                          <a:solidFill>
                            <a:srgbClr val="3A3F46"/>
                          </a:solidFill>
                          <a:latin typeface="Calibri" pitchFamily="34" charset="0"/>
                          <a:ea typeface="Calibri" pitchFamily="34" charset="-122"/>
                          <a:cs typeface="Calibri" pitchFamily="34" charset="-120"/>
                        </a:rPr>
                        <a:t>Structural path features</a:t>
                      </a:r>
                      <a:endParaRPr lang="en-US" sz="1200" dirty="0">
                        <a:latin typeface="Calibri" charset="0"/>
                        <a:ea typeface="Calibri" charset="0"/>
                        <a:cs typeface="Calibri" charset="0"/>
                      </a:endParaRPr>
                    </a:p>
                  </a:txBody>
                  <a:tcPr marL="63500" marR="63500" marT="63500" marB="63500" anchor="ctr">
                    <a:lnL w="9525" cap="flat" cmpd="sng" algn="ctr">
                      <a:solidFill>
                        <a:srgbClr val="DDE1E6"/>
                      </a:solidFill>
                      <a:prstDash val="solid"/>
                      <a:round/>
                      <a:headEnd type="none" w="med" len="med"/>
                      <a:tailEnd type="none" w="med" len="med"/>
                    </a:lnL>
                    <a:lnR w="9525" cap="flat" cmpd="sng" algn="ctr">
                      <a:solidFill>
                        <a:srgbClr val="DDE1E6"/>
                      </a:solidFill>
                      <a:prstDash val="solid"/>
                      <a:round/>
                      <a:headEnd type="none" w="med" len="med"/>
                      <a:tailEnd type="none" w="med" len="med"/>
                    </a:lnR>
                    <a:lnT w="9525" cap="flat" cmpd="sng" algn="ctr">
                      <a:solidFill>
                        <a:srgbClr val="DDE1E6"/>
                      </a:solidFill>
                      <a:prstDash val="solid"/>
                      <a:round/>
                      <a:headEnd type="none" w="med" len="med"/>
                      <a:tailEnd type="none" w="med" len="med"/>
                    </a:lnT>
                    <a:lnB w="9525" cap="flat" cmpd="sng" algn="ctr">
                      <a:solidFill>
                        <a:srgbClr val="DDE1E6"/>
                      </a:solidFill>
                      <a:prstDash val="solid"/>
                      <a:round/>
                      <a:headEnd type="none" w="med" len="med"/>
                      <a:tailEnd type="none" w="med" len="med"/>
                    </a:lnB>
                    <a:solidFill>
                      <a:srgbClr val="F1F3F5"/>
                    </a:solidFill>
                  </a:tcPr>
                </a:tc>
                <a:tc>
                  <a:txBody>
                    <a:bodyPr/>
                    <a:lstStyle/>
                    <a:p>
                      <a:pPr algn="ctr" indent="0" marL="0">
                        <a:buNone/>
                      </a:pPr>
                      <a:r>
                        <a:rPr lang="en-US" sz="1200" dirty="0">
                          <a:solidFill>
                            <a:srgbClr val="3A3F46"/>
                          </a:solidFill>
                          <a:latin typeface="Calibri" pitchFamily="34" charset="0"/>
                          <a:ea typeface="Calibri" pitchFamily="34" charset="-122"/>
                          <a:cs typeface="Calibri" pitchFamily="34" charset="-120"/>
                        </a:rPr>
                        <a:t>A path being present ≠ reachable; no auto-trigger logic</a:t>
                      </a:r>
                      <a:endParaRPr lang="en-US" sz="1200" dirty="0">
                        <a:latin typeface="Calibri" charset="0"/>
                        <a:ea typeface="Calibri" charset="0"/>
                        <a:cs typeface="Calibri" charset="0"/>
                      </a:endParaRPr>
                    </a:p>
                  </a:txBody>
                  <a:tcPr marL="63500" marR="63500" marT="63500" marB="63500" anchor="ctr">
                    <a:lnL w="9525" cap="flat" cmpd="sng" algn="ctr">
                      <a:solidFill>
                        <a:srgbClr val="DDE1E6"/>
                      </a:solidFill>
                      <a:prstDash val="solid"/>
                      <a:round/>
                      <a:headEnd type="none" w="med" len="med"/>
                      <a:tailEnd type="none" w="med" len="med"/>
                    </a:lnL>
                    <a:lnR w="9525" cap="flat" cmpd="sng" algn="ctr">
                      <a:solidFill>
                        <a:srgbClr val="DDE1E6"/>
                      </a:solidFill>
                      <a:prstDash val="solid"/>
                      <a:round/>
                      <a:headEnd type="none" w="med" len="med"/>
                      <a:tailEnd type="none" w="med" len="med"/>
                    </a:lnR>
                    <a:lnT w="9525" cap="flat" cmpd="sng" algn="ctr">
                      <a:solidFill>
                        <a:srgbClr val="DDE1E6"/>
                      </a:solidFill>
                      <a:prstDash val="solid"/>
                      <a:round/>
                      <a:headEnd type="none" w="med" len="med"/>
                      <a:tailEnd type="none" w="med" len="med"/>
                    </a:lnT>
                    <a:lnB w="9525" cap="flat" cmpd="sng" algn="ctr">
                      <a:solidFill>
                        <a:srgbClr val="DDE1E6"/>
                      </a:solidFill>
                      <a:prstDash val="solid"/>
                      <a:round/>
                      <a:headEnd type="none" w="med" len="med"/>
                      <a:tailEnd type="none" w="med" len="med"/>
                    </a:lnB>
                    <a:solidFill>
                      <a:srgbClr val="F1F3F5"/>
                    </a:solidFill>
                  </a:tcPr>
                </a:tc>
              </a:tr>
              <a:tr h="512064">
                <a:tc>
                  <a:txBody>
                    <a:bodyPr/>
                    <a:lstStyle/>
                    <a:p>
                      <a:pPr algn="l" indent="0" marL="0">
                        <a:buNone/>
                      </a:pPr>
                      <a:r>
                        <a:rPr lang="en-US" sz="1200" b="1" dirty="0">
                          <a:solidFill>
                            <a:srgbClr val="1B1E22"/>
                          </a:solidFill>
                          <a:latin typeface="Calibri" pitchFamily="34" charset="0"/>
                          <a:ea typeface="Calibri" pitchFamily="34" charset="-122"/>
                          <a:cs typeface="Calibri" pitchFamily="34" charset="-120"/>
                        </a:rPr>
                        <a:t>EMBER2024</a:t>
                      </a:r>
                      <a:endParaRPr lang="en-US" sz="1200" dirty="0">
                        <a:latin typeface="Calibri" charset="0"/>
                        <a:ea typeface="Calibri" charset="0"/>
                        <a:cs typeface="Calibri" charset="0"/>
                      </a:endParaRPr>
                    </a:p>
                  </a:txBody>
                  <a:tcPr marL="63500" marR="63500" marT="63500" marB="63500" anchor="ctr">
                    <a:lnL w="9525" cap="flat" cmpd="sng" algn="ctr">
                      <a:solidFill>
                        <a:srgbClr val="DDE1E6"/>
                      </a:solidFill>
                      <a:prstDash val="solid"/>
                      <a:round/>
                      <a:headEnd type="none" w="med" len="med"/>
                      <a:tailEnd type="none" w="med" len="med"/>
                    </a:lnL>
                    <a:lnR w="9525" cap="flat" cmpd="sng" algn="ctr">
                      <a:solidFill>
                        <a:srgbClr val="DDE1E6"/>
                      </a:solidFill>
                      <a:prstDash val="solid"/>
                      <a:round/>
                      <a:headEnd type="none" w="med" len="med"/>
                      <a:tailEnd type="none" w="med" len="med"/>
                    </a:lnR>
                    <a:lnT w="9525" cap="flat" cmpd="sng" algn="ctr">
                      <a:solidFill>
                        <a:srgbClr val="DDE1E6"/>
                      </a:solidFill>
                      <a:prstDash val="solid"/>
                      <a:round/>
                      <a:headEnd type="none" w="med" len="med"/>
                      <a:tailEnd type="none" w="med" len="med"/>
                    </a:lnT>
                    <a:lnB w="9525" cap="flat" cmpd="sng" algn="ctr">
                      <a:solidFill>
                        <a:srgbClr val="DDE1E6"/>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3A3F46"/>
                          </a:solidFill>
                          <a:latin typeface="Calibri" pitchFamily="34" charset="0"/>
                          <a:ea typeface="Calibri" pitchFamily="34" charset="-122"/>
                          <a:cs typeface="Calibri" pitchFamily="34" charset="-120"/>
                        </a:rPr>
                        <a:t>Byte/string statistics (2568-D)</a:t>
                      </a:r>
                      <a:endParaRPr lang="en-US" sz="1200" dirty="0">
                        <a:latin typeface="Calibri" charset="0"/>
                        <a:ea typeface="Calibri" charset="0"/>
                        <a:cs typeface="Calibri" charset="0"/>
                      </a:endParaRPr>
                    </a:p>
                  </a:txBody>
                  <a:tcPr marL="63500" marR="63500" marT="63500" marB="63500" anchor="ctr">
                    <a:lnL w="9525" cap="flat" cmpd="sng" algn="ctr">
                      <a:solidFill>
                        <a:srgbClr val="DDE1E6"/>
                      </a:solidFill>
                      <a:prstDash val="solid"/>
                      <a:round/>
                      <a:headEnd type="none" w="med" len="med"/>
                      <a:tailEnd type="none" w="med" len="med"/>
                    </a:lnL>
                    <a:lnR w="9525" cap="flat" cmpd="sng" algn="ctr">
                      <a:solidFill>
                        <a:srgbClr val="DDE1E6"/>
                      </a:solidFill>
                      <a:prstDash val="solid"/>
                      <a:round/>
                      <a:headEnd type="none" w="med" len="med"/>
                      <a:tailEnd type="none" w="med" len="med"/>
                    </a:lnR>
                    <a:lnT w="9525" cap="flat" cmpd="sng" algn="ctr">
                      <a:solidFill>
                        <a:srgbClr val="DDE1E6"/>
                      </a:solidFill>
                      <a:prstDash val="solid"/>
                      <a:round/>
                      <a:headEnd type="none" w="med" len="med"/>
                      <a:tailEnd type="none" w="med" len="med"/>
                    </a:lnT>
                    <a:lnB w="9525" cap="flat" cmpd="sng" algn="ctr">
                      <a:solidFill>
                        <a:srgbClr val="DDE1E6"/>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3A3F46"/>
                          </a:solidFill>
                          <a:latin typeface="Calibri" pitchFamily="34" charset="0"/>
                          <a:ea typeface="Calibri" pitchFamily="34" charset="-122"/>
                          <a:cs typeface="Calibri" pitchFamily="34" charset="-120"/>
                        </a:rPr>
                        <a:t>~0% of its attention is on structure (shown via SHAP)</a:t>
                      </a:r>
                      <a:endParaRPr lang="en-US" sz="1200" dirty="0">
                        <a:latin typeface="Calibri" charset="0"/>
                        <a:ea typeface="Calibri" charset="0"/>
                        <a:cs typeface="Calibri" charset="0"/>
                      </a:endParaRPr>
                    </a:p>
                  </a:txBody>
                  <a:tcPr marL="63500" marR="63500" marT="63500" marB="63500" anchor="ctr">
                    <a:lnL w="9525" cap="flat" cmpd="sng" algn="ctr">
                      <a:solidFill>
                        <a:srgbClr val="DDE1E6"/>
                      </a:solidFill>
                      <a:prstDash val="solid"/>
                      <a:round/>
                      <a:headEnd type="none" w="med" len="med"/>
                      <a:tailEnd type="none" w="med" len="med"/>
                    </a:lnL>
                    <a:lnR w="9525" cap="flat" cmpd="sng" algn="ctr">
                      <a:solidFill>
                        <a:srgbClr val="DDE1E6"/>
                      </a:solidFill>
                      <a:prstDash val="solid"/>
                      <a:round/>
                      <a:headEnd type="none" w="med" len="med"/>
                      <a:tailEnd type="none" w="med" len="med"/>
                    </a:lnR>
                    <a:lnT w="9525" cap="flat" cmpd="sng" algn="ctr">
                      <a:solidFill>
                        <a:srgbClr val="DDE1E6"/>
                      </a:solidFill>
                      <a:prstDash val="solid"/>
                      <a:round/>
                      <a:headEnd type="none" w="med" len="med"/>
                      <a:tailEnd type="none" w="med" len="med"/>
                    </a:lnT>
                    <a:lnB w="9525" cap="flat" cmpd="sng" algn="ctr">
                      <a:solidFill>
                        <a:srgbClr val="DDE1E6"/>
                      </a:solidFill>
                      <a:prstDash val="solid"/>
                      <a:round/>
                      <a:headEnd type="none" w="med" len="med"/>
                      <a:tailEnd type="none" w="med" len="med"/>
                    </a:lnB>
                    <a:solidFill>
                      <a:srgbClr val="FFFFFF"/>
                    </a:solidFill>
                  </a:tcPr>
                </a:tc>
              </a:tr>
              <a:tr h="512064">
                <a:tc>
                  <a:txBody>
                    <a:bodyPr/>
                    <a:lstStyle/>
                    <a:p>
                      <a:pPr algn="l" indent="0" marL="0">
                        <a:buNone/>
                      </a:pPr>
                      <a:r>
                        <a:rPr lang="en-US" sz="1200" b="1" dirty="0">
                          <a:solidFill>
                            <a:srgbClr val="2F8F82"/>
                          </a:solidFill>
                          <a:latin typeface="Calibri" pitchFamily="34" charset="0"/>
                          <a:ea typeface="Calibri" pitchFamily="34" charset="-122"/>
                          <a:cs typeface="Calibri" pitchFamily="34" charset="-120"/>
                        </a:rPr>
                        <a:t>PDFSentry (ours)</a:t>
                      </a:r>
                      <a:endParaRPr lang="en-US" sz="1200" dirty="0">
                        <a:latin typeface="Calibri" charset="0"/>
                        <a:ea typeface="Calibri" charset="0"/>
                        <a:cs typeface="Calibri" charset="0"/>
                      </a:endParaRPr>
                    </a:p>
                  </a:txBody>
                  <a:tcPr marL="63500" marR="63500" marT="63500" marB="63500" anchor="ctr">
                    <a:lnL w="9525" cap="flat" cmpd="sng" algn="ctr">
                      <a:solidFill>
                        <a:srgbClr val="DDE1E6"/>
                      </a:solidFill>
                      <a:prstDash val="solid"/>
                      <a:round/>
                      <a:headEnd type="none" w="med" len="med"/>
                      <a:tailEnd type="none" w="med" len="med"/>
                    </a:lnL>
                    <a:lnR w="9525" cap="flat" cmpd="sng" algn="ctr">
                      <a:solidFill>
                        <a:srgbClr val="DDE1E6"/>
                      </a:solidFill>
                      <a:prstDash val="solid"/>
                      <a:round/>
                      <a:headEnd type="none" w="med" len="med"/>
                      <a:tailEnd type="none" w="med" len="med"/>
                    </a:lnR>
                    <a:lnT w="9525" cap="flat" cmpd="sng" algn="ctr">
                      <a:solidFill>
                        <a:srgbClr val="DDE1E6"/>
                      </a:solidFill>
                      <a:prstDash val="solid"/>
                      <a:round/>
                      <a:headEnd type="none" w="med" len="med"/>
                      <a:tailEnd type="none" w="med" len="med"/>
                    </a:lnT>
                    <a:lnB w="9525" cap="flat" cmpd="sng" algn="ctr">
                      <a:solidFill>
                        <a:srgbClr val="DDE1E6"/>
                      </a:solidFill>
                      <a:prstDash val="solid"/>
                      <a:round/>
                      <a:headEnd type="none" w="med" len="med"/>
                      <a:tailEnd type="none" w="med" len="med"/>
                    </a:lnB>
                    <a:solidFill>
                      <a:srgbClr val="E3F0ED"/>
                    </a:solidFill>
                  </a:tcPr>
                </a:tc>
                <a:tc>
                  <a:txBody>
                    <a:bodyPr/>
                    <a:lstStyle/>
                    <a:p>
                      <a:pPr algn="ctr" indent="0" marL="0">
                        <a:buNone/>
                      </a:pPr>
                      <a:r>
                        <a:rPr lang="en-US" sz="1200" b="1" dirty="0">
                          <a:solidFill>
                            <a:srgbClr val="2F8F82"/>
                          </a:solidFill>
                          <a:latin typeface="Calibri" pitchFamily="34" charset="0"/>
                          <a:ea typeface="Calibri" pitchFamily="34" charset="-122"/>
                          <a:cs typeface="Calibri" pitchFamily="34" charset="-120"/>
                        </a:rPr>
                        <a:t>Trigger → action reachability</a:t>
                      </a:r>
                      <a:endParaRPr lang="en-US" sz="1200" dirty="0">
                        <a:latin typeface="Calibri" charset="0"/>
                        <a:ea typeface="Calibri" charset="0"/>
                        <a:cs typeface="Calibri" charset="0"/>
                      </a:endParaRPr>
                    </a:p>
                  </a:txBody>
                  <a:tcPr marL="63500" marR="63500" marT="63500" marB="63500" anchor="ctr">
                    <a:lnL w="9525" cap="flat" cmpd="sng" algn="ctr">
                      <a:solidFill>
                        <a:srgbClr val="DDE1E6"/>
                      </a:solidFill>
                      <a:prstDash val="solid"/>
                      <a:round/>
                      <a:headEnd type="none" w="med" len="med"/>
                      <a:tailEnd type="none" w="med" len="med"/>
                    </a:lnL>
                    <a:lnR w="9525" cap="flat" cmpd="sng" algn="ctr">
                      <a:solidFill>
                        <a:srgbClr val="DDE1E6"/>
                      </a:solidFill>
                      <a:prstDash val="solid"/>
                      <a:round/>
                      <a:headEnd type="none" w="med" len="med"/>
                      <a:tailEnd type="none" w="med" len="med"/>
                    </a:lnR>
                    <a:lnT w="9525" cap="flat" cmpd="sng" algn="ctr">
                      <a:solidFill>
                        <a:srgbClr val="DDE1E6"/>
                      </a:solidFill>
                      <a:prstDash val="solid"/>
                      <a:round/>
                      <a:headEnd type="none" w="med" len="med"/>
                      <a:tailEnd type="none" w="med" len="med"/>
                    </a:lnT>
                    <a:lnB w="9525" cap="flat" cmpd="sng" algn="ctr">
                      <a:solidFill>
                        <a:srgbClr val="DDE1E6"/>
                      </a:solidFill>
                      <a:prstDash val="solid"/>
                      <a:round/>
                      <a:headEnd type="none" w="med" len="med"/>
                      <a:tailEnd type="none" w="med" len="med"/>
                    </a:lnB>
                    <a:solidFill>
                      <a:srgbClr val="E3F0ED"/>
                    </a:solidFill>
                  </a:tcPr>
                </a:tc>
                <a:tc>
                  <a:txBody>
                    <a:bodyPr/>
                    <a:lstStyle/>
                    <a:p>
                      <a:pPr algn="ctr" indent="0" marL="0">
                        <a:buNone/>
                      </a:pPr>
                      <a:r>
                        <a:rPr lang="en-US" sz="1200" b="1" dirty="0">
                          <a:solidFill>
                            <a:srgbClr val="2F8F82"/>
                          </a:solidFill>
                          <a:latin typeface="Calibri" pitchFamily="34" charset="0"/>
                          <a:ea typeface="Calibri" pitchFamily="34" charset="-122"/>
                          <a:cs typeface="Calibri" pitchFamily="34" charset="-120"/>
                        </a:rPr>
                        <a:t>Directly models the auto-execution mechanism</a:t>
                      </a:r>
                      <a:endParaRPr lang="en-US" sz="1200" dirty="0">
                        <a:latin typeface="Calibri" charset="0"/>
                        <a:ea typeface="Calibri" charset="0"/>
                        <a:cs typeface="Calibri" charset="0"/>
                      </a:endParaRPr>
                    </a:p>
                  </a:txBody>
                  <a:tcPr marL="63500" marR="63500" marT="63500" marB="63500" anchor="ctr">
                    <a:lnL w="9525" cap="flat" cmpd="sng" algn="ctr">
                      <a:solidFill>
                        <a:srgbClr val="DDE1E6"/>
                      </a:solidFill>
                      <a:prstDash val="solid"/>
                      <a:round/>
                      <a:headEnd type="none" w="med" len="med"/>
                      <a:tailEnd type="none" w="med" len="med"/>
                    </a:lnL>
                    <a:lnR w="9525" cap="flat" cmpd="sng" algn="ctr">
                      <a:solidFill>
                        <a:srgbClr val="DDE1E6"/>
                      </a:solidFill>
                      <a:prstDash val="solid"/>
                      <a:round/>
                      <a:headEnd type="none" w="med" len="med"/>
                      <a:tailEnd type="none" w="med" len="med"/>
                    </a:lnR>
                    <a:lnT w="9525" cap="flat" cmpd="sng" algn="ctr">
                      <a:solidFill>
                        <a:srgbClr val="DDE1E6"/>
                      </a:solidFill>
                      <a:prstDash val="solid"/>
                      <a:round/>
                      <a:headEnd type="none" w="med" len="med"/>
                      <a:tailEnd type="none" w="med" len="med"/>
                    </a:lnT>
                    <a:lnB w="9525" cap="flat" cmpd="sng" algn="ctr">
                      <a:solidFill>
                        <a:srgbClr val="DDE1E6"/>
                      </a:solidFill>
                      <a:prstDash val="solid"/>
                      <a:round/>
                      <a:headEnd type="none" w="med" len="med"/>
                      <a:tailEnd type="none" w="med" len="med"/>
                    </a:lnB>
                    <a:solidFill>
                      <a:srgbClr val="E3F0ED"/>
                    </a:solidFill>
                  </a:tcPr>
                </a:tc>
              </a:tr>
            </a:tbl>
          </a:graphicData>
        </a:graphic>
      </p:graphicFrame>
      <p:sp>
        <p:nvSpPr>
          <p:cNvPr id="8" name="Text 5"/>
          <p:cNvSpPr txBox="1"/>
          <p:nvPr/>
        </p:nvSpPr>
        <p:spPr>
          <a:xfrm>
            <a:off x="548640" y="6108192"/>
            <a:ext cx="10972800" cy="457200"/>
          </a:xfrm>
          <a:prstGeom prst="rect">
            <a:avLst/>
          </a:prstGeom>
          <a:noFill/>
          <a:ln/>
        </p:spPr>
        <p:txBody>
          <a:bodyPr wrap="square" lIns="0" tIns="0" rIns="0" bIns="0" rtlCol="0" anchor="ctr"/>
          <a:lstStyle/>
          <a:p>
            <a:pPr indent="0" marL="0">
              <a:buNone/>
            </a:pPr>
            <a:r>
              <a:rPr lang="en-US" sz="1250" i="1" dirty="0">
                <a:solidFill>
                  <a:srgbClr val="3A3F46"/>
                </a:solidFill>
                <a:latin typeface="Calibri" pitchFamily="34" charset="0"/>
                <a:ea typeface="Calibri" pitchFamily="34" charset="-122"/>
                <a:cs typeface="Calibri" pitchFamily="34" charset="-120"/>
              </a:rPr>
              <a:t>Structure-aware work (Hidost) is closest, but it lists structural paths without asking whether a trigger actually reaches a dangerous node.</a:t>
            </a:r>
            <a:endParaRPr lang="en-US" sz="1250" dirty="0"/>
          </a:p>
        </p:txBody>
      </p:sp>
      <p:sp>
        <p:nvSpPr>
          <p:cNvPr id="9" name="Text 6"/>
          <p:cNvSpPr txBox="1"/>
          <p:nvPr/>
        </p:nvSpPr>
        <p:spPr>
          <a:xfrm>
            <a:off x="502920" y="6528816"/>
            <a:ext cx="6400800" cy="237744"/>
          </a:xfrm>
          <a:prstGeom prst="rect">
            <a:avLst/>
          </a:prstGeom>
          <a:noFill/>
          <a:ln/>
        </p:spPr>
        <p:txBody>
          <a:bodyPr wrap="square" lIns="0" tIns="0" rIns="0" bIns="0" rtlCol="0" anchor="ctr"/>
          <a:lstStyle/>
          <a:p>
            <a:pPr indent="0" marL="0">
              <a:buNone/>
            </a:pPr>
            <a:r>
              <a:rPr lang="en-US" sz="850" spc="150" kern="0" dirty="0">
                <a:solidFill>
                  <a:srgbClr val="9AA0A8"/>
                </a:solidFill>
                <a:latin typeface="Calibri" pitchFamily="34" charset="0"/>
                <a:ea typeface="Calibri" pitchFamily="34" charset="-122"/>
                <a:cs typeface="Calibri" pitchFamily="34" charset="-120"/>
              </a:rPr>
              <a:t>PDFSentry · Reachability over Recognition</a:t>
            </a:r>
            <a:endParaRPr lang="en-US" sz="850" dirty="0"/>
          </a:p>
        </p:txBody>
      </p:sp>
      <p:sp>
        <p:nvSpPr>
          <p:cNvPr id="10" name="Text 7"/>
          <p:cNvSpPr txBox="1"/>
          <p:nvPr/>
        </p:nvSpPr>
        <p:spPr>
          <a:xfrm>
            <a:off x="11323015" y="6510528"/>
            <a:ext cx="457200" cy="256032"/>
          </a:xfrm>
          <a:prstGeom prst="rect">
            <a:avLst/>
          </a:prstGeom>
          <a:noFill/>
          <a:ln/>
        </p:spPr>
        <p:txBody>
          <a:bodyPr wrap="square" lIns="0" tIns="0" rIns="0" bIns="0" rtlCol="0" anchor="ctr"/>
          <a:lstStyle/>
          <a:p>
            <a:pPr algn="r" indent="0" marL="0">
              <a:buNone/>
            </a:pPr>
            <a:r>
              <a:rPr lang="en-US" sz="950" b="1" dirty="0">
                <a:solidFill>
                  <a:srgbClr val="6B7178"/>
                </a:solidFill>
                <a:latin typeface="Calibri" pitchFamily="34" charset="0"/>
                <a:ea typeface="Calibri" pitchFamily="34" charset="-122"/>
                <a:cs typeface="Calibri" pitchFamily="34" charset="-120"/>
              </a:rPr>
              <a:t>03</a:t>
            </a:r>
            <a:endParaRPr lang="en-US" sz="9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502920" y="292608"/>
            <a:ext cx="4572000" cy="274320"/>
          </a:xfrm>
          <a:prstGeom prst="rect">
            <a:avLst/>
          </a:prstGeom>
          <a:noFill/>
          <a:ln/>
        </p:spPr>
        <p:txBody>
          <a:bodyPr wrap="square" lIns="0" tIns="0" rIns="0" bIns="0" rtlCol="0" anchor="ctr"/>
          <a:lstStyle/>
          <a:p>
            <a:pPr indent="0" marL="0">
              <a:buNone/>
            </a:pPr>
            <a:r>
              <a:rPr lang="en-US" sz="1100" b="1" spc="400" kern="0" dirty="0">
                <a:solidFill>
                  <a:srgbClr val="6B7178"/>
                </a:solidFill>
                <a:latin typeface="Calibri" pitchFamily="34" charset="0"/>
                <a:ea typeface="Calibri" pitchFamily="34" charset="-122"/>
                <a:cs typeface="Calibri" pitchFamily="34" charset="-120"/>
              </a:rPr>
              <a:t>PDFSENTRY</a:t>
            </a:r>
            <a:endParaRPr lang="en-US" sz="1100" dirty="0"/>
          </a:p>
        </p:txBody>
      </p:sp>
      <p:sp>
        <p:nvSpPr>
          <p:cNvPr id="3" name="Text 1"/>
          <p:cNvSpPr txBox="1"/>
          <p:nvPr/>
        </p:nvSpPr>
        <p:spPr>
          <a:xfrm>
            <a:off x="6659575" y="292608"/>
            <a:ext cx="5029200" cy="274320"/>
          </a:xfrm>
          <a:prstGeom prst="rect">
            <a:avLst/>
          </a:prstGeom>
          <a:noFill/>
          <a:ln/>
        </p:spPr>
        <p:txBody>
          <a:bodyPr wrap="square" lIns="0" tIns="0" rIns="0" bIns="0" rtlCol="0" anchor="ctr"/>
          <a:lstStyle/>
          <a:p>
            <a:pPr algn="r" indent="0" marL="0">
              <a:buNone/>
            </a:pPr>
            <a:r>
              <a:rPr lang="en-US" sz="1100" spc="300" kern="0" dirty="0">
                <a:solidFill>
                  <a:srgbClr val="6B7178"/>
                </a:solidFill>
                <a:latin typeface="Calibri" pitchFamily="34" charset="0"/>
                <a:ea typeface="Calibri" pitchFamily="34" charset="-122"/>
                <a:cs typeface="Calibri" pitchFamily="34" charset="-120"/>
              </a:rPr>
              <a:t>REVIEW 3 · FINAL</a:t>
            </a:r>
            <a:endParaRPr lang="en-US" sz="1100" dirty="0"/>
          </a:p>
        </p:txBody>
      </p:sp>
      <p:sp>
        <p:nvSpPr>
          <p:cNvPr id="4" name="Text 2"/>
          <p:cNvSpPr txBox="1"/>
          <p:nvPr/>
        </p:nvSpPr>
        <p:spPr>
          <a:xfrm>
            <a:off x="512064" y="786384"/>
            <a:ext cx="10058400" cy="256032"/>
          </a:xfrm>
          <a:prstGeom prst="rect">
            <a:avLst/>
          </a:prstGeom>
          <a:noFill/>
          <a:ln/>
        </p:spPr>
        <p:txBody>
          <a:bodyPr wrap="square" lIns="0" tIns="0" rIns="0" bIns="0" rtlCol="0" anchor="ctr"/>
          <a:lstStyle/>
          <a:p>
            <a:pPr indent="0" marL="0">
              <a:buNone/>
            </a:pPr>
            <a:r>
              <a:rPr lang="en-US" sz="1100" b="1" spc="400" kern="0" dirty="0">
                <a:solidFill>
                  <a:srgbClr val="2F8F82"/>
                </a:solidFill>
                <a:latin typeface="Calibri" pitchFamily="34" charset="0"/>
                <a:ea typeface="Calibri" pitchFamily="34" charset="-122"/>
                <a:cs typeface="Calibri" pitchFamily="34" charset="-120"/>
              </a:rPr>
              <a:t>03 · THE IDEA</a:t>
            </a:r>
            <a:endParaRPr lang="en-US" sz="1100" dirty="0"/>
          </a:p>
        </p:txBody>
      </p:sp>
      <p:sp>
        <p:nvSpPr>
          <p:cNvPr id="5" name="Text 3"/>
          <p:cNvSpPr txBox="1"/>
          <p:nvPr/>
        </p:nvSpPr>
        <p:spPr>
          <a:xfrm>
            <a:off x="502920" y="1078992"/>
            <a:ext cx="11155680" cy="731520"/>
          </a:xfrm>
          <a:prstGeom prst="rect">
            <a:avLst/>
          </a:prstGeom>
          <a:noFill/>
          <a:ln/>
        </p:spPr>
        <p:txBody>
          <a:bodyPr wrap="square" lIns="0" tIns="0" rIns="0" bIns="0" rtlCol="0" anchor="ctr"/>
          <a:lstStyle/>
          <a:p>
            <a:pPr indent="0" marL="0">
              <a:buNone/>
            </a:pPr>
            <a:r>
              <a:rPr lang="en-US" sz="3200" dirty="0">
                <a:solidFill>
                  <a:srgbClr val="1B1E22"/>
                </a:solidFill>
                <a:latin typeface="Arial Black" pitchFamily="34" charset="0"/>
                <a:ea typeface="Arial Black" pitchFamily="34" charset="-122"/>
                <a:cs typeface="Arial Black" pitchFamily="34" charset="-120"/>
              </a:rPr>
              <a:t>Core idea — reachability over recognition</a:t>
            </a:r>
            <a:endParaRPr lang="en-US" sz="3200" dirty="0"/>
          </a:p>
        </p:txBody>
      </p:sp>
      <p:sp>
        <p:nvSpPr>
          <p:cNvPr id="6" name="Text 4"/>
          <p:cNvSpPr txBox="1"/>
          <p:nvPr/>
        </p:nvSpPr>
        <p:spPr>
          <a:xfrm>
            <a:off x="548640" y="1783080"/>
            <a:ext cx="10881360" cy="548640"/>
          </a:xfrm>
          <a:prstGeom prst="rect">
            <a:avLst/>
          </a:prstGeom>
          <a:noFill/>
          <a:ln/>
        </p:spPr>
        <p:txBody>
          <a:bodyPr wrap="square" lIns="0" tIns="0" rIns="0" bIns="0" rtlCol="0" anchor="ctr"/>
          <a:lstStyle/>
          <a:p>
            <a:pPr indent="0" marL="0">
              <a:lnSpc>
                <a:spcPct val="105000"/>
              </a:lnSpc>
              <a:buNone/>
            </a:pPr>
            <a:r>
              <a:rPr lang="en-US" sz="1550" dirty="0">
                <a:solidFill>
                  <a:srgbClr val="3A3F46"/>
                </a:solidFill>
                <a:latin typeface="Calibri" pitchFamily="34" charset="0"/>
                <a:ea typeface="Calibri" pitchFamily="34" charset="-122"/>
                <a:cs typeface="Calibri" pitchFamily="34" charset="-120"/>
              </a:rPr>
              <a:t>We reframe detection from a pattern-matching question into a reachability question on the PDF object graph.</a:t>
            </a:r>
            <a:endParaRPr lang="en-US" sz="1550" dirty="0"/>
          </a:p>
        </p:txBody>
      </p:sp>
      <p:sp>
        <p:nvSpPr>
          <p:cNvPr id="7" name="Text 5"/>
          <p:cNvSpPr txBox="1"/>
          <p:nvPr/>
        </p:nvSpPr>
        <p:spPr>
          <a:xfrm>
            <a:off x="566928" y="2423160"/>
            <a:ext cx="10881360" cy="2788920"/>
          </a:xfrm>
          <a:prstGeom prst="rect">
            <a:avLst/>
          </a:prstGeom>
          <a:noFill/>
          <a:ln/>
        </p:spPr>
        <p:txBody>
          <a:bodyPr wrap="square" lIns="0" tIns="0" rIns="0" bIns="0" rtlCol="0" anchor="t"/>
          <a:lstStyle/>
          <a:p>
            <a:pPr marL="342900" indent="-342900">
              <a:lnSpc>
                <a:spcPct val="118000"/>
              </a:lnSpc>
              <a:buSzPct val="100000"/>
              <a:buChar char="•"/>
            </a:pPr>
            <a:r>
              <a:rPr lang="en-US" sz="1600" b="1" dirty="0">
                <a:solidFill>
                  <a:srgbClr val="1B1E22"/>
                </a:solidFill>
                <a:latin typeface="Calibri" pitchFamily="34" charset="0"/>
                <a:ea typeface="Calibri" pitchFamily="34" charset="-122"/>
                <a:cs typeface="Calibri" pitchFamily="34" charset="-120"/>
              </a:rPr>
              <a:t>Recognition (old)  </a:t>
            </a:r>
            <a:pPr indent="0" marL="0">
              <a:lnSpc>
                <a:spcPct val="118000"/>
              </a:lnSpc>
              <a:spcAft>
                <a:spcPts val="1300"/>
              </a:spcAft>
              <a:buNone/>
            </a:pPr>
            <a:r>
              <a:rPr lang="en-US" sz="1600" dirty="0">
                <a:solidFill>
                  <a:srgbClr val="3A3F46"/>
                </a:solidFill>
                <a:latin typeface="Calibri" pitchFamily="34" charset="0"/>
                <a:ea typeface="Calibri" pitchFamily="34" charset="-122"/>
                <a:cs typeface="Calibri" pitchFamily="34" charset="-120"/>
              </a:rPr>
              <a:t>“Does this file look like malware?” — a statistical judgement on bytes and strings, easily camouflaged.</a:t>
            </a:r>
            <a:endParaRPr lang="en-US" sz="1600" dirty="0"/>
          </a:p>
          <a:p>
            <a:pPr marL="342900" indent="-342900">
              <a:lnSpc>
                <a:spcPct val="118000"/>
              </a:lnSpc>
              <a:buSzPct val="100000"/>
              <a:buChar char="•"/>
            </a:pPr>
            <a:r>
              <a:rPr lang="en-US" sz="1600" b="1" dirty="0">
                <a:solidFill>
                  <a:srgbClr val="1B1E22"/>
                </a:solidFill>
                <a:latin typeface="Calibri" pitchFamily="34" charset="0"/>
                <a:ea typeface="Calibri" pitchFamily="34" charset="-122"/>
                <a:cs typeface="Calibri" pitchFamily="34" charset="-120"/>
              </a:rPr>
              <a:t>Reachability (ours)  </a:t>
            </a:r>
            <a:pPr indent="0" marL="0">
              <a:lnSpc>
                <a:spcPct val="118000"/>
              </a:lnSpc>
              <a:spcAft>
                <a:spcPts val="1300"/>
              </a:spcAft>
              <a:buNone/>
            </a:pPr>
            <a:r>
              <a:rPr lang="en-US" sz="1600" dirty="0">
                <a:solidFill>
                  <a:srgbClr val="3A3F46"/>
                </a:solidFill>
                <a:latin typeface="Calibri" pitchFamily="34" charset="0"/>
                <a:ea typeface="Calibri" pitchFamily="34" charset="-122"/>
                <a:cs typeface="Calibri" pitchFamily="34" charset="-120"/>
              </a:rPr>
              <a:t>“Can an automatic trigger reach a dangerous action?” — a structural fact about what the document will do on open.</a:t>
            </a:r>
            <a:endParaRPr lang="en-US" sz="1600" dirty="0"/>
          </a:p>
          <a:p>
            <a:pPr marL="342900" indent="-342900">
              <a:lnSpc>
                <a:spcPct val="118000"/>
              </a:lnSpc>
              <a:buSzPct val="100000"/>
              <a:buChar char="•"/>
            </a:pPr>
            <a:r>
              <a:rPr lang="en-US" sz="1600" b="1" dirty="0">
                <a:solidFill>
                  <a:srgbClr val="1B1E22"/>
                </a:solidFill>
                <a:latin typeface="Calibri" pitchFamily="34" charset="0"/>
                <a:ea typeface="Calibri" pitchFamily="34" charset="-122"/>
                <a:cs typeface="Calibri" pitchFamily="34" charset="-120"/>
              </a:rPr>
              <a:t>Why it is stronger  </a:t>
            </a:r>
            <a:pPr indent="0" marL="0">
              <a:lnSpc>
                <a:spcPct val="118000"/>
              </a:lnSpc>
              <a:spcAft>
                <a:spcPts val="1300"/>
              </a:spcAft>
              <a:buNone/>
            </a:pPr>
            <a:r>
              <a:rPr lang="en-US" sz="1600" dirty="0">
                <a:solidFill>
                  <a:srgbClr val="3A3F46"/>
                </a:solidFill>
                <a:latin typeface="Calibri" pitchFamily="34" charset="0"/>
                <a:ea typeface="Calibri" pitchFamily="34" charset="-122"/>
                <a:cs typeface="Calibri" pitchFamily="34" charset="-120"/>
              </a:rPr>
              <a:t>Appearance can be re-encoded freely; the trigger→action path cannot be hidden without removing the attack itself.</a:t>
            </a:r>
            <a:endParaRPr lang="en-US" sz="1600" dirty="0"/>
          </a:p>
          <a:p>
            <a:pPr marL="342900" indent="-342900">
              <a:lnSpc>
                <a:spcPct val="118000"/>
              </a:lnSpc>
              <a:buSzPct val="100000"/>
              <a:buChar char="•"/>
            </a:pPr>
            <a:r>
              <a:rPr lang="en-US" sz="1600" b="1" dirty="0">
                <a:solidFill>
                  <a:srgbClr val="1B1E22"/>
                </a:solidFill>
                <a:latin typeface="Calibri" pitchFamily="34" charset="0"/>
                <a:ea typeface="Calibri" pitchFamily="34" charset="-122"/>
                <a:cs typeface="Calibri" pitchFamily="34" charset="-120"/>
              </a:rPr>
              <a:t>Explainable by nature  </a:t>
            </a:r>
            <a:pPr indent="0" marL="0">
              <a:lnSpc>
                <a:spcPct val="118000"/>
              </a:lnSpc>
              <a:spcAft>
                <a:spcPts val="1300"/>
              </a:spcAft>
              <a:buNone/>
            </a:pPr>
            <a:r>
              <a:rPr lang="en-US" sz="1600" dirty="0">
                <a:solidFill>
                  <a:srgbClr val="3A3F46"/>
                </a:solidFill>
                <a:latin typeface="Calibri" pitchFamily="34" charset="0"/>
                <a:ea typeface="Calibri" pitchFamily="34" charset="-122"/>
                <a:cs typeface="Calibri" pitchFamily="34" charset="-120"/>
              </a:rPr>
              <a:t>The answer is a concrete path, not a probability — a reviewer can confirm it by hand.</a:t>
            </a:r>
            <a:endParaRPr lang="en-US" sz="1600" dirty="0"/>
          </a:p>
        </p:txBody>
      </p:sp>
      <p:sp>
        <p:nvSpPr>
          <p:cNvPr id="8" name="Shape 6"/>
          <p:cNvSpPr/>
          <p:nvPr/>
        </p:nvSpPr>
        <p:spPr>
          <a:xfrm>
            <a:off x="548640" y="5074920"/>
            <a:ext cx="3383280" cy="1097280"/>
          </a:xfrm>
          <a:prstGeom prst="roundRect">
            <a:avLst>
              <a:gd name="adj" fmla="val 5833"/>
            </a:avLst>
          </a:prstGeom>
          <a:solidFill>
            <a:srgbClr val="EEF0F2"/>
          </a:solidFill>
          <a:ln w="9525">
            <a:solidFill>
              <a:srgbClr val="CED2D8"/>
            </a:solidFill>
            <a:prstDash val="solid"/>
          </a:ln>
          <a:effectLst>
            <a:outerShdw sx="100000" sy="100000" kx="0" ky="0" algn="bl" rotWithShape="0" blurRad="101600" dist="38100" dir="5400000">
              <a:srgbClr val="9aa0a8">
                <a:alpha val="30000"/>
              </a:srgbClr>
            </a:outerShdw>
          </a:effectLst>
        </p:spPr>
      </p:sp>
      <p:sp>
        <p:nvSpPr>
          <p:cNvPr id="9" name="Text 7"/>
          <p:cNvSpPr txBox="1"/>
          <p:nvPr/>
        </p:nvSpPr>
        <p:spPr>
          <a:xfrm>
            <a:off x="804672" y="5230368"/>
            <a:ext cx="2871216" cy="548640"/>
          </a:xfrm>
          <a:prstGeom prst="rect">
            <a:avLst/>
          </a:prstGeom>
          <a:noFill/>
          <a:ln/>
        </p:spPr>
        <p:txBody>
          <a:bodyPr wrap="square" lIns="0" tIns="0" rIns="0" bIns="0" rtlCol="0" anchor="ctr"/>
          <a:lstStyle/>
          <a:p>
            <a:pPr indent="0" marL="0">
              <a:buNone/>
            </a:pPr>
            <a:r>
              <a:rPr lang="en-US" sz="2700" dirty="0">
                <a:solidFill>
                  <a:srgbClr val="C08A2E"/>
                </a:solidFill>
                <a:latin typeface="Arial Black" pitchFamily="34" charset="0"/>
                <a:ea typeface="Arial Black" pitchFamily="34" charset="-122"/>
                <a:cs typeface="Arial Black" pitchFamily="34" charset="-120"/>
              </a:rPr>
              <a:t>Recognition</a:t>
            </a:r>
            <a:endParaRPr lang="en-US" sz="2700" dirty="0"/>
          </a:p>
        </p:txBody>
      </p:sp>
      <p:sp>
        <p:nvSpPr>
          <p:cNvPr id="10" name="Text 8"/>
          <p:cNvSpPr txBox="1"/>
          <p:nvPr/>
        </p:nvSpPr>
        <p:spPr>
          <a:xfrm>
            <a:off x="804672" y="5769864"/>
            <a:ext cx="2871216" cy="365760"/>
          </a:xfrm>
          <a:prstGeom prst="rect">
            <a:avLst/>
          </a:prstGeom>
          <a:noFill/>
          <a:ln/>
        </p:spPr>
        <p:txBody>
          <a:bodyPr wrap="square" lIns="0" tIns="0" rIns="0" bIns="0" rtlCol="0" anchor="ctr"/>
          <a:lstStyle/>
          <a:p>
            <a:pPr indent="0" marL="0">
              <a:lnSpc>
                <a:spcPct val="100000"/>
              </a:lnSpc>
              <a:buNone/>
            </a:pPr>
            <a:r>
              <a:rPr lang="en-US" sz="1050" dirty="0">
                <a:solidFill>
                  <a:srgbClr val="6B7178"/>
                </a:solidFill>
                <a:latin typeface="Calibri" pitchFamily="34" charset="0"/>
                <a:ea typeface="Calibri" pitchFamily="34" charset="-122"/>
                <a:cs typeface="Calibri" pitchFamily="34" charset="-120"/>
              </a:rPr>
              <a:t>what it looks like</a:t>
            </a:r>
            <a:endParaRPr lang="en-US" sz="1050" dirty="0"/>
          </a:p>
        </p:txBody>
      </p:sp>
      <p:sp>
        <p:nvSpPr>
          <p:cNvPr id="11" name="Shape 9"/>
          <p:cNvSpPr/>
          <p:nvPr/>
        </p:nvSpPr>
        <p:spPr>
          <a:xfrm>
            <a:off x="4297680" y="5074920"/>
            <a:ext cx="3383280" cy="1097280"/>
          </a:xfrm>
          <a:prstGeom prst="roundRect">
            <a:avLst>
              <a:gd name="adj" fmla="val 5833"/>
            </a:avLst>
          </a:prstGeom>
          <a:solidFill>
            <a:srgbClr val="EEF0F2"/>
          </a:solidFill>
          <a:ln w="9525">
            <a:solidFill>
              <a:srgbClr val="CED2D8"/>
            </a:solidFill>
            <a:prstDash val="solid"/>
          </a:ln>
          <a:effectLst>
            <a:outerShdw sx="100000" sy="100000" kx="0" ky="0" algn="bl" rotWithShape="0" blurRad="101600" dist="38100" dir="5400000">
              <a:srgbClr val="9aa0a8">
                <a:alpha val="30000"/>
              </a:srgbClr>
            </a:outerShdw>
          </a:effectLst>
        </p:spPr>
      </p:sp>
      <p:sp>
        <p:nvSpPr>
          <p:cNvPr id="12" name="Text 10"/>
          <p:cNvSpPr txBox="1"/>
          <p:nvPr/>
        </p:nvSpPr>
        <p:spPr>
          <a:xfrm>
            <a:off x="4553712" y="5230368"/>
            <a:ext cx="2871216" cy="548640"/>
          </a:xfrm>
          <a:prstGeom prst="rect">
            <a:avLst/>
          </a:prstGeom>
          <a:noFill/>
          <a:ln/>
        </p:spPr>
        <p:txBody>
          <a:bodyPr wrap="square" lIns="0" tIns="0" rIns="0" bIns="0" rtlCol="0" anchor="ctr"/>
          <a:lstStyle/>
          <a:p>
            <a:pPr indent="0" marL="0">
              <a:buNone/>
            </a:pPr>
            <a:r>
              <a:rPr lang="en-US" sz="2700" dirty="0">
                <a:solidFill>
                  <a:srgbClr val="2F8F82"/>
                </a:solidFill>
                <a:latin typeface="Arial Black" pitchFamily="34" charset="0"/>
                <a:ea typeface="Arial Black" pitchFamily="34" charset="-122"/>
                <a:cs typeface="Arial Black" pitchFamily="34" charset="-120"/>
              </a:rPr>
              <a:t>Reachability</a:t>
            </a:r>
            <a:endParaRPr lang="en-US" sz="2700" dirty="0"/>
          </a:p>
        </p:txBody>
      </p:sp>
      <p:sp>
        <p:nvSpPr>
          <p:cNvPr id="13" name="Text 11"/>
          <p:cNvSpPr txBox="1"/>
          <p:nvPr/>
        </p:nvSpPr>
        <p:spPr>
          <a:xfrm>
            <a:off x="4553712" y="5769864"/>
            <a:ext cx="2871216" cy="365760"/>
          </a:xfrm>
          <a:prstGeom prst="rect">
            <a:avLst/>
          </a:prstGeom>
          <a:noFill/>
          <a:ln/>
        </p:spPr>
        <p:txBody>
          <a:bodyPr wrap="square" lIns="0" tIns="0" rIns="0" bIns="0" rtlCol="0" anchor="ctr"/>
          <a:lstStyle/>
          <a:p>
            <a:pPr indent="0" marL="0">
              <a:lnSpc>
                <a:spcPct val="100000"/>
              </a:lnSpc>
              <a:buNone/>
            </a:pPr>
            <a:r>
              <a:rPr lang="en-US" sz="1050" dirty="0">
                <a:solidFill>
                  <a:srgbClr val="6B7178"/>
                </a:solidFill>
                <a:latin typeface="Calibri" pitchFamily="34" charset="0"/>
                <a:ea typeface="Calibri" pitchFamily="34" charset="-122"/>
                <a:cs typeface="Calibri" pitchFamily="34" charset="-120"/>
              </a:rPr>
              <a:t>what it will do</a:t>
            </a:r>
            <a:endParaRPr lang="en-US" sz="1050" dirty="0"/>
          </a:p>
        </p:txBody>
      </p:sp>
      <p:sp>
        <p:nvSpPr>
          <p:cNvPr id="14" name="Shape 12"/>
          <p:cNvSpPr/>
          <p:nvPr/>
        </p:nvSpPr>
        <p:spPr>
          <a:xfrm>
            <a:off x="8046720" y="5074920"/>
            <a:ext cx="3383280" cy="1097280"/>
          </a:xfrm>
          <a:prstGeom prst="roundRect">
            <a:avLst>
              <a:gd name="adj" fmla="val 5833"/>
            </a:avLst>
          </a:prstGeom>
          <a:solidFill>
            <a:srgbClr val="EEF0F2"/>
          </a:solidFill>
          <a:ln w="9525">
            <a:solidFill>
              <a:srgbClr val="CED2D8"/>
            </a:solidFill>
            <a:prstDash val="solid"/>
          </a:ln>
          <a:effectLst>
            <a:outerShdw sx="100000" sy="100000" kx="0" ky="0" algn="bl" rotWithShape="0" blurRad="101600" dist="38100" dir="5400000">
              <a:srgbClr val="9aa0a8">
                <a:alpha val="30000"/>
              </a:srgbClr>
            </a:outerShdw>
          </a:effectLst>
        </p:spPr>
      </p:sp>
      <p:sp>
        <p:nvSpPr>
          <p:cNvPr id="15" name="Text 13"/>
          <p:cNvSpPr txBox="1"/>
          <p:nvPr/>
        </p:nvSpPr>
        <p:spPr>
          <a:xfrm>
            <a:off x="8302752" y="5230368"/>
            <a:ext cx="2871216" cy="548640"/>
          </a:xfrm>
          <a:prstGeom prst="rect">
            <a:avLst/>
          </a:prstGeom>
          <a:noFill/>
          <a:ln/>
        </p:spPr>
        <p:txBody>
          <a:bodyPr wrap="square" lIns="0" tIns="0" rIns="0" bIns="0" rtlCol="0" anchor="ctr"/>
          <a:lstStyle/>
          <a:p>
            <a:pPr indent="0" marL="0">
              <a:buNone/>
            </a:pPr>
            <a:r>
              <a:rPr lang="en-US" sz="2700" dirty="0">
                <a:solidFill>
                  <a:srgbClr val="1B1E22"/>
                </a:solidFill>
                <a:latin typeface="Arial Black" pitchFamily="34" charset="0"/>
                <a:ea typeface="Arial Black" pitchFamily="34" charset="-122"/>
                <a:cs typeface="Arial Black" pitchFamily="34" charset="-120"/>
              </a:rPr>
              <a:t>Witness</a:t>
            </a:r>
            <a:endParaRPr lang="en-US" sz="2700" dirty="0"/>
          </a:p>
        </p:txBody>
      </p:sp>
      <p:sp>
        <p:nvSpPr>
          <p:cNvPr id="16" name="Text 14"/>
          <p:cNvSpPr txBox="1"/>
          <p:nvPr/>
        </p:nvSpPr>
        <p:spPr>
          <a:xfrm>
            <a:off x="8302752" y="5769864"/>
            <a:ext cx="2871216" cy="365760"/>
          </a:xfrm>
          <a:prstGeom prst="rect">
            <a:avLst/>
          </a:prstGeom>
          <a:noFill/>
          <a:ln/>
        </p:spPr>
        <p:txBody>
          <a:bodyPr wrap="square" lIns="0" tIns="0" rIns="0" bIns="0" rtlCol="0" anchor="ctr"/>
          <a:lstStyle/>
          <a:p>
            <a:pPr indent="0" marL="0">
              <a:lnSpc>
                <a:spcPct val="100000"/>
              </a:lnSpc>
              <a:buNone/>
            </a:pPr>
            <a:r>
              <a:rPr lang="en-US" sz="1050" dirty="0">
                <a:solidFill>
                  <a:srgbClr val="6B7178"/>
                </a:solidFill>
                <a:latin typeface="Calibri" pitchFamily="34" charset="0"/>
                <a:ea typeface="Calibri" pitchFamily="34" charset="-122"/>
                <a:cs typeface="Calibri" pitchFamily="34" charset="-120"/>
              </a:rPr>
              <a:t>why we say so</a:t>
            </a:r>
            <a:endParaRPr lang="en-US" sz="1050" dirty="0"/>
          </a:p>
        </p:txBody>
      </p:sp>
      <p:sp>
        <p:nvSpPr>
          <p:cNvPr id="17" name="Text 15"/>
          <p:cNvSpPr txBox="1"/>
          <p:nvPr/>
        </p:nvSpPr>
        <p:spPr>
          <a:xfrm>
            <a:off x="502920" y="6528816"/>
            <a:ext cx="6400800" cy="237744"/>
          </a:xfrm>
          <a:prstGeom prst="rect">
            <a:avLst/>
          </a:prstGeom>
          <a:noFill/>
          <a:ln/>
        </p:spPr>
        <p:txBody>
          <a:bodyPr wrap="square" lIns="0" tIns="0" rIns="0" bIns="0" rtlCol="0" anchor="ctr"/>
          <a:lstStyle/>
          <a:p>
            <a:pPr indent="0" marL="0">
              <a:buNone/>
            </a:pPr>
            <a:r>
              <a:rPr lang="en-US" sz="850" spc="150" kern="0" dirty="0">
                <a:solidFill>
                  <a:srgbClr val="9AA0A8"/>
                </a:solidFill>
                <a:latin typeface="Calibri" pitchFamily="34" charset="0"/>
                <a:ea typeface="Calibri" pitchFamily="34" charset="-122"/>
                <a:cs typeface="Calibri" pitchFamily="34" charset="-120"/>
              </a:rPr>
              <a:t>PDFSentry · Reachability over Recognition</a:t>
            </a:r>
            <a:endParaRPr lang="en-US" sz="850" dirty="0"/>
          </a:p>
        </p:txBody>
      </p:sp>
      <p:sp>
        <p:nvSpPr>
          <p:cNvPr id="18" name="Text 16"/>
          <p:cNvSpPr txBox="1"/>
          <p:nvPr/>
        </p:nvSpPr>
        <p:spPr>
          <a:xfrm>
            <a:off x="11323015" y="6510528"/>
            <a:ext cx="457200" cy="256032"/>
          </a:xfrm>
          <a:prstGeom prst="rect">
            <a:avLst/>
          </a:prstGeom>
          <a:noFill/>
          <a:ln/>
        </p:spPr>
        <p:txBody>
          <a:bodyPr wrap="square" lIns="0" tIns="0" rIns="0" bIns="0" rtlCol="0" anchor="ctr"/>
          <a:lstStyle/>
          <a:p>
            <a:pPr algn="r" indent="0" marL="0">
              <a:buNone/>
            </a:pPr>
            <a:r>
              <a:rPr lang="en-US" sz="950" b="1" dirty="0">
                <a:solidFill>
                  <a:srgbClr val="6B7178"/>
                </a:solidFill>
                <a:latin typeface="Calibri" pitchFamily="34" charset="0"/>
                <a:ea typeface="Calibri" pitchFamily="34" charset="-122"/>
                <a:cs typeface="Calibri" pitchFamily="34" charset="-120"/>
              </a:rPr>
              <a:t>04</a:t>
            </a:r>
            <a:endParaRPr lang="en-US" sz="9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502920" y="292608"/>
            <a:ext cx="4572000" cy="274320"/>
          </a:xfrm>
          <a:prstGeom prst="rect">
            <a:avLst/>
          </a:prstGeom>
          <a:noFill/>
          <a:ln/>
        </p:spPr>
        <p:txBody>
          <a:bodyPr wrap="square" lIns="0" tIns="0" rIns="0" bIns="0" rtlCol="0" anchor="ctr"/>
          <a:lstStyle/>
          <a:p>
            <a:pPr indent="0" marL="0">
              <a:buNone/>
            </a:pPr>
            <a:r>
              <a:rPr lang="en-US" sz="1100" b="1" spc="400" kern="0" dirty="0">
                <a:solidFill>
                  <a:srgbClr val="6B7178"/>
                </a:solidFill>
                <a:latin typeface="Calibri" pitchFamily="34" charset="0"/>
                <a:ea typeface="Calibri" pitchFamily="34" charset="-122"/>
                <a:cs typeface="Calibri" pitchFamily="34" charset="-120"/>
              </a:rPr>
              <a:t>PDFSENTRY</a:t>
            </a:r>
            <a:endParaRPr lang="en-US" sz="1100" dirty="0"/>
          </a:p>
        </p:txBody>
      </p:sp>
      <p:sp>
        <p:nvSpPr>
          <p:cNvPr id="3" name="Text 1"/>
          <p:cNvSpPr txBox="1"/>
          <p:nvPr/>
        </p:nvSpPr>
        <p:spPr>
          <a:xfrm>
            <a:off x="6659575" y="292608"/>
            <a:ext cx="5029200" cy="274320"/>
          </a:xfrm>
          <a:prstGeom prst="rect">
            <a:avLst/>
          </a:prstGeom>
          <a:noFill/>
          <a:ln/>
        </p:spPr>
        <p:txBody>
          <a:bodyPr wrap="square" lIns="0" tIns="0" rIns="0" bIns="0" rtlCol="0" anchor="ctr"/>
          <a:lstStyle/>
          <a:p>
            <a:pPr algn="r" indent="0" marL="0">
              <a:buNone/>
            </a:pPr>
            <a:r>
              <a:rPr lang="en-US" sz="1100" spc="300" kern="0" dirty="0">
                <a:solidFill>
                  <a:srgbClr val="6B7178"/>
                </a:solidFill>
                <a:latin typeface="Calibri" pitchFamily="34" charset="0"/>
                <a:ea typeface="Calibri" pitchFamily="34" charset="-122"/>
                <a:cs typeface="Calibri" pitchFamily="34" charset="-120"/>
              </a:rPr>
              <a:t>REVIEW 3 · FINAL</a:t>
            </a:r>
            <a:endParaRPr lang="en-US" sz="1100" dirty="0"/>
          </a:p>
        </p:txBody>
      </p:sp>
      <p:sp>
        <p:nvSpPr>
          <p:cNvPr id="4" name="Text 2"/>
          <p:cNvSpPr txBox="1"/>
          <p:nvPr/>
        </p:nvSpPr>
        <p:spPr>
          <a:xfrm>
            <a:off x="512064" y="786384"/>
            <a:ext cx="10058400" cy="256032"/>
          </a:xfrm>
          <a:prstGeom prst="rect">
            <a:avLst/>
          </a:prstGeom>
          <a:noFill/>
          <a:ln/>
        </p:spPr>
        <p:txBody>
          <a:bodyPr wrap="square" lIns="0" tIns="0" rIns="0" bIns="0" rtlCol="0" anchor="ctr"/>
          <a:lstStyle/>
          <a:p>
            <a:pPr indent="0" marL="0">
              <a:buNone/>
            </a:pPr>
            <a:r>
              <a:rPr lang="en-US" sz="1100" b="1" spc="400" kern="0" dirty="0">
                <a:solidFill>
                  <a:srgbClr val="2F8F82"/>
                </a:solidFill>
                <a:latin typeface="Calibri" pitchFamily="34" charset="0"/>
                <a:ea typeface="Calibri" pitchFamily="34" charset="-122"/>
                <a:cs typeface="Calibri" pitchFamily="34" charset="-120"/>
              </a:rPr>
              <a:t>04 · ARCHITECTURE</a:t>
            </a:r>
            <a:endParaRPr lang="en-US" sz="1100" dirty="0"/>
          </a:p>
        </p:txBody>
      </p:sp>
      <p:sp>
        <p:nvSpPr>
          <p:cNvPr id="5" name="Text 3"/>
          <p:cNvSpPr txBox="1"/>
          <p:nvPr/>
        </p:nvSpPr>
        <p:spPr>
          <a:xfrm>
            <a:off x="502920" y="1078992"/>
            <a:ext cx="11155680" cy="731520"/>
          </a:xfrm>
          <a:prstGeom prst="rect">
            <a:avLst/>
          </a:prstGeom>
          <a:noFill/>
          <a:ln/>
        </p:spPr>
        <p:txBody>
          <a:bodyPr wrap="square" lIns="0" tIns="0" rIns="0" bIns="0" rtlCol="0" anchor="ctr"/>
          <a:lstStyle/>
          <a:p>
            <a:pPr indent="0" marL="0">
              <a:buNone/>
            </a:pPr>
            <a:r>
              <a:rPr lang="en-US" sz="3200" dirty="0">
                <a:solidFill>
                  <a:srgbClr val="1B1E22"/>
                </a:solidFill>
                <a:latin typeface="Arial Black" pitchFamily="34" charset="0"/>
                <a:ea typeface="Arial Black" pitchFamily="34" charset="-122"/>
                <a:cs typeface="Arial Black" pitchFamily="34" charset="-120"/>
              </a:rPr>
              <a:t>System architecture</a:t>
            </a:r>
            <a:endParaRPr lang="en-US" sz="3200" dirty="0"/>
          </a:p>
        </p:txBody>
      </p:sp>
      <p:sp>
        <p:nvSpPr>
          <p:cNvPr id="6" name="Shape 4"/>
          <p:cNvSpPr/>
          <p:nvPr/>
        </p:nvSpPr>
        <p:spPr>
          <a:xfrm>
            <a:off x="457200" y="2103120"/>
            <a:ext cx="10789920" cy="3545312"/>
          </a:xfrm>
          <a:prstGeom prst="roundRect">
            <a:avLst>
              <a:gd name="adj" fmla="val 1290"/>
            </a:avLst>
          </a:prstGeom>
          <a:solidFill>
            <a:srgbClr val="0F141B"/>
          </a:solidFill>
          <a:ln w="12700">
            <a:solidFill>
              <a:srgbClr val="2B3542"/>
            </a:solidFill>
            <a:prstDash val="solid"/>
          </a:ln>
          <a:effectLst>
            <a:outerShdw sx="100000" sy="100000" kx="0" ky="0" algn="bl" rotWithShape="0" blurRad="127000" dist="50800" dir="5400000">
              <a:srgbClr val="7c8795">
                <a:alpha val="40000"/>
              </a:srgbClr>
            </a:outerShdw>
          </a:effectLst>
        </p:spPr>
      </p:sp>
      <p:pic>
        <p:nvPicPr>
          <p:cNvPr id="7" name="Image 0" descr="/home/claude/PDFSentry/deck/assets/arch.png">    </p:cNvPr>
          <p:cNvPicPr>
            <a:picLocks noChangeAspect="1"/>
          </p:cNvPicPr>
          <p:nvPr/>
        </p:nvPicPr>
        <p:blipFill>
          <a:blip r:embed="rId2"/>
          <a:stretch>
            <a:fillRect/>
          </a:stretch>
        </p:blipFill>
        <p:spPr>
          <a:xfrm>
            <a:off x="548640" y="2194560"/>
            <a:ext cx="10607040" cy="3362432"/>
          </a:xfrm>
          <a:prstGeom prst="rect">
            <a:avLst/>
          </a:prstGeom>
        </p:spPr>
      </p:pic>
      <p:sp>
        <p:nvSpPr>
          <p:cNvPr id="8" name="Text 5"/>
          <p:cNvSpPr txBox="1"/>
          <p:nvPr/>
        </p:nvSpPr>
        <p:spPr>
          <a:xfrm>
            <a:off x="548640" y="5685008"/>
            <a:ext cx="10607040" cy="365760"/>
          </a:xfrm>
          <a:prstGeom prst="rect">
            <a:avLst/>
          </a:prstGeom>
          <a:noFill/>
          <a:ln/>
        </p:spPr>
        <p:txBody>
          <a:bodyPr wrap="square" lIns="0" tIns="0" rIns="0" bIns="0" rtlCol="0" anchor="ctr"/>
          <a:lstStyle/>
          <a:p>
            <a:pPr indent="0" marL="0">
              <a:buNone/>
            </a:pPr>
            <a:r>
              <a:rPr lang="en-US" sz="1150" i="1" dirty="0">
                <a:solidFill>
                  <a:srgbClr val="6B7178"/>
                </a:solidFill>
                <a:latin typeface="Calibri" pitchFamily="34" charset="0"/>
                <a:ea typeface="Calibri" pitchFamily="34" charset="-122"/>
                <a:cs typeface="Calibri" pitchFamily="34" charset="-120"/>
              </a:rPr>
              <a:t>Static throughout — pikepdf parses the file (never executes it); reachability and the EMBER score are fused into a typed, witnessed verdict.</a:t>
            </a:r>
            <a:endParaRPr lang="en-US" sz="1150" dirty="0"/>
          </a:p>
        </p:txBody>
      </p:sp>
      <p:sp>
        <p:nvSpPr>
          <p:cNvPr id="9" name="Text 6"/>
          <p:cNvSpPr txBox="1"/>
          <p:nvPr/>
        </p:nvSpPr>
        <p:spPr>
          <a:xfrm>
            <a:off x="502920" y="6528816"/>
            <a:ext cx="6400800" cy="237744"/>
          </a:xfrm>
          <a:prstGeom prst="rect">
            <a:avLst/>
          </a:prstGeom>
          <a:noFill/>
          <a:ln/>
        </p:spPr>
        <p:txBody>
          <a:bodyPr wrap="square" lIns="0" tIns="0" rIns="0" bIns="0" rtlCol="0" anchor="ctr"/>
          <a:lstStyle/>
          <a:p>
            <a:pPr indent="0" marL="0">
              <a:buNone/>
            </a:pPr>
            <a:r>
              <a:rPr lang="en-US" sz="850" spc="150" kern="0" dirty="0">
                <a:solidFill>
                  <a:srgbClr val="9AA0A8"/>
                </a:solidFill>
                <a:latin typeface="Calibri" pitchFamily="34" charset="0"/>
                <a:ea typeface="Calibri" pitchFamily="34" charset="-122"/>
                <a:cs typeface="Calibri" pitchFamily="34" charset="-120"/>
              </a:rPr>
              <a:t>PDFSentry · Reachability over Recognition</a:t>
            </a:r>
            <a:endParaRPr lang="en-US" sz="850" dirty="0"/>
          </a:p>
        </p:txBody>
      </p:sp>
      <p:sp>
        <p:nvSpPr>
          <p:cNvPr id="10" name="Text 7"/>
          <p:cNvSpPr txBox="1"/>
          <p:nvPr/>
        </p:nvSpPr>
        <p:spPr>
          <a:xfrm>
            <a:off x="11323015" y="6510528"/>
            <a:ext cx="457200" cy="256032"/>
          </a:xfrm>
          <a:prstGeom prst="rect">
            <a:avLst/>
          </a:prstGeom>
          <a:noFill/>
          <a:ln/>
        </p:spPr>
        <p:txBody>
          <a:bodyPr wrap="square" lIns="0" tIns="0" rIns="0" bIns="0" rtlCol="0" anchor="ctr"/>
          <a:lstStyle/>
          <a:p>
            <a:pPr algn="r" indent="0" marL="0">
              <a:buNone/>
            </a:pPr>
            <a:r>
              <a:rPr lang="en-US" sz="950" b="1" dirty="0">
                <a:solidFill>
                  <a:srgbClr val="6B7178"/>
                </a:solidFill>
                <a:latin typeface="Calibri" pitchFamily="34" charset="0"/>
                <a:ea typeface="Calibri" pitchFamily="34" charset="-122"/>
                <a:cs typeface="Calibri" pitchFamily="34" charset="-120"/>
              </a:rPr>
              <a:t>05</a:t>
            </a:r>
            <a:endParaRPr lang="en-US" sz="9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502920" y="292608"/>
            <a:ext cx="4572000" cy="274320"/>
          </a:xfrm>
          <a:prstGeom prst="rect">
            <a:avLst/>
          </a:prstGeom>
          <a:noFill/>
          <a:ln/>
        </p:spPr>
        <p:txBody>
          <a:bodyPr wrap="square" lIns="0" tIns="0" rIns="0" bIns="0" rtlCol="0" anchor="ctr"/>
          <a:lstStyle/>
          <a:p>
            <a:pPr indent="0" marL="0">
              <a:buNone/>
            </a:pPr>
            <a:r>
              <a:rPr lang="en-US" sz="1100" b="1" spc="400" kern="0" dirty="0">
                <a:solidFill>
                  <a:srgbClr val="6B7178"/>
                </a:solidFill>
                <a:latin typeface="Calibri" pitchFamily="34" charset="0"/>
                <a:ea typeface="Calibri" pitchFamily="34" charset="-122"/>
                <a:cs typeface="Calibri" pitchFamily="34" charset="-120"/>
              </a:rPr>
              <a:t>PDFSENTRY</a:t>
            </a:r>
            <a:endParaRPr lang="en-US" sz="1100" dirty="0"/>
          </a:p>
        </p:txBody>
      </p:sp>
      <p:sp>
        <p:nvSpPr>
          <p:cNvPr id="3" name="Text 1"/>
          <p:cNvSpPr txBox="1"/>
          <p:nvPr/>
        </p:nvSpPr>
        <p:spPr>
          <a:xfrm>
            <a:off x="6659575" y="292608"/>
            <a:ext cx="5029200" cy="274320"/>
          </a:xfrm>
          <a:prstGeom prst="rect">
            <a:avLst/>
          </a:prstGeom>
          <a:noFill/>
          <a:ln/>
        </p:spPr>
        <p:txBody>
          <a:bodyPr wrap="square" lIns="0" tIns="0" rIns="0" bIns="0" rtlCol="0" anchor="ctr"/>
          <a:lstStyle/>
          <a:p>
            <a:pPr algn="r" indent="0" marL="0">
              <a:buNone/>
            </a:pPr>
            <a:r>
              <a:rPr lang="en-US" sz="1100" spc="300" kern="0" dirty="0">
                <a:solidFill>
                  <a:srgbClr val="6B7178"/>
                </a:solidFill>
                <a:latin typeface="Calibri" pitchFamily="34" charset="0"/>
                <a:ea typeface="Calibri" pitchFamily="34" charset="-122"/>
                <a:cs typeface="Calibri" pitchFamily="34" charset="-120"/>
              </a:rPr>
              <a:t>REVIEW 3 · FINAL</a:t>
            </a:r>
            <a:endParaRPr lang="en-US" sz="1100" dirty="0"/>
          </a:p>
        </p:txBody>
      </p:sp>
      <p:sp>
        <p:nvSpPr>
          <p:cNvPr id="4" name="Text 2"/>
          <p:cNvSpPr txBox="1"/>
          <p:nvPr/>
        </p:nvSpPr>
        <p:spPr>
          <a:xfrm>
            <a:off x="512064" y="786384"/>
            <a:ext cx="10058400" cy="256032"/>
          </a:xfrm>
          <a:prstGeom prst="rect">
            <a:avLst/>
          </a:prstGeom>
          <a:noFill/>
          <a:ln/>
        </p:spPr>
        <p:txBody>
          <a:bodyPr wrap="square" lIns="0" tIns="0" rIns="0" bIns="0" rtlCol="0" anchor="ctr"/>
          <a:lstStyle/>
          <a:p>
            <a:pPr indent="0" marL="0">
              <a:buNone/>
            </a:pPr>
            <a:r>
              <a:rPr lang="en-US" sz="1100" b="1" spc="400" kern="0" dirty="0">
                <a:solidFill>
                  <a:srgbClr val="2F8F82"/>
                </a:solidFill>
                <a:latin typeface="Calibri" pitchFamily="34" charset="0"/>
                <a:ea typeface="Calibri" pitchFamily="34" charset="-122"/>
                <a:cs typeface="Calibri" pitchFamily="34" charset="-120"/>
              </a:rPr>
              <a:t>05 · ENGINE</a:t>
            </a:r>
            <a:endParaRPr lang="en-US" sz="1100" dirty="0"/>
          </a:p>
        </p:txBody>
      </p:sp>
      <p:sp>
        <p:nvSpPr>
          <p:cNvPr id="5" name="Text 3"/>
          <p:cNvSpPr txBox="1"/>
          <p:nvPr/>
        </p:nvSpPr>
        <p:spPr>
          <a:xfrm>
            <a:off x="502920" y="1078992"/>
            <a:ext cx="11155680" cy="731520"/>
          </a:xfrm>
          <a:prstGeom prst="rect">
            <a:avLst/>
          </a:prstGeom>
          <a:noFill/>
          <a:ln/>
        </p:spPr>
        <p:txBody>
          <a:bodyPr wrap="square" lIns="0" tIns="0" rIns="0" bIns="0" rtlCol="0" anchor="ctr"/>
          <a:lstStyle/>
          <a:p>
            <a:pPr indent="0" marL="0">
              <a:buNone/>
            </a:pPr>
            <a:r>
              <a:rPr lang="en-US" sz="3200" dirty="0">
                <a:solidFill>
                  <a:srgbClr val="1B1E22"/>
                </a:solidFill>
                <a:latin typeface="Arial Black" pitchFamily="34" charset="0"/>
                <a:ea typeface="Arial Black" pitchFamily="34" charset="-122"/>
                <a:cs typeface="Arial Black" pitchFamily="34" charset="-120"/>
              </a:rPr>
              <a:t>Inside the reachability engine (TRA-1.0)</a:t>
            </a:r>
            <a:endParaRPr lang="en-US" sz="3200" dirty="0"/>
          </a:p>
        </p:txBody>
      </p:sp>
      <p:sp>
        <p:nvSpPr>
          <p:cNvPr id="6" name="Text 4"/>
          <p:cNvSpPr txBox="1"/>
          <p:nvPr/>
        </p:nvSpPr>
        <p:spPr>
          <a:xfrm>
            <a:off x="548640" y="1965960"/>
            <a:ext cx="640080" cy="457200"/>
          </a:xfrm>
          <a:prstGeom prst="rect">
            <a:avLst/>
          </a:prstGeom>
          <a:noFill/>
          <a:ln/>
        </p:spPr>
        <p:txBody>
          <a:bodyPr wrap="square" lIns="0" tIns="0" rIns="0" bIns="0" rtlCol="0" anchor="ctr"/>
          <a:lstStyle/>
          <a:p>
            <a:pPr indent="0" marL="0">
              <a:buNone/>
            </a:pPr>
            <a:r>
              <a:rPr lang="en-US" sz="1900" dirty="0">
                <a:solidFill>
                  <a:srgbClr val="2F8F82"/>
                </a:solidFill>
                <a:latin typeface="Arial Black" pitchFamily="34" charset="0"/>
                <a:ea typeface="Arial Black" pitchFamily="34" charset="-122"/>
                <a:cs typeface="Arial Black" pitchFamily="34" charset="-120"/>
              </a:rPr>
              <a:t>01</a:t>
            </a:r>
            <a:endParaRPr lang="en-US" sz="1900" dirty="0"/>
          </a:p>
        </p:txBody>
      </p:sp>
      <p:sp>
        <p:nvSpPr>
          <p:cNvPr id="7" name="Text 5"/>
          <p:cNvSpPr txBox="1"/>
          <p:nvPr/>
        </p:nvSpPr>
        <p:spPr>
          <a:xfrm>
            <a:off x="1234440" y="1947672"/>
            <a:ext cx="6080760" cy="868680"/>
          </a:xfrm>
          <a:prstGeom prst="rect">
            <a:avLst/>
          </a:prstGeom>
          <a:noFill/>
          <a:ln/>
        </p:spPr>
        <p:txBody>
          <a:bodyPr wrap="square" lIns="0" tIns="0" rIns="0" bIns="0" rtlCol="0" anchor="t"/>
          <a:lstStyle/>
          <a:p>
            <a:pPr indent="0" marL="0">
              <a:lnSpc>
                <a:spcPct val="106000"/>
              </a:lnSpc>
              <a:buNone/>
            </a:pPr>
            <a:r>
              <a:rPr lang="en-US" sz="1400" b="1" dirty="0">
                <a:solidFill>
                  <a:srgbClr val="1B1E22"/>
                </a:solidFill>
                <a:latin typeface="Calibri" pitchFamily="34" charset="0"/>
                <a:ea typeface="Calibri" pitchFamily="34" charset="-122"/>
                <a:cs typeface="Calibri" pitchFamily="34" charset="-120"/>
              </a:rPr>
              <a:t>Build the graph   </a:t>
            </a:r>
            <a:pPr indent="0" marL="0">
              <a:lnSpc>
                <a:spcPct val="106000"/>
              </a:lnSpc>
              <a:buNone/>
            </a:pPr>
            <a:r>
              <a:rPr lang="en-US" sz="1400" dirty="0">
                <a:solidFill>
                  <a:srgbClr val="3A3F46"/>
                </a:solidFill>
                <a:latin typeface="Calibri" pitchFamily="34" charset="0"/>
                <a:ea typeface="Calibri" pitchFamily="34" charset="-122"/>
                <a:cs typeface="Calibri" pitchFamily="34" charset="-120"/>
              </a:rPr>
              <a:t>Parse the PDF with pikepdf into an object-reference graph (catalog, pages, actions, streams).</a:t>
            </a:r>
            <a:endParaRPr lang="en-US" sz="1400" dirty="0"/>
          </a:p>
        </p:txBody>
      </p:sp>
      <p:sp>
        <p:nvSpPr>
          <p:cNvPr id="8" name="Text 6"/>
          <p:cNvSpPr txBox="1"/>
          <p:nvPr/>
        </p:nvSpPr>
        <p:spPr>
          <a:xfrm>
            <a:off x="548640" y="2834640"/>
            <a:ext cx="640080" cy="457200"/>
          </a:xfrm>
          <a:prstGeom prst="rect">
            <a:avLst/>
          </a:prstGeom>
          <a:noFill/>
          <a:ln/>
        </p:spPr>
        <p:txBody>
          <a:bodyPr wrap="square" lIns="0" tIns="0" rIns="0" bIns="0" rtlCol="0" anchor="ctr"/>
          <a:lstStyle/>
          <a:p>
            <a:pPr indent="0" marL="0">
              <a:buNone/>
            </a:pPr>
            <a:r>
              <a:rPr lang="en-US" sz="1900" dirty="0">
                <a:solidFill>
                  <a:srgbClr val="2F8F82"/>
                </a:solidFill>
                <a:latin typeface="Arial Black" pitchFamily="34" charset="0"/>
                <a:ea typeface="Arial Black" pitchFamily="34" charset="-122"/>
                <a:cs typeface="Arial Black" pitchFamily="34" charset="-120"/>
              </a:rPr>
              <a:t>02</a:t>
            </a:r>
            <a:endParaRPr lang="en-US" sz="1900" dirty="0"/>
          </a:p>
        </p:txBody>
      </p:sp>
      <p:sp>
        <p:nvSpPr>
          <p:cNvPr id="9" name="Text 7"/>
          <p:cNvSpPr txBox="1"/>
          <p:nvPr/>
        </p:nvSpPr>
        <p:spPr>
          <a:xfrm>
            <a:off x="1234440" y="2816352"/>
            <a:ext cx="6080760" cy="868680"/>
          </a:xfrm>
          <a:prstGeom prst="rect">
            <a:avLst/>
          </a:prstGeom>
          <a:noFill/>
          <a:ln/>
        </p:spPr>
        <p:txBody>
          <a:bodyPr wrap="square" lIns="0" tIns="0" rIns="0" bIns="0" rtlCol="0" anchor="t"/>
          <a:lstStyle/>
          <a:p>
            <a:pPr indent="0" marL="0">
              <a:lnSpc>
                <a:spcPct val="106000"/>
              </a:lnSpc>
              <a:buNone/>
            </a:pPr>
            <a:r>
              <a:rPr lang="en-US" sz="1400" b="1" dirty="0">
                <a:solidFill>
                  <a:srgbClr val="1B1E22"/>
                </a:solidFill>
                <a:latin typeface="Calibri" pitchFamily="34" charset="0"/>
                <a:ea typeface="Calibri" pitchFamily="34" charset="-122"/>
                <a:cs typeface="Calibri" pitchFamily="34" charset="-120"/>
              </a:rPr>
              <a:t>Enumerate triggers   </a:t>
            </a:r>
            <a:pPr indent="0" marL="0">
              <a:lnSpc>
                <a:spcPct val="106000"/>
              </a:lnSpc>
              <a:buNone/>
            </a:pPr>
            <a:r>
              <a:rPr lang="en-US" sz="1400" dirty="0">
                <a:solidFill>
                  <a:srgbClr val="3A3F46"/>
                </a:solidFill>
                <a:latin typeface="Calibri" pitchFamily="34" charset="0"/>
                <a:ea typeface="Calibri" pitchFamily="34" charset="-122"/>
                <a:cs typeface="Calibri" pitchFamily="34" charset="-120"/>
              </a:rPr>
              <a:t>Find every auto/interaction entry point: /OpenAction, document &amp; page /AA, /Names/JavaScript, action chains.</a:t>
            </a:r>
            <a:endParaRPr lang="en-US" sz="1400" dirty="0"/>
          </a:p>
        </p:txBody>
      </p:sp>
      <p:sp>
        <p:nvSpPr>
          <p:cNvPr id="10" name="Text 8"/>
          <p:cNvSpPr txBox="1"/>
          <p:nvPr/>
        </p:nvSpPr>
        <p:spPr>
          <a:xfrm>
            <a:off x="548640" y="3703320"/>
            <a:ext cx="640080" cy="457200"/>
          </a:xfrm>
          <a:prstGeom prst="rect">
            <a:avLst/>
          </a:prstGeom>
          <a:noFill/>
          <a:ln/>
        </p:spPr>
        <p:txBody>
          <a:bodyPr wrap="square" lIns="0" tIns="0" rIns="0" bIns="0" rtlCol="0" anchor="ctr"/>
          <a:lstStyle/>
          <a:p>
            <a:pPr indent="0" marL="0">
              <a:buNone/>
            </a:pPr>
            <a:r>
              <a:rPr lang="en-US" sz="1900" dirty="0">
                <a:solidFill>
                  <a:srgbClr val="2F8F82"/>
                </a:solidFill>
                <a:latin typeface="Arial Black" pitchFamily="34" charset="0"/>
                <a:ea typeface="Arial Black" pitchFamily="34" charset="-122"/>
                <a:cs typeface="Arial Black" pitchFamily="34" charset="-120"/>
              </a:rPr>
              <a:t>03</a:t>
            </a:r>
            <a:endParaRPr lang="en-US" sz="1900" dirty="0"/>
          </a:p>
        </p:txBody>
      </p:sp>
      <p:sp>
        <p:nvSpPr>
          <p:cNvPr id="11" name="Text 9"/>
          <p:cNvSpPr txBox="1"/>
          <p:nvPr/>
        </p:nvSpPr>
        <p:spPr>
          <a:xfrm>
            <a:off x="1234440" y="3685032"/>
            <a:ext cx="6080760" cy="868680"/>
          </a:xfrm>
          <a:prstGeom prst="rect">
            <a:avLst/>
          </a:prstGeom>
          <a:noFill/>
          <a:ln/>
        </p:spPr>
        <p:txBody>
          <a:bodyPr wrap="square" lIns="0" tIns="0" rIns="0" bIns="0" rtlCol="0" anchor="t"/>
          <a:lstStyle/>
          <a:p>
            <a:pPr indent="0" marL="0">
              <a:lnSpc>
                <a:spcPct val="106000"/>
              </a:lnSpc>
              <a:buNone/>
            </a:pPr>
            <a:r>
              <a:rPr lang="en-US" sz="1400" b="1" dirty="0">
                <a:solidFill>
                  <a:srgbClr val="1B1E22"/>
                </a:solidFill>
                <a:latin typeface="Calibri" pitchFamily="34" charset="0"/>
                <a:ea typeface="Calibri" pitchFamily="34" charset="-122"/>
                <a:cs typeface="Calibri" pitchFamily="34" charset="-120"/>
              </a:rPr>
              <a:t>Bounded BFS   </a:t>
            </a:r>
            <a:pPr indent="0" marL="0">
              <a:lnSpc>
                <a:spcPct val="106000"/>
              </a:lnSpc>
              <a:buNone/>
            </a:pPr>
            <a:r>
              <a:rPr lang="en-US" sz="1400" dirty="0">
                <a:solidFill>
                  <a:srgbClr val="3A3F46"/>
                </a:solidFill>
                <a:latin typeface="Calibri" pitchFamily="34" charset="0"/>
                <a:ea typeface="Calibri" pitchFamily="34" charset="-122"/>
                <a:cs typeface="Calibri" pitchFamily="34" charset="-120"/>
              </a:rPr>
              <a:t>Shortest-path search from each trigger to a dangerous capability (JavaScript, Launch, EmbeddedFile, SubmitForm), capped at 12 hops.</a:t>
            </a:r>
            <a:endParaRPr lang="en-US" sz="1400" dirty="0"/>
          </a:p>
        </p:txBody>
      </p:sp>
      <p:sp>
        <p:nvSpPr>
          <p:cNvPr id="12" name="Text 10"/>
          <p:cNvSpPr txBox="1"/>
          <p:nvPr/>
        </p:nvSpPr>
        <p:spPr>
          <a:xfrm>
            <a:off x="548640" y="4572000"/>
            <a:ext cx="640080" cy="457200"/>
          </a:xfrm>
          <a:prstGeom prst="rect">
            <a:avLst/>
          </a:prstGeom>
          <a:noFill/>
          <a:ln/>
        </p:spPr>
        <p:txBody>
          <a:bodyPr wrap="square" lIns="0" tIns="0" rIns="0" bIns="0" rtlCol="0" anchor="ctr"/>
          <a:lstStyle/>
          <a:p>
            <a:pPr indent="0" marL="0">
              <a:buNone/>
            </a:pPr>
            <a:r>
              <a:rPr lang="en-US" sz="1900" dirty="0">
                <a:solidFill>
                  <a:srgbClr val="2F8F82"/>
                </a:solidFill>
                <a:latin typeface="Arial Black" pitchFamily="34" charset="0"/>
                <a:ea typeface="Arial Black" pitchFamily="34" charset="-122"/>
                <a:cs typeface="Arial Black" pitchFamily="34" charset="-120"/>
              </a:rPr>
              <a:t>04</a:t>
            </a:r>
            <a:endParaRPr lang="en-US" sz="1900" dirty="0"/>
          </a:p>
        </p:txBody>
      </p:sp>
      <p:sp>
        <p:nvSpPr>
          <p:cNvPr id="13" name="Text 11"/>
          <p:cNvSpPr txBox="1"/>
          <p:nvPr/>
        </p:nvSpPr>
        <p:spPr>
          <a:xfrm>
            <a:off x="1234440" y="4553712"/>
            <a:ext cx="6080760" cy="868680"/>
          </a:xfrm>
          <a:prstGeom prst="rect">
            <a:avLst/>
          </a:prstGeom>
          <a:noFill/>
          <a:ln/>
        </p:spPr>
        <p:txBody>
          <a:bodyPr wrap="square" lIns="0" tIns="0" rIns="0" bIns="0" rtlCol="0" anchor="t"/>
          <a:lstStyle/>
          <a:p>
            <a:pPr indent="0" marL="0">
              <a:lnSpc>
                <a:spcPct val="106000"/>
              </a:lnSpc>
              <a:buNone/>
            </a:pPr>
            <a:r>
              <a:rPr lang="en-US" sz="1400" b="1" dirty="0">
                <a:solidFill>
                  <a:srgbClr val="1B1E22"/>
                </a:solidFill>
                <a:latin typeface="Calibri" pitchFamily="34" charset="0"/>
                <a:ea typeface="Calibri" pitchFamily="34" charset="-122"/>
                <a:cs typeface="Calibri" pitchFamily="34" charset="-120"/>
              </a:rPr>
              <a:t>Classify   </a:t>
            </a:r>
            <a:pPr indent="0" marL="0">
              <a:lnSpc>
                <a:spcPct val="106000"/>
              </a:lnSpc>
              <a:buNone/>
            </a:pPr>
            <a:r>
              <a:rPr lang="en-US" sz="1400" dirty="0">
                <a:solidFill>
                  <a:srgbClr val="3A3F46"/>
                </a:solidFill>
                <a:latin typeface="Calibri" pitchFamily="34" charset="0"/>
                <a:ea typeface="Calibri" pitchFamily="34" charset="-122"/>
                <a:cs typeface="Calibri" pitchFamily="34" charset="-120"/>
              </a:rPr>
              <a:t>Assign a verdict by the strongest trigger class reaching a danger; record min-hops and the concealment state.</a:t>
            </a:r>
            <a:endParaRPr lang="en-US" sz="1400" dirty="0"/>
          </a:p>
        </p:txBody>
      </p:sp>
      <p:sp>
        <p:nvSpPr>
          <p:cNvPr id="14" name="Text 12"/>
          <p:cNvSpPr txBox="1"/>
          <p:nvPr/>
        </p:nvSpPr>
        <p:spPr>
          <a:xfrm>
            <a:off x="548640" y="5440680"/>
            <a:ext cx="640080" cy="457200"/>
          </a:xfrm>
          <a:prstGeom prst="rect">
            <a:avLst/>
          </a:prstGeom>
          <a:noFill/>
          <a:ln/>
        </p:spPr>
        <p:txBody>
          <a:bodyPr wrap="square" lIns="0" tIns="0" rIns="0" bIns="0" rtlCol="0" anchor="ctr"/>
          <a:lstStyle/>
          <a:p>
            <a:pPr indent="0" marL="0">
              <a:buNone/>
            </a:pPr>
            <a:r>
              <a:rPr lang="en-US" sz="1900" dirty="0">
                <a:solidFill>
                  <a:srgbClr val="2F8F82"/>
                </a:solidFill>
                <a:latin typeface="Arial Black" pitchFamily="34" charset="0"/>
                <a:ea typeface="Arial Black" pitchFamily="34" charset="-122"/>
                <a:cs typeface="Arial Black" pitchFamily="34" charset="-120"/>
              </a:rPr>
              <a:t>05</a:t>
            </a:r>
            <a:endParaRPr lang="en-US" sz="1900" dirty="0"/>
          </a:p>
        </p:txBody>
      </p:sp>
      <p:sp>
        <p:nvSpPr>
          <p:cNvPr id="15" name="Text 13"/>
          <p:cNvSpPr txBox="1"/>
          <p:nvPr/>
        </p:nvSpPr>
        <p:spPr>
          <a:xfrm>
            <a:off x="1234440" y="5422392"/>
            <a:ext cx="6080760" cy="868680"/>
          </a:xfrm>
          <a:prstGeom prst="rect">
            <a:avLst/>
          </a:prstGeom>
          <a:noFill/>
          <a:ln/>
        </p:spPr>
        <p:txBody>
          <a:bodyPr wrap="square" lIns="0" tIns="0" rIns="0" bIns="0" rtlCol="0" anchor="t"/>
          <a:lstStyle/>
          <a:p>
            <a:pPr indent="0" marL="0">
              <a:lnSpc>
                <a:spcPct val="106000"/>
              </a:lnSpc>
              <a:buNone/>
            </a:pPr>
            <a:r>
              <a:rPr lang="en-US" sz="1400" b="1" dirty="0">
                <a:solidFill>
                  <a:srgbClr val="1B1E22"/>
                </a:solidFill>
                <a:latin typeface="Calibri" pitchFamily="34" charset="0"/>
                <a:ea typeface="Calibri" pitchFamily="34" charset="-122"/>
                <a:cs typeface="Calibri" pitchFamily="34" charset="-120"/>
              </a:rPr>
              <a:t>Emit witness   </a:t>
            </a:r>
            <a:pPr indent="0" marL="0">
              <a:lnSpc>
                <a:spcPct val="106000"/>
              </a:lnSpc>
              <a:buNone/>
            </a:pPr>
            <a:r>
              <a:rPr lang="en-US" sz="1400" dirty="0">
                <a:solidFill>
                  <a:srgbClr val="3A3F46"/>
                </a:solidFill>
                <a:latin typeface="Calibri" pitchFamily="34" charset="0"/>
                <a:ea typeface="Calibri" pitchFamily="34" charset="-122"/>
                <a:cs typeface="Calibri" pitchFamily="34" charset="-120"/>
              </a:rPr>
              <a:t>Return the minimal catalog→danger path as a checkable certificate.</a:t>
            </a:r>
            <a:endParaRPr lang="en-US" sz="1400" dirty="0"/>
          </a:p>
        </p:txBody>
      </p:sp>
      <p:sp>
        <p:nvSpPr>
          <p:cNvPr id="16" name="Shape 14"/>
          <p:cNvSpPr/>
          <p:nvPr/>
        </p:nvSpPr>
        <p:spPr>
          <a:xfrm>
            <a:off x="8366760" y="1965960"/>
            <a:ext cx="3291840" cy="4206240"/>
          </a:xfrm>
          <a:prstGeom prst="roundRect">
            <a:avLst>
              <a:gd name="adj" fmla="val 1944"/>
            </a:avLst>
          </a:prstGeom>
          <a:solidFill>
            <a:srgbClr val="EEF0F2"/>
          </a:solidFill>
          <a:ln w="9525">
            <a:solidFill>
              <a:srgbClr val="CED2D8"/>
            </a:solidFill>
            <a:prstDash val="solid"/>
          </a:ln>
          <a:effectLst>
            <a:outerShdw sx="100000" sy="100000" kx="0" ky="0" algn="bl" rotWithShape="0" blurRad="101600" dist="38100" dir="5400000">
              <a:srgbClr val="9aa0a8">
                <a:alpha val="30000"/>
              </a:srgbClr>
            </a:outerShdw>
          </a:effectLst>
        </p:spPr>
      </p:sp>
      <p:sp>
        <p:nvSpPr>
          <p:cNvPr id="17" name="Text 15"/>
          <p:cNvSpPr txBox="1"/>
          <p:nvPr/>
        </p:nvSpPr>
        <p:spPr>
          <a:xfrm>
            <a:off x="8641080" y="2194560"/>
            <a:ext cx="2834640" cy="274320"/>
          </a:xfrm>
          <a:prstGeom prst="rect">
            <a:avLst/>
          </a:prstGeom>
          <a:noFill/>
          <a:ln/>
        </p:spPr>
        <p:txBody>
          <a:bodyPr wrap="square" lIns="0" tIns="0" rIns="0" bIns="0" rtlCol="0" anchor="ctr"/>
          <a:lstStyle/>
          <a:p>
            <a:pPr indent="0" marL="0">
              <a:buNone/>
            </a:pPr>
            <a:r>
              <a:rPr lang="en-US" sz="1100" b="1" spc="300" kern="0" dirty="0">
                <a:solidFill>
                  <a:srgbClr val="6B7178"/>
                </a:solidFill>
                <a:latin typeface="Calibri" pitchFamily="34" charset="0"/>
                <a:ea typeface="Calibri" pitchFamily="34" charset="-122"/>
                <a:cs typeface="Calibri" pitchFamily="34" charset="-120"/>
              </a:rPr>
              <a:t>DETERMINISTIC</a:t>
            </a:r>
            <a:endParaRPr lang="en-US" sz="1100" dirty="0"/>
          </a:p>
        </p:txBody>
      </p:sp>
      <p:sp>
        <p:nvSpPr>
          <p:cNvPr id="18" name="Text 16"/>
          <p:cNvSpPr txBox="1"/>
          <p:nvPr/>
        </p:nvSpPr>
        <p:spPr>
          <a:xfrm>
            <a:off x="8641080" y="2560320"/>
            <a:ext cx="2788920" cy="3383280"/>
          </a:xfrm>
          <a:prstGeom prst="rect">
            <a:avLst/>
          </a:prstGeom>
          <a:noFill/>
          <a:ln/>
        </p:spPr>
        <p:txBody>
          <a:bodyPr wrap="square" lIns="0" tIns="0" rIns="0" bIns="0" rtlCol="0" anchor="t"/>
          <a:lstStyle/>
          <a:p>
            <a:pPr indent="0" marL="0">
              <a:lnSpc>
                <a:spcPct val="118000"/>
              </a:lnSpc>
              <a:buNone/>
            </a:pPr>
            <a:r>
              <a:rPr lang="en-US" sz="1400" dirty="0">
                <a:solidFill>
                  <a:srgbClr val="3A3F46"/>
                </a:solidFill>
                <a:latin typeface="Calibri" pitchFamily="34" charset="0"/>
                <a:ea typeface="Calibri" pitchFamily="34" charset="-122"/>
                <a:cs typeface="Calibri" pitchFamily="34" charset="-120"/>
              </a:rPr>
              <a:t>No training, no randomness. The same file always yields the same verdict and the same witness path — ~1.2 ms per document.</a:t>
            </a:r>
            <a:endParaRPr lang="en-US" sz="1400" dirty="0"/>
          </a:p>
        </p:txBody>
      </p:sp>
      <p:sp>
        <p:nvSpPr>
          <p:cNvPr id="19" name="Text 17"/>
          <p:cNvSpPr txBox="1"/>
          <p:nvPr/>
        </p:nvSpPr>
        <p:spPr>
          <a:xfrm>
            <a:off x="502920" y="6528816"/>
            <a:ext cx="6400800" cy="237744"/>
          </a:xfrm>
          <a:prstGeom prst="rect">
            <a:avLst/>
          </a:prstGeom>
          <a:noFill/>
          <a:ln/>
        </p:spPr>
        <p:txBody>
          <a:bodyPr wrap="square" lIns="0" tIns="0" rIns="0" bIns="0" rtlCol="0" anchor="ctr"/>
          <a:lstStyle/>
          <a:p>
            <a:pPr indent="0" marL="0">
              <a:buNone/>
            </a:pPr>
            <a:r>
              <a:rPr lang="en-US" sz="850" spc="150" kern="0" dirty="0">
                <a:solidFill>
                  <a:srgbClr val="9AA0A8"/>
                </a:solidFill>
                <a:latin typeface="Calibri" pitchFamily="34" charset="0"/>
                <a:ea typeface="Calibri" pitchFamily="34" charset="-122"/>
                <a:cs typeface="Calibri" pitchFamily="34" charset="-120"/>
              </a:rPr>
              <a:t>PDFSentry · Reachability over Recognition</a:t>
            </a:r>
            <a:endParaRPr lang="en-US" sz="850" dirty="0"/>
          </a:p>
        </p:txBody>
      </p:sp>
      <p:sp>
        <p:nvSpPr>
          <p:cNvPr id="20" name="Text 18"/>
          <p:cNvSpPr txBox="1"/>
          <p:nvPr/>
        </p:nvSpPr>
        <p:spPr>
          <a:xfrm>
            <a:off x="11323015" y="6510528"/>
            <a:ext cx="457200" cy="256032"/>
          </a:xfrm>
          <a:prstGeom prst="rect">
            <a:avLst/>
          </a:prstGeom>
          <a:noFill/>
          <a:ln/>
        </p:spPr>
        <p:txBody>
          <a:bodyPr wrap="square" lIns="0" tIns="0" rIns="0" bIns="0" rtlCol="0" anchor="ctr"/>
          <a:lstStyle/>
          <a:p>
            <a:pPr algn="r" indent="0" marL="0">
              <a:buNone/>
            </a:pPr>
            <a:r>
              <a:rPr lang="en-US" sz="950" b="1" dirty="0">
                <a:solidFill>
                  <a:srgbClr val="6B7178"/>
                </a:solidFill>
                <a:latin typeface="Calibri" pitchFamily="34" charset="0"/>
                <a:ea typeface="Calibri" pitchFamily="34" charset="-122"/>
                <a:cs typeface="Calibri" pitchFamily="34" charset="-120"/>
              </a:rPr>
              <a:t>06</a:t>
            </a:r>
            <a:endParaRPr lang="en-US" sz="9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502920" y="292608"/>
            <a:ext cx="4572000" cy="274320"/>
          </a:xfrm>
          <a:prstGeom prst="rect">
            <a:avLst/>
          </a:prstGeom>
          <a:noFill/>
          <a:ln/>
        </p:spPr>
        <p:txBody>
          <a:bodyPr wrap="square" lIns="0" tIns="0" rIns="0" bIns="0" rtlCol="0" anchor="ctr"/>
          <a:lstStyle/>
          <a:p>
            <a:pPr indent="0" marL="0">
              <a:buNone/>
            </a:pPr>
            <a:r>
              <a:rPr lang="en-US" sz="1100" b="1" spc="400" kern="0" dirty="0">
                <a:solidFill>
                  <a:srgbClr val="6B7178"/>
                </a:solidFill>
                <a:latin typeface="Calibri" pitchFamily="34" charset="0"/>
                <a:ea typeface="Calibri" pitchFamily="34" charset="-122"/>
                <a:cs typeface="Calibri" pitchFamily="34" charset="-120"/>
              </a:rPr>
              <a:t>PDFSENTRY</a:t>
            </a:r>
            <a:endParaRPr lang="en-US" sz="1100" dirty="0"/>
          </a:p>
        </p:txBody>
      </p:sp>
      <p:sp>
        <p:nvSpPr>
          <p:cNvPr id="3" name="Text 1"/>
          <p:cNvSpPr txBox="1"/>
          <p:nvPr/>
        </p:nvSpPr>
        <p:spPr>
          <a:xfrm>
            <a:off x="6659575" y="292608"/>
            <a:ext cx="5029200" cy="274320"/>
          </a:xfrm>
          <a:prstGeom prst="rect">
            <a:avLst/>
          </a:prstGeom>
          <a:noFill/>
          <a:ln/>
        </p:spPr>
        <p:txBody>
          <a:bodyPr wrap="square" lIns="0" tIns="0" rIns="0" bIns="0" rtlCol="0" anchor="ctr"/>
          <a:lstStyle/>
          <a:p>
            <a:pPr algn="r" indent="0" marL="0">
              <a:buNone/>
            </a:pPr>
            <a:r>
              <a:rPr lang="en-US" sz="1100" spc="300" kern="0" dirty="0">
                <a:solidFill>
                  <a:srgbClr val="6B7178"/>
                </a:solidFill>
                <a:latin typeface="Calibri" pitchFamily="34" charset="0"/>
                <a:ea typeface="Calibri" pitchFamily="34" charset="-122"/>
                <a:cs typeface="Calibri" pitchFamily="34" charset="-120"/>
              </a:rPr>
              <a:t>REVIEW 3 · FINAL</a:t>
            </a:r>
            <a:endParaRPr lang="en-US" sz="1100" dirty="0"/>
          </a:p>
        </p:txBody>
      </p:sp>
      <p:sp>
        <p:nvSpPr>
          <p:cNvPr id="4" name="Text 2"/>
          <p:cNvSpPr txBox="1"/>
          <p:nvPr/>
        </p:nvSpPr>
        <p:spPr>
          <a:xfrm>
            <a:off x="512064" y="786384"/>
            <a:ext cx="10058400" cy="256032"/>
          </a:xfrm>
          <a:prstGeom prst="rect">
            <a:avLst/>
          </a:prstGeom>
          <a:noFill/>
          <a:ln/>
        </p:spPr>
        <p:txBody>
          <a:bodyPr wrap="square" lIns="0" tIns="0" rIns="0" bIns="0" rtlCol="0" anchor="ctr"/>
          <a:lstStyle/>
          <a:p>
            <a:pPr indent="0" marL="0">
              <a:buNone/>
            </a:pPr>
            <a:r>
              <a:rPr lang="en-US" sz="1100" b="1" spc="400" kern="0" dirty="0">
                <a:solidFill>
                  <a:srgbClr val="2F8F82"/>
                </a:solidFill>
                <a:latin typeface="Calibri" pitchFamily="34" charset="0"/>
                <a:ea typeface="Calibri" pitchFamily="34" charset="-122"/>
                <a:cs typeface="Calibri" pitchFamily="34" charset="-120"/>
              </a:rPr>
              <a:t>06 · TAXONOMY</a:t>
            </a:r>
            <a:endParaRPr lang="en-US" sz="1100" dirty="0"/>
          </a:p>
        </p:txBody>
      </p:sp>
      <p:sp>
        <p:nvSpPr>
          <p:cNvPr id="5" name="Text 3"/>
          <p:cNvSpPr txBox="1"/>
          <p:nvPr/>
        </p:nvSpPr>
        <p:spPr>
          <a:xfrm>
            <a:off x="502920" y="1078992"/>
            <a:ext cx="11155680" cy="731520"/>
          </a:xfrm>
          <a:prstGeom prst="rect">
            <a:avLst/>
          </a:prstGeom>
          <a:noFill/>
          <a:ln/>
        </p:spPr>
        <p:txBody>
          <a:bodyPr wrap="square" lIns="0" tIns="0" rIns="0" bIns="0" rtlCol="0" anchor="ctr"/>
          <a:lstStyle/>
          <a:p>
            <a:pPr indent="0" marL="0">
              <a:buNone/>
            </a:pPr>
            <a:r>
              <a:rPr lang="en-US" sz="3200" dirty="0">
                <a:solidFill>
                  <a:srgbClr val="1B1E22"/>
                </a:solidFill>
                <a:latin typeface="Arial Black" pitchFamily="34" charset="0"/>
                <a:ea typeface="Arial Black" pitchFamily="34" charset="-122"/>
                <a:cs typeface="Arial Black" pitchFamily="34" charset="-120"/>
              </a:rPr>
              <a:t>Reachability verdict taxonomy</a:t>
            </a:r>
            <a:endParaRPr lang="en-US" sz="3200" dirty="0"/>
          </a:p>
        </p:txBody>
      </p:sp>
      <p:sp>
        <p:nvSpPr>
          <p:cNvPr id="6" name="Text 4"/>
          <p:cNvSpPr txBox="1"/>
          <p:nvPr/>
        </p:nvSpPr>
        <p:spPr>
          <a:xfrm>
            <a:off x="548640" y="1965960"/>
            <a:ext cx="640080" cy="457200"/>
          </a:xfrm>
          <a:prstGeom prst="rect">
            <a:avLst/>
          </a:prstGeom>
          <a:noFill/>
          <a:ln/>
        </p:spPr>
        <p:txBody>
          <a:bodyPr wrap="square" lIns="0" tIns="0" rIns="0" bIns="0" rtlCol="0" anchor="ctr"/>
          <a:lstStyle/>
          <a:p>
            <a:pPr indent="0" marL="0">
              <a:buNone/>
            </a:pPr>
            <a:r>
              <a:rPr lang="en-US" sz="1900" dirty="0">
                <a:solidFill>
                  <a:srgbClr val="2F8F82"/>
                </a:solidFill>
                <a:latin typeface="Arial Black" pitchFamily="34" charset="0"/>
                <a:ea typeface="Arial Black" pitchFamily="34" charset="-122"/>
                <a:cs typeface="Arial Black" pitchFamily="34" charset="-120"/>
              </a:rPr>
              <a:t>01</a:t>
            </a:r>
            <a:endParaRPr lang="en-US" sz="1900" dirty="0"/>
          </a:p>
        </p:txBody>
      </p:sp>
      <p:sp>
        <p:nvSpPr>
          <p:cNvPr id="7" name="Text 5"/>
          <p:cNvSpPr txBox="1"/>
          <p:nvPr/>
        </p:nvSpPr>
        <p:spPr>
          <a:xfrm>
            <a:off x="1234440" y="1947672"/>
            <a:ext cx="6080760" cy="868680"/>
          </a:xfrm>
          <a:prstGeom prst="rect">
            <a:avLst/>
          </a:prstGeom>
          <a:noFill/>
          <a:ln/>
        </p:spPr>
        <p:txBody>
          <a:bodyPr wrap="square" lIns="0" tIns="0" rIns="0" bIns="0" rtlCol="0" anchor="t"/>
          <a:lstStyle/>
          <a:p>
            <a:pPr indent="0" marL="0">
              <a:lnSpc>
                <a:spcPct val="106000"/>
              </a:lnSpc>
              <a:buNone/>
            </a:pPr>
            <a:r>
              <a:rPr lang="en-US" sz="1500" b="1" dirty="0">
                <a:solidFill>
                  <a:srgbClr val="1B1E22"/>
                </a:solidFill>
                <a:latin typeface="Calibri" pitchFamily="34" charset="0"/>
                <a:ea typeface="Calibri" pitchFamily="34" charset="-122"/>
                <a:cs typeface="Calibri" pitchFamily="34" charset="-120"/>
              </a:rPr>
              <a:t>ABSENT   </a:t>
            </a:r>
            <a:pPr indent="0" marL="0">
              <a:lnSpc>
                <a:spcPct val="106000"/>
              </a:lnSpc>
              <a:buNone/>
            </a:pPr>
            <a:r>
              <a:rPr lang="en-US" sz="1500" dirty="0">
                <a:solidFill>
                  <a:srgbClr val="3A3F46"/>
                </a:solidFill>
                <a:latin typeface="Calibri" pitchFamily="34" charset="0"/>
                <a:ea typeface="Calibri" pitchFamily="34" charset="-122"/>
                <a:cs typeface="Calibri" pitchFamily="34" charset="-120"/>
              </a:rPr>
              <a:t>No dangerous capability present in the document at all.</a:t>
            </a:r>
            <a:endParaRPr lang="en-US" sz="1500" dirty="0"/>
          </a:p>
        </p:txBody>
      </p:sp>
      <p:sp>
        <p:nvSpPr>
          <p:cNvPr id="8" name="Text 6"/>
          <p:cNvSpPr txBox="1"/>
          <p:nvPr/>
        </p:nvSpPr>
        <p:spPr>
          <a:xfrm>
            <a:off x="548640" y="2834640"/>
            <a:ext cx="640080" cy="457200"/>
          </a:xfrm>
          <a:prstGeom prst="rect">
            <a:avLst/>
          </a:prstGeom>
          <a:noFill/>
          <a:ln/>
        </p:spPr>
        <p:txBody>
          <a:bodyPr wrap="square" lIns="0" tIns="0" rIns="0" bIns="0" rtlCol="0" anchor="ctr"/>
          <a:lstStyle/>
          <a:p>
            <a:pPr indent="0" marL="0">
              <a:buNone/>
            </a:pPr>
            <a:r>
              <a:rPr lang="en-US" sz="1900" dirty="0">
                <a:solidFill>
                  <a:srgbClr val="2F8F82"/>
                </a:solidFill>
                <a:latin typeface="Arial Black" pitchFamily="34" charset="0"/>
                <a:ea typeface="Arial Black" pitchFamily="34" charset="-122"/>
                <a:cs typeface="Arial Black" pitchFamily="34" charset="-120"/>
              </a:rPr>
              <a:t>02</a:t>
            </a:r>
            <a:endParaRPr lang="en-US" sz="1900" dirty="0"/>
          </a:p>
        </p:txBody>
      </p:sp>
      <p:sp>
        <p:nvSpPr>
          <p:cNvPr id="9" name="Text 7"/>
          <p:cNvSpPr txBox="1"/>
          <p:nvPr/>
        </p:nvSpPr>
        <p:spPr>
          <a:xfrm>
            <a:off x="1234440" y="2816352"/>
            <a:ext cx="6080760" cy="868680"/>
          </a:xfrm>
          <a:prstGeom prst="rect">
            <a:avLst/>
          </a:prstGeom>
          <a:noFill/>
          <a:ln/>
        </p:spPr>
        <p:txBody>
          <a:bodyPr wrap="square" lIns="0" tIns="0" rIns="0" bIns="0" rtlCol="0" anchor="t"/>
          <a:lstStyle/>
          <a:p>
            <a:pPr indent="0" marL="0">
              <a:lnSpc>
                <a:spcPct val="106000"/>
              </a:lnSpc>
              <a:buNone/>
            </a:pPr>
            <a:r>
              <a:rPr lang="en-US" sz="1500" b="1" dirty="0">
                <a:solidFill>
                  <a:srgbClr val="1B1E22"/>
                </a:solidFill>
                <a:latin typeface="Calibri" pitchFamily="34" charset="0"/>
                <a:ea typeface="Calibri" pitchFamily="34" charset="-122"/>
                <a:cs typeface="Calibri" pitchFamily="34" charset="-120"/>
              </a:rPr>
              <a:t>PRESENT_DORMANT   </a:t>
            </a:r>
            <a:pPr indent="0" marL="0">
              <a:lnSpc>
                <a:spcPct val="106000"/>
              </a:lnSpc>
              <a:buNone/>
            </a:pPr>
            <a:r>
              <a:rPr lang="en-US" sz="1500" dirty="0">
                <a:solidFill>
                  <a:srgbClr val="3A3F46"/>
                </a:solidFill>
                <a:latin typeface="Calibri" pitchFamily="34" charset="0"/>
                <a:ea typeface="Calibri" pitchFamily="34" charset="-122"/>
                <a:cs typeface="Calibri" pitchFamily="34" charset="-120"/>
              </a:rPr>
              <a:t>A dangerous capability exists but no trigger can reach it — inert.</a:t>
            </a:r>
            <a:endParaRPr lang="en-US" sz="1500" dirty="0"/>
          </a:p>
        </p:txBody>
      </p:sp>
      <p:sp>
        <p:nvSpPr>
          <p:cNvPr id="10" name="Text 8"/>
          <p:cNvSpPr txBox="1"/>
          <p:nvPr/>
        </p:nvSpPr>
        <p:spPr>
          <a:xfrm>
            <a:off x="548640" y="3703320"/>
            <a:ext cx="640080" cy="457200"/>
          </a:xfrm>
          <a:prstGeom prst="rect">
            <a:avLst/>
          </a:prstGeom>
          <a:noFill/>
          <a:ln/>
        </p:spPr>
        <p:txBody>
          <a:bodyPr wrap="square" lIns="0" tIns="0" rIns="0" bIns="0" rtlCol="0" anchor="ctr"/>
          <a:lstStyle/>
          <a:p>
            <a:pPr indent="0" marL="0">
              <a:buNone/>
            </a:pPr>
            <a:r>
              <a:rPr lang="en-US" sz="1900" dirty="0">
                <a:solidFill>
                  <a:srgbClr val="2F8F82"/>
                </a:solidFill>
                <a:latin typeface="Arial Black" pitchFamily="34" charset="0"/>
                <a:ea typeface="Arial Black" pitchFamily="34" charset="-122"/>
                <a:cs typeface="Arial Black" pitchFamily="34" charset="-120"/>
              </a:rPr>
              <a:t>03</a:t>
            </a:r>
            <a:endParaRPr lang="en-US" sz="1900" dirty="0"/>
          </a:p>
        </p:txBody>
      </p:sp>
      <p:sp>
        <p:nvSpPr>
          <p:cNvPr id="11" name="Text 9"/>
          <p:cNvSpPr txBox="1"/>
          <p:nvPr/>
        </p:nvSpPr>
        <p:spPr>
          <a:xfrm>
            <a:off x="1234440" y="3685032"/>
            <a:ext cx="6080760" cy="868680"/>
          </a:xfrm>
          <a:prstGeom prst="rect">
            <a:avLst/>
          </a:prstGeom>
          <a:noFill/>
          <a:ln/>
        </p:spPr>
        <p:txBody>
          <a:bodyPr wrap="square" lIns="0" tIns="0" rIns="0" bIns="0" rtlCol="0" anchor="t"/>
          <a:lstStyle/>
          <a:p>
            <a:pPr indent="0" marL="0">
              <a:lnSpc>
                <a:spcPct val="106000"/>
              </a:lnSpc>
              <a:buNone/>
            </a:pPr>
            <a:r>
              <a:rPr lang="en-US" sz="1500" b="1" dirty="0">
                <a:solidFill>
                  <a:srgbClr val="1B1E22"/>
                </a:solidFill>
                <a:latin typeface="Calibri" pitchFamily="34" charset="0"/>
                <a:ea typeface="Calibri" pitchFamily="34" charset="-122"/>
                <a:cs typeface="Calibri" pitchFamily="34" charset="-120"/>
              </a:rPr>
              <a:t>ACTIVE_ONINTERACT   </a:t>
            </a:r>
            <a:pPr indent="0" marL="0">
              <a:lnSpc>
                <a:spcPct val="106000"/>
              </a:lnSpc>
              <a:buNone/>
            </a:pPr>
            <a:r>
              <a:rPr lang="en-US" sz="1500" dirty="0">
                <a:solidFill>
                  <a:srgbClr val="3A3F46"/>
                </a:solidFill>
                <a:latin typeface="Calibri" pitchFamily="34" charset="0"/>
                <a:ea typeface="Calibri" pitchFamily="34" charset="-122"/>
                <a:cs typeface="Calibri" pitchFamily="34" charset="-120"/>
              </a:rPr>
              <a:t>Reachable only on user interaction (e.g. a clickable link) — a capability, not an auto-threat.</a:t>
            </a:r>
            <a:endParaRPr lang="en-US" sz="1500" dirty="0"/>
          </a:p>
        </p:txBody>
      </p:sp>
      <p:sp>
        <p:nvSpPr>
          <p:cNvPr id="12" name="Text 10"/>
          <p:cNvSpPr txBox="1"/>
          <p:nvPr/>
        </p:nvSpPr>
        <p:spPr>
          <a:xfrm>
            <a:off x="548640" y="4572000"/>
            <a:ext cx="640080" cy="457200"/>
          </a:xfrm>
          <a:prstGeom prst="rect">
            <a:avLst/>
          </a:prstGeom>
          <a:noFill/>
          <a:ln/>
        </p:spPr>
        <p:txBody>
          <a:bodyPr wrap="square" lIns="0" tIns="0" rIns="0" bIns="0" rtlCol="0" anchor="ctr"/>
          <a:lstStyle/>
          <a:p>
            <a:pPr indent="0" marL="0">
              <a:buNone/>
            </a:pPr>
            <a:r>
              <a:rPr lang="en-US" sz="1900" dirty="0">
                <a:solidFill>
                  <a:srgbClr val="2F8F82"/>
                </a:solidFill>
                <a:latin typeface="Arial Black" pitchFamily="34" charset="0"/>
                <a:ea typeface="Arial Black" pitchFamily="34" charset="-122"/>
                <a:cs typeface="Arial Black" pitchFamily="34" charset="-120"/>
              </a:rPr>
              <a:t>04</a:t>
            </a:r>
            <a:endParaRPr lang="en-US" sz="1900" dirty="0"/>
          </a:p>
        </p:txBody>
      </p:sp>
      <p:sp>
        <p:nvSpPr>
          <p:cNvPr id="13" name="Text 11"/>
          <p:cNvSpPr txBox="1"/>
          <p:nvPr/>
        </p:nvSpPr>
        <p:spPr>
          <a:xfrm>
            <a:off x="1234440" y="4553712"/>
            <a:ext cx="6080760" cy="868680"/>
          </a:xfrm>
          <a:prstGeom prst="rect">
            <a:avLst/>
          </a:prstGeom>
          <a:noFill/>
          <a:ln/>
        </p:spPr>
        <p:txBody>
          <a:bodyPr wrap="square" lIns="0" tIns="0" rIns="0" bIns="0" rtlCol="0" anchor="t"/>
          <a:lstStyle/>
          <a:p>
            <a:pPr indent="0" marL="0">
              <a:lnSpc>
                <a:spcPct val="106000"/>
              </a:lnSpc>
              <a:buNone/>
            </a:pPr>
            <a:r>
              <a:rPr lang="en-US" sz="1500" b="1" dirty="0">
                <a:solidFill>
                  <a:srgbClr val="1B1E22"/>
                </a:solidFill>
                <a:latin typeface="Calibri" pitchFamily="34" charset="0"/>
                <a:ea typeface="Calibri" pitchFamily="34" charset="-122"/>
                <a:cs typeface="Calibri" pitchFamily="34" charset="-120"/>
              </a:rPr>
              <a:t>ACTIVE_ONOPEN   </a:t>
            </a:r>
            <a:pPr indent="0" marL="0">
              <a:lnSpc>
                <a:spcPct val="106000"/>
              </a:lnSpc>
              <a:buNone/>
            </a:pPr>
            <a:r>
              <a:rPr lang="en-US" sz="1500" dirty="0">
                <a:solidFill>
                  <a:srgbClr val="3A3F46"/>
                </a:solidFill>
                <a:latin typeface="Calibri" pitchFamily="34" charset="0"/>
                <a:ea typeface="Calibri" pitchFamily="34" charset="-122"/>
                <a:cs typeface="Calibri" pitchFamily="34" charset="-120"/>
              </a:rPr>
              <a:t>A dangerous action auto-fires on open — the threat class we are built to catch.</a:t>
            </a:r>
            <a:endParaRPr lang="en-US" sz="1500" dirty="0"/>
          </a:p>
        </p:txBody>
      </p:sp>
      <p:sp>
        <p:nvSpPr>
          <p:cNvPr id="14" name="Shape 12"/>
          <p:cNvSpPr/>
          <p:nvPr/>
        </p:nvSpPr>
        <p:spPr>
          <a:xfrm>
            <a:off x="8366760" y="1965960"/>
            <a:ext cx="3291840" cy="4206240"/>
          </a:xfrm>
          <a:prstGeom prst="roundRect">
            <a:avLst>
              <a:gd name="adj" fmla="val 1944"/>
            </a:avLst>
          </a:prstGeom>
          <a:solidFill>
            <a:srgbClr val="EEF0F2"/>
          </a:solidFill>
          <a:ln w="9525">
            <a:solidFill>
              <a:srgbClr val="CED2D8"/>
            </a:solidFill>
            <a:prstDash val="solid"/>
          </a:ln>
          <a:effectLst>
            <a:outerShdw sx="100000" sy="100000" kx="0" ky="0" algn="bl" rotWithShape="0" blurRad="101600" dist="38100" dir="5400000">
              <a:srgbClr val="9aa0a8">
                <a:alpha val="30000"/>
              </a:srgbClr>
            </a:outerShdw>
          </a:effectLst>
        </p:spPr>
      </p:sp>
      <p:sp>
        <p:nvSpPr>
          <p:cNvPr id="15" name="Text 13"/>
          <p:cNvSpPr txBox="1"/>
          <p:nvPr/>
        </p:nvSpPr>
        <p:spPr>
          <a:xfrm>
            <a:off x="8641080" y="2194560"/>
            <a:ext cx="2834640" cy="274320"/>
          </a:xfrm>
          <a:prstGeom prst="rect">
            <a:avLst/>
          </a:prstGeom>
          <a:noFill/>
          <a:ln/>
        </p:spPr>
        <p:txBody>
          <a:bodyPr wrap="square" lIns="0" tIns="0" rIns="0" bIns="0" rtlCol="0" anchor="ctr"/>
          <a:lstStyle/>
          <a:p>
            <a:pPr indent="0" marL="0">
              <a:buNone/>
            </a:pPr>
            <a:r>
              <a:rPr lang="en-US" sz="1100" b="1" spc="300" kern="0" dirty="0">
                <a:solidFill>
                  <a:srgbClr val="6B7178"/>
                </a:solidFill>
                <a:latin typeface="Calibri" pitchFamily="34" charset="0"/>
                <a:ea typeface="Calibri" pitchFamily="34" charset="-122"/>
                <a:cs typeface="Calibri" pitchFamily="34" charset="-120"/>
              </a:rPr>
              <a:t>CAPABILITY ≠ INTENT</a:t>
            </a:r>
            <a:endParaRPr lang="en-US" sz="1100" dirty="0"/>
          </a:p>
        </p:txBody>
      </p:sp>
      <p:sp>
        <p:nvSpPr>
          <p:cNvPr id="16" name="Text 14"/>
          <p:cNvSpPr txBox="1"/>
          <p:nvPr/>
        </p:nvSpPr>
        <p:spPr>
          <a:xfrm>
            <a:off x="8641080" y="2560320"/>
            <a:ext cx="2788920" cy="3383280"/>
          </a:xfrm>
          <a:prstGeom prst="rect">
            <a:avLst/>
          </a:prstGeom>
          <a:noFill/>
          <a:ln/>
        </p:spPr>
        <p:txBody>
          <a:bodyPr wrap="square" lIns="0" tIns="0" rIns="0" bIns="0" rtlCol="0" anchor="t"/>
          <a:lstStyle/>
          <a:p>
            <a:pPr indent="0" marL="0">
              <a:lnSpc>
                <a:spcPct val="118000"/>
              </a:lnSpc>
              <a:buNone/>
            </a:pPr>
            <a:r>
              <a:rPr lang="en-US" sz="1400" dirty="0">
                <a:solidFill>
                  <a:srgbClr val="3A3F46"/>
                </a:solidFill>
                <a:latin typeface="Calibri" pitchFamily="34" charset="0"/>
                <a:ea typeface="Calibri" pitchFamily="34" charset="-122"/>
                <a:cs typeface="Calibri" pitchFamily="34" charset="-120"/>
              </a:rPr>
              <a:t>The four states let us separate a benign clickable link from a weaponised auto-run payload — and say precisely which one we found.</a:t>
            </a:r>
            <a:endParaRPr lang="en-US" sz="1400" dirty="0"/>
          </a:p>
        </p:txBody>
      </p:sp>
      <p:sp>
        <p:nvSpPr>
          <p:cNvPr id="17" name="Text 15"/>
          <p:cNvSpPr txBox="1"/>
          <p:nvPr/>
        </p:nvSpPr>
        <p:spPr>
          <a:xfrm>
            <a:off x="502920" y="6528816"/>
            <a:ext cx="6400800" cy="237744"/>
          </a:xfrm>
          <a:prstGeom prst="rect">
            <a:avLst/>
          </a:prstGeom>
          <a:noFill/>
          <a:ln/>
        </p:spPr>
        <p:txBody>
          <a:bodyPr wrap="square" lIns="0" tIns="0" rIns="0" bIns="0" rtlCol="0" anchor="ctr"/>
          <a:lstStyle/>
          <a:p>
            <a:pPr indent="0" marL="0">
              <a:buNone/>
            </a:pPr>
            <a:r>
              <a:rPr lang="en-US" sz="850" spc="150" kern="0" dirty="0">
                <a:solidFill>
                  <a:srgbClr val="9AA0A8"/>
                </a:solidFill>
                <a:latin typeface="Calibri" pitchFamily="34" charset="0"/>
                <a:ea typeface="Calibri" pitchFamily="34" charset="-122"/>
                <a:cs typeface="Calibri" pitchFamily="34" charset="-120"/>
              </a:rPr>
              <a:t>PDFSentry · Reachability over Recognition</a:t>
            </a:r>
            <a:endParaRPr lang="en-US" sz="850" dirty="0"/>
          </a:p>
        </p:txBody>
      </p:sp>
      <p:sp>
        <p:nvSpPr>
          <p:cNvPr id="18" name="Text 16"/>
          <p:cNvSpPr txBox="1"/>
          <p:nvPr/>
        </p:nvSpPr>
        <p:spPr>
          <a:xfrm>
            <a:off x="11323015" y="6510528"/>
            <a:ext cx="457200" cy="256032"/>
          </a:xfrm>
          <a:prstGeom prst="rect">
            <a:avLst/>
          </a:prstGeom>
          <a:noFill/>
          <a:ln/>
        </p:spPr>
        <p:txBody>
          <a:bodyPr wrap="square" lIns="0" tIns="0" rIns="0" bIns="0" rtlCol="0" anchor="ctr"/>
          <a:lstStyle/>
          <a:p>
            <a:pPr algn="r" indent="0" marL="0">
              <a:buNone/>
            </a:pPr>
            <a:r>
              <a:rPr lang="en-US" sz="950" b="1" dirty="0">
                <a:solidFill>
                  <a:srgbClr val="6B7178"/>
                </a:solidFill>
                <a:latin typeface="Calibri" pitchFamily="34" charset="0"/>
                <a:ea typeface="Calibri" pitchFamily="34" charset="-122"/>
                <a:cs typeface="Calibri" pitchFamily="34" charset="-120"/>
              </a:rPr>
              <a:t>07</a:t>
            </a:r>
            <a:endParaRPr lang="en-US" sz="9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502920" y="292608"/>
            <a:ext cx="4572000" cy="274320"/>
          </a:xfrm>
          <a:prstGeom prst="rect">
            <a:avLst/>
          </a:prstGeom>
          <a:noFill/>
          <a:ln/>
        </p:spPr>
        <p:txBody>
          <a:bodyPr wrap="square" lIns="0" tIns="0" rIns="0" bIns="0" rtlCol="0" anchor="ctr"/>
          <a:lstStyle/>
          <a:p>
            <a:pPr indent="0" marL="0">
              <a:buNone/>
            </a:pPr>
            <a:r>
              <a:rPr lang="en-US" sz="1100" b="1" spc="400" kern="0" dirty="0">
                <a:solidFill>
                  <a:srgbClr val="6B7178"/>
                </a:solidFill>
                <a:latin typeface="Calibri" pitchFamily="34" charset="0"/>
                <a:ea typeface="Calibri" pitchFamily="34" charset="-122"/>
                <a:cs typeface="Calibri" pitchFamily="34" charset="-120"/>
              </a:rPr>
              <a:t>PDFSENTRY</a:t>
            </a:r>
            <a:endParaRPr lang="en-US" sz="1100" dirty="0"/>
          </a:p>
        </p:txBody>
      </p:sp>
      <p:sp>
        <p:nvSpPr>
          <p:cNvPr id="3" name="Text 1"/>
          <p:cNvSpPr txBox="1"/>
          <p:nvPr/>
        </p:nvSpPr>
        <p:spPr>
          <a:xfrm>
            <a:off x="6659575" y="292608"/>
            <a:ext cx="5029200" cy="274320"/>
          </a:xfrm>
          <a:prstGeom prst="rect">
            <a:avLst/>
          </a:prstGeom>
          <a:noFill/>
          <a:ln/>
        </p:spPr>
        <p:txBody>
          <a:bodyPr wrap="square" lIns="0" tIns="0" rIns="0" bIns="0" rtlCol="0" anchor="ctr"/>
          <a:lstStyle/>
          <a:p>
            <a:pPr algn="r" indent="0" marL="0">
              <a:buNone/>
            </a:pPr>
            <a:r>
              <a:rPr lang="en-US" sz="1100" spc="300" kern="0" dirty="0">
                <a:solidFill>
                  <a:srgbClr val="6B7178"/>
                </a:solidFill>
                <a:latin typeface="Calibri" pitchFamily="34" charset="0"/>
                <a:ea typeface="Calibri" pitchFamily="34" charset="-122"/>
                <a:cs typeface="Calibri" pitchFamily="34" charset="-120"/>
              </a:rPr>
              <a:t>REVIEW 3 · FINAL</a:t>
            </a:r>
            <a:endParaRPr lang="en-US" sz="1100" dirty="0"/>
          </a:p>
        </p:txBody>
      </p:sp>
      <p:sp>
        <p:nvSpPr>
          <p:cNvPr id="4" name="Text 2"/>
          <p:cNvSpPr txBox="1"/>
          <p:nvPr/>
        </p:nvSpPr>
        <p:spPr>
          <a:xfrm>
            <a:off x="512064" y="786384"/>
            <a:ext cx="10058400" cy="256032"/>
          </a:xfrm>
          <a:prstGeom prst="rect">
            <a:avLst/>
          </a:prstGeom>
          <a:noFill/>
          <a:ln/>
        </p:spPr>
        <p:txBody>
          <a:bodyPr wrap="square" lIns="0" tIns="0" rIns="0" bIns="0" rtlCol="0" anchor="ctr"/>
          <a:lstStyle/>
          <a:p>
            <a:pPr indent="0" marL="0">
              <a:buNone/>
            </a:pPr>
            <a:r>
              <a:rPr lang="en-US" sz="1100" b="1" spc="400" kern="0" dirty="0">
                <a:solidFill>
                  <a:srgbClr val="2F8F82"/>
                </a:solidFill>
                <a:latin typeface="Calibri" pitchFamily="34" charset="0"/>
                <a:ea typeface="Calibri" pitchFamily="34" charset="-122"/>
                <a:cs typeface="Calibri" pitchFamily="34" charset="-120"/>
              </a:rPr>
              <a:t>07 · FEATURES</a:t>
            </a:r>
            <a:endParaRPr lang="en-US" sz="1100" dirty="0"/>
          </a:p>
        </p:txBody>
      </p:sp>
      <p:sp>
        <p:nvSpPr>
          <p:cNvPr id="5" name="Text 3"/>
          <p:cNvSpPr txBox="1"/>
          <p:nvPr/>
        </p:nvSpPr>
        <p:spPr>
          <a:xfrm>
            <a:off x="502920" y="1078992"/>
            <a:ext cx="11155680" cy="731520"/>
          </a:xfrm>
          <a:prstGeom prst="rect">
            <a:avLst/>
          </a:prstGeom>
          <a:noFill/>
          <a:ln/>
        </p:spPr>
        <p:txBody>
          <a:bodyPr wrap="square" lIns="0" tIns="0" rIns="0" bIns="0" rtlCol="0" anchor="ctr"/>
          <a:lstStyle/>
          <a:p>
            <a:pPr indent="0" marL="0">
              <a:buNone/>
            </a:pPr>
            <a:r>
              <a:rPr lang="en-US" sz="3200" dirty="0">
                <a:solidFill>
                  <a:srgbClr val="1B1E22"/>
                </a:solidFill>
                <a:latin typeface="Arial Black" pitchFamily="34" charset="0"/>
                <a:ea typeface="Arial Black" pitchFamily="34" charset="-122"/>
                <a:cs typeface="Arial Black" pitchFamily="34" charset="-120"/>
              </a:rPr>
              <a:t>The 65-D reachability feature vector</a:t>
            </a:r>
            <a:endParaRPr lang="en-US" sz="3200" dirty="0"/>
          </a:p>
        </p:txBody>
      </p:sp>
      <p:sp>
        <p:nvSpPr>
          <p:cNvPr id="6" name="Text 4"/>
          <p:cNvSpPr txBox="1"/>
          <p:nvPr/>
        </p:nvSpPr>
        <p:spPr>
          <a:xfrm>
            <a:off x="548640" y="1783080"/>
            <a:ext cx="10881360" cy="548640"/>
          </a:xfrm>
          <a:prstGeom prst="rect">
            <a:avLst/>
          </a:prstGeom>
          <a:noFill/>
          <a:ln/>
        </p:spPr>
        <p:txBody>
          <a:bodyPr wrap="square" lIns="0" tIns="0" rIns="0" bIns="0" rtlCol="0" anchor="ctr"/>
          <a:lstStyle/>
          <a:p>
            <a:pPr indent="0" marL="0">
              <a:lnSpc>
                <a:spcPct val="105000"/>
              </a:lnSpc>
              <a:buNone/>
            </a:pPr>
            <a:r>
              <a:rPr lang="en-US" sz="1550" dirty="0">
                <a:solidFill>
                  <a:srgbClr val="3A3F46"/>
                </a:solidFill>
                <a:latin typeface="Calibri" pitchFamily="34" charset="0"/>
                <a:ea typeface="Calibri" pitchFamily="34" charset="-122"/>
                <a:cs typeface="Calibri" pitchFamily="34" charset="-120"/>
              </a:rPr>
              <a:t>Reachability is distilled into 65 interpretable features — each one a structural fact, not a byte statistic.</a:t>
            </a:r>
            <a:endParaRPr lang="en-US" sz="1550" dirty="0"/>
          </a:p>
        </p:txBody>
      </p:sp>
      <p:sp>
        <p:nvSpPr>
          <p:cNvPr id="7" name="Text 5"/>
          <p:cNvSpPr txBox="1"/>
          <p:nvPr/>
        </p:nvSpPr>
        <p:spPr>
          <a:xfrm>
            <a:off x="566928" y="2423160"/>
            <a:ext cx="10881360" cy="2788920"/>
          </a:xfrm>
          <a:prstGeom prst="rect">
            <a:avLst/>
          </a:prstGeom>
          <a:noFill/>
          <a:ln/>
        </p:spPr>
        <p:txBody>
          <a:bodyPr wrap="square" lIns="0" tIns="0" rIns="0" bIns="0" rtlCol="0" anchor="t"/>
          <a:lstStyle/>
          <a:p>
            <a:pPr marL="342900" indent="-342900">
              <a:lnSpc>
                <a:spcPct val="118000"/>
              </a:lnSpc>
              <a:buSzPct val="100000"/>
              <a:buChar char="•"/>
            </a:pPr>
            <a:r>
              <a:rPr lang="en-US" sz="1600" b="1" dirty="0">
                <a:solidFill>
                  <a:srgbClr val="1B1E22"/>
                </a:solidFill>
                <a:latin typeface="Calibri" pitchFamily="34" charset="0"/>
                <a:ea typeface="Calibri" pitchFamily="34" charset="-122"/>
                <a:cs typeface="Calibri" pitchFamily="34" charset="-120"/>
              </a:rPr>
              <a:t>Verdict encoding  </a:t>
            </a:r>
            <a:pPr indent="0" marL="0">
              <a:lnSpc>
                <a:spcPct val="118000"/>
              </a:lnSpc>
              <a:spcAft>
                <a:spcPts val="1300"/>
              </a:spcAft>
              <a:buNone/>
            </a:pPr>
            <a:r>
              <a:rPr lang="en-US" sz="1600" dirty="0">
                <a:solidFill>
                  <a:srgbClr val="3A3F46"/>
                </a:solidFill>
                <a:latin typeface="Calibri" pitchFamily="34" charset="0"/>
                <a:ea typeface="Calibri" pitchFamily="34" charset="-122"/>
                <a:cs typeface="Calibri" pitchFamily="34" charset="-120"/>
              </a:rPr>
              <a:t>One-hot of the worst verdict per capability, plus counts of active-on-open vs dormant nodes.</a:t>
            </a:r>
            <a:endParaRPr lang="en-US" sz="1600" dirty="0"/>
          </a:p>
          <a:p>
            <a:pPr marL="342900" indent="-342900">
              <a:lnSpc>
                <a:spcPct val="118000"/>
              </a:lnSpc>
              <a:buSzPct val="100000"/>
              <a:buChar char="•"/>
            </a:pPr>
            <a:r>
              <a:rPr lang="en-US" sz="1600" b="1" dirty="0">
                <a:solidFill>
                  <a:srgbClr val="1B1E22"/>
                </a:solidFill>
                <a:latin typeface="Calibri" pitchFamily="34" charset="0"/>
                <a:ea typeface="Calibri" pitchFamily="34" charset="-122"/>
                <a:cs typeface="Calibri" pitchFamily="34" charset="-120"/>
              </a:rPr>
              <a:t>Reach geometry  </a:t>
            </a:r>
            <a:pPr indent="0" marL="0">
              <a:lnSpc>
                <a:spcPct val="118000"/>
              </a:lnSpc>
              <a:spcAft>
                <a:spcPts val="1300"/>
              </a:spcAft>
              <a:buNone/>
            </a:pPr>
            <a:r>
              <a:rPr lang="en-US" sz="1600" dirty="0">
                <a:solidFill>
                  <a:srgbClr val="3A3F46"/>
                </a:solidFill>
                <a:latin typeface="Calibri" pitchFamily="34" charset="0"/>
                <a:ea typeface="Calibri" pitchFamily="34" charset="-122"/>
                <a:cs typeface="Calibri" pitchFamily="34" charset="-120"/>
              </a:rPr>
              <a:t>Minimum hops to each danger, number of auto triggers, number of distinct reachable capabilities.</a:t>
            </a:r>
            <a:endParaRPr lang="en-US" sz="1600" dirty="0"/>
          </a:p>
          <a:p>
            <a:pPr marL="342900" indent="-342900">
              <a:lnSpc>
                <a:spcPct val="118000"/>
              </a:lnSpc>
              <a:buSzPct val="100000"/>
              <a:buChar char="•"/>
            </a:pPr>
            <a:r>
              <a:rPr lang="en-US" sz="1600" b="1" dirty="0">
                <a:solidFill>
                  <a:srgbClr val="1B1E22"/>
                </a:solidFill>
                <a:latin typeface="Calibri" pitchFamily="34" charset="0"/>
                <a:ea typeface="Calibri" pitchFamily="34" charset="-122"/>
                <a:cs typeface="Calibri" pitchFamily="34" charset="-120"/>
              </a:rPr>
              <a:t>Concealment  </a:t>
            </a:r>
            <a:pPr indent="0" marL="0">
              <a:lnSpc>
                <a:spcPct val="118000"/>
              </a:lnSpc>
              <a:spcAft>
                <a:spcPts val="1300"/>
              </a:spcAft>
              <a:buNone/>
            </a:pPr>
            <a:r>
              <a:rPr lang="en-US" sz="1600" dirty="0">
                <a:solidFill>
                  <a:srgbClr val="3A3F46"/>
                </a:solidFill>
                <a:latin typeface="Calibri" pitchFamily="34" charset="0"/>
                <a:ea typeface="Calibri" pitchFamily="34" charset="-122"/>
                <a:cs typeface="Calibri" pitchFamily="34" charset="-120"/>
              </a:rPr>
              <a:t>Object-stream counts and the hidden-gap signature — a reachable capability whose naive token count is zero.</a:t>
            </a:r>
            <a:endParaRPr lang="en-US" sz="1600" dirty="0"/>
          </a:p>
          <a:p>
            <a:pPr marL="342900" indent="-342900">
              <a:lnSpc>
                <a:spcPct val="118000"/>
              </a:lnSpc>
              <a:buSzPct val="100000"/>
              <a:buChar char="•"/>
            </a:pPr>
            <a:r>
              <a:rPr lang="en-US" sz="1600" b="1" dirty="0">
                <a:solidFill>
                  <a:srgbClr val="1B1E22"/>
                </a:solidFill>
                <a:latin typeface="Calibri" pitchFamily="34" charset="0"/>
                <a:ea typeface="Calibri" pitchFamily="34" charset="-122"/>
                <a:cs typeface="Calibri" pitchFamily="34" charset="-120"/>
              </a:rPr>
              <a:t>Naive baseline  </a:t>
            </a:r>
            <a:pPr indent="0" marL="0">
              <a:lnSpc>
                <a:spcPct val="118000"/>
              </a:lnSpc>
              <a:spcAft>
                <a:spcPts val="1300"/>
              </a:spcAft>
              <a:buNone/>
            </a:pPr>
            <a:r>
              <a:rPr lang="en-US" sz="1600" dirty="0">
                <a:solidFill>
                  <a:srgbClr val="3A3F46"/>
                </a:solidFill>
                <a:latin typeface="Calibri" pitchFamily="34" charset="0"/>
                <a:ea typeface="Calibri" pitchFamily="34" charset="-122"/>
                <a:cs typeface="Calibri" pitchFamily="34" charset="-120"/>
              </a:rPr>
              <a:t>Raw token counts (/JS, /Launch, /URI...) so the model can contrast appearance with reachability.</a:t>
            </a:r>
            <a:endParaRPr lang="en-US" sz="1600" dirty="0"/>
          </a:p>
          <a:p>
            <a:pPr marL="342900" indent="-342900">
              <a:lnSpc>
                <a:spcPct val="118000"/>
              </a:lnSpc>
              <a:buSzPct val="100000"/>
              <a:buChar char="•"/>
            </a:pPr>
            <a:r>
              <a:rPr lang="en-US" sz="1600" b="1" dirty="0">
                <a:solidFill>
                  <a:srgbClr val="1B1E22"/>
                </a:solidFill>
                <a:latin typeface="Calibri" pitchFamily="34" charset="0"/>
                <a:ea typeface="Calibri" pitchFamily="34" charset="-122"/>
                <a:cs typeface="Calibri" pitchFamily="34" charset="-120"/>
              </a:rPr>
              <a:t>Fusion  </a:t>
            </a:r>
            <a:pPr indent="0" marL="0">
              <a:lnSpc>
                <a:spcPct val="118000"/>
              </a:lnSpc>
              <a:spcAft>
                <a:spcPts val="1300"/>
              </a:spcAft>
              <a:buNone/>
            </a:pPr>
            <a:r>
              <a:rPr lang="en-US" sz="1600" dirty="0">
                <a:solidFill>
                  <a:srgbClr val="3A3F46"/>
                </a:solidFill>
                <a:latin typeface="Calibri" pitchFamily="34" charset="0"/>
                <a:ea typeface="Calibri" pitchFamily="34" charset="-122"/>
                <a:cs typeface="Calibri" pitchFamily="34" charset="-120"/>
              </a:rPr>
              <a:t>These 65 features are concatenated with the EMBER score and read by the final classifier.</a:t>
            </a:r>
            <a:endParaRPr lang="en-US" sz="1600" dirty="0"/>
          </a:p>
        </p:txBody>
      </p:sp>
      <p:sp>
        <p:nvSpPr>
          <p:cNvPr id="8" name="Shape 6"/>
          <p:cNvSpPr/>
          <p:nvPr/>
        </p:nvSpPr>
        <p:spPr>
          <a:xfrm>
            <a:off x="548640" y="5074920"/>
            <a:ext cx="3383280" cy="1097280"/>
          </a:xfrm>
          <a:prstGeom prst="roundRect">
            <a:avLst>
              <a:gd name="adj" fmla="val 5833"/>
            </a:avLst>
          </a:prstGeom>
          <a:solidFill>
            <a:srgbClr val="EEF0F2"/>
          </a:solidFill>
          <a:ln w="9525">
            <a:solidFill>
              <a:srgbClr val="CED2D8"/>
            </a:solidFill>
            <a:prstDash val="solid"/>
          </a:ln>
          <a:effectLst>
            <a:outerShdw sx="100000" sy="100000" kx="0" ky="0" algn="bl" rotWithShape="0" blurRad="101600" dist="38100" dir="5400000">
              <a:srgbClr val="9aa0a8">
                <a:alpha val="30000"/>
              </a:srgbClr>
            </a:outerShdw>
          </a:effectLst>
        </p:spPr>
      </p:sp>
      <p:sp>
        <p:nvSpPr>
          <p:cNvPr id="9" name="Text 7"/>
          <p:cNvSpPr txBox="1"/>
          <p:nvPr/>
        </p:nvSpPr>
        <p:spPr>
          <a:xfrm>
            <a:off x="804672" y="5230368"/>
            <a:ext cx="2871216" cy="548640"/>
          </a:xfrm>
          <a:prstGeom prst="rect">
            <a:avLst/>
          </a:prstGeom>
          <a:noFill/>
          <a:ln/>
        </p:spPr>
        <p:txBody>
          <a:bodyPr wrap="square" lIns="0" tIns="0" rIns="0" bIns="0" rtlCol="0" anchor="ctr"/>
          <a:lstStyle/>
          <a:p>
            <a:pPr indent="0" marL="0">
              <a:buNone/>
            </a:pPr>
            <a:r>
              <a:rPr lang="en-US" sz="2700" dirty="0">
                <a:solidFill>
                  <a:srgbClr val="2F8F82"/>
                </a:solidFill>
                <a:latin typeface="Arial Black" pitchFamily="34" charset="0"/>
                <a:ea typeface="Arial Black" pitchFamily="34" charset="-122"/>
                <a:cs typeface="Arial Black" pitchFamily="34" charset="-120"/>
              </a:rPr>
              <a:t>65-D</a:t>
            </a:r>
            <a:endParaRPr lang="en-US" sz="2700" dirty="0"/>
          </a:p>
        </p:txBody>
      </p:sp>
      <p:sp>
        <p:nvSpPr>
          <p:cNvPr id="10" name="Text 8"/>
          <p:cNvSpPr txBox="1"/>
          <p:nvPr/>
        </p:nvSpPr>
        <p:spPr>
          <a:xfrm>
            <a:off x="804672" y="5769864"/>
            <a:ext cx="2871216" cy="365760"/>
          </a:xfrm>
          <a:prstGeom prst="rect">
            <a:avLst/>
          </a:prstGeom>
          <a:noFill/>
          <a:ln/>
        </p:spPr>
        <p:txBody>
          <a:bodyPr wrap="square" lIns="0" tIns="0" rIns="0" bIns="0" rtlCol="0" anchor="ctr"/>
          <a:lstStyle/>
          <a:p>
            <a:pPr indent="0" marL="0">
              <a:lnSpc>
                <a:spcPct val="100000"/>
              </a:lnSpc>
              <a:buNone/>
            </a:pPr>
            <a:r>
              <a:rPr lang="en-US" sz="1050" dirty="0">
                <a:solidFill>
                  <a:srgbClr val="6B7178"/>
                </a:solidFill>
                <a:latin typeface="Calibri" pitchFamily="34" charset="0"/>
                <a:ea typeface="Calibri" pitchFamily="34" charset="-122"/>
                <a:cs typeface="Calibri" pitchFamily="34" charset="-120"/>
              </a:rPr>
              <a:t>interpretable reachability features</a:t>
            </a:r>
            <a:endParaRPr lang="en-US" sz="1050" dirty="0"/>
          </a:p>
        </p:txBody>
      </p:sp>
      <p:sp>
        <p:nvSpPr>
          <p:cNvPr id="11" name="Shape 9"/>
          <p:cNvSpPr/>
          <p:nvPr/>
        </p:nvSpPr>
        <p:spPr>
          <a:xfrm>
            <a:off x="4297680" y="5074920"/>
            <a:ext cx="3383280" cy="1097280"/>
          </a:xfrm>
          <a:prstGeom prst="roundRect">
            <a:avLst>
              <a:gd name="adj" fmla="val 5833"/>
            </a:avLst>
          </a:prstGeom>
          <a:solidFill>
            <a:srgbClr val="EEF0F2"/>
          </a:solidFill>
          <a:ln w="9525">
            <a:solidFill>
              <a:srgbClr val="CED2D8"/>
            </a:solidFill>
            <a:prstDash val="solid"/>
          </a:ln>
          <a:effectLst>
            <a:outerShdw sx="100000" sy="100000" kx="0" ky="0" algn="bl" rotWithShape="0" blurRad="101600" dist="38100" dir="5400000">
              <a:srgbClr val="9aa0a8">
                <a:alpha val="30000"/>
              </a:srgbClr>
            </a:outerShdw>
          </a:effectLst>
        </p:spPr>
      </p:sp>
      <p:sp>
        <p:nvSpPr>
          <p:cNvPr id="12" name="Text 10"/>
          <p:cNvSpPr txBox="1"/>
          <p:nvPr/>
        </p:nvSpPr>
        <p:spPr>
          <a:xfrm>
            <a:off x="4553712" y="5230368"/>
            <a:ext cx="2871216" cy="548640"/>
          </a:xfrm>
          <a:prstGeom prst="rect">
            <a:avLst/>
          </a:prstGeom>
          <a:noFill/>
          <a:ln/>
        </p:spPr>
        <p:txBody>
          <a:bodyPr wrap="square" lIns="0" tIns="0" rIns="0" bIns="0" rtlCol="0" anchor="ctr"/>
          <a:lstStyle/>
          <a:p>
            <a:pPr indent="0" marL="0">
              <a:buNone/>
            </a:pPr>
            <a:r>
              <a:rPr lang="en-US" sz="2400" dirty="0">
                <a:solidFill>
                  <a:srgbClr val="B4473F"/>
                </a:solidFill>
                <a:latin typeface="Arial Black" pitchFamily="34" charset="0"/>
                <a:ea typeface="Arial Black" pitchFamily="34" charset="-122"/>
                <a:cs typeface="Arial Black" pitchFamily="34" charset="-120"/>
              </a:rPr>
              <a:t>hidden-gap</a:t>
            </a:r>
            <a:endParaRPr lang="en-US" sz="2400" dirty="0"/>
          </a:p>
        </p:txBody>
      </p:sp>
      <p:sp>
        <p:nvSpPr>
          <p:cNvPr id="13" name="Text 11"/>
          <p:cNvSpPr txBox="1"/>
          <p:nvPr/>
        </p:nvSpPr>
        <p:spPr>
          <a:xfrm>
            <a:off x="4553712" y="5769864"/>
            <a:ext cx="2871216" cy="365760"/>
          </a:xfrm>
          <a:prstGeom prst="rect">
            <a:avLst/>
          </a:prstGeom>
          <a:noFill/>
          <a:ln/>
        </p:spPr>
        <p:txBody>
          <a:bodyPr wrap="square" lIns="0" tIns="0" rIns="0" bIns="0" rtlCol="0" anchor="ctr"/>
          <a:lstStyle/>
          <a:p>
            <a:pPr indent="0" marL="0">
              <a:lnSpc>
                <a:spcPct val="100000"/>
              </a:lnSpc>
              <a:buNone/>
            </a:pPr>
            <a:r>
              <a:rPr lang="en-US" sz="1050" dirty="0">
                <a:solidFill>
                  <a:srgbClr val="6B7178"/>
                </a:solidFill>
                <a:latin typeface="Calibri" pitchFamily="34" charset="0"/>
                <a:ea typeface="Calibri" pitchFamily="34" charset="-122"/>
                <a:cs typeface="Calibri" pitchFamily="34" charset="-120"/>
              </a:rPr>
              <a:t>headline concealment flag</a:t>
            </a:r>
            <a:endParaRPr lang="en-US" sz="1050" dirty="0"/>
          </a:p>
        </p:txBody>
      </p:sp>
      <p:sp>
        <p:nvSpPr>
          <p:cNvPr id="14" name="Shape 12"/>
          <p:cNvSpPr/>
          <p:nvPr/>
        </p:nvSpPr>
        <p:spPr>
          <a:xfrm>
            <a:off x="8046720" y="5074920"/>
            <a:ext cx="3383280" cy="1097280"/>
          </a:xfrm>
          <a:prstGeom prst="roundRect">
            <a:avLst>
              <a:gd name="adj" fmla="val 5833"/>
            </a:avLst>
          </a:prstGeom>
          <a:solidFill>
            <a:srgbClr val="EEF0F2"/>
          </a:solidFill>
          <a:ln w="9525">
            <a:solidFill>
              <a:srgbClr val="CED2D8"/>
            </a:solidFill>
            <a:prstDash val="solid"/>
          </a:ln>
          <a:effectLst>
            <a:outerShdw sx="100000" sy="100000" kx="0" ky="0" algn="bl" rotWithShape="0" blurRad="101600" dist="38100" dir="5400000">
              <a:srgbClr val="9aa0a8">
                <a:alpha val="30000"/>
              </a:srgbClr>
            </a:outerShdw>
          </a:effectLst>
        </p:spPr>
      </p:sp>
      <p:sp>
        <p:nvSpPr>
          <p:cNvPr id="15" name="Text 13"/>
          <p:cNvSpPr txBox="1"/>
          <p:nvPr/>
        </p:nvSpPr>
        <p:spPr>
          <a:xfrm>
            <a:off x="8302752" y="5230368"/>
            <a:ext cx="2871216" cy="548640"/>
          </a:xfrm>
          <a:prstGeom prst="rect">
            <a:avLst/>
          </a:prstGeom>
          <a:noFill/>
          <a:ln/>
        </p:spPr>
        <p:txBody>
          <a:bodyPr wrap="square" lIns="0" tIns="0" rIns="0" bIns="0" rtlCol="0" anchor="ctr"/>
          <a:lstStyle/>
          <a:p>
            <a:pPr indent="0" marL="0">
              <a:buNone/>
            </a:pPr>
            <a:r>
              <a:rPr lang="en-US" sz="2700" dirty="0">
                <a:solidFill>
                  <a:srgbClr val="1B1E22"/>
                </a:solidFill>
                <a:latin typeface="Arial Black" pitchFamily="34" charset="0"/>
                <a:ea typeface="Arial Black" pitchFamily="34" charset="-122"/>
                <a:cs typeface="Arial Black" pitchFamily="34" charset="-120"/>
              </a:rPr>
              <a:t>⊕ EMBER</a:t>
            </a:r>
            <a:endParaRPr lang="en-US" sz="2700" dirty="0"/>
          </a:p>
        </p:txBody>
      </p:sp>
      <p:sp>
        <p:nvSpPr>
          <p:cNvPr id="16" name="Text 14"/>
          <p:cNvSpPr txBox="1"/>
          <p:nvPr/>
        </p:nvSpPr>
        <p:spPr>
          <a:xfrm>
            <a:off x="8302752" y="5769864"/>
            <a:ext cx="2871216" cy="365760"/>
          </a:xfrm>
          <a:prstGeom prst="rect">
            <a:avLst/>
          </a:prstGeom>
          <a:noFill/>
          <a:ln/>
        </p:spPr>
        <p:txBody>
          <a:bodyPr wrap="square" lIns="0" tIns="0" rIns="0" bIns="0" rtlCol="0" anchor="ctr"/>
          <a:lstStyle/>
          <a:p>
            <a:pPr indent="0" marL="0">
              <a:lnSpc>
                <a:spcPct val="100000"/>
              </a:lnSpc>
              <a:buNone/>
            </a:pPr>
            <a:r>
              <a:rPr lang="en-US" sz="1050" dirty="0">
                <a:solidFill>
                  <a:srgbClr val="6B7178"/>
                </a:solidFill>
                <a:latin typeface="Calibri" pitchFamily="34" charset="0"/>
                <a:ea typeface="Calibri" pitchFamily="34" charset="-122"/>
                <a:cs typeface="Calibri" pitchFamily="34" charset="-120"/>
              </a:rPr>
              <a:t>fused final decision</a:t>
            </a:r>
            <a:endParaRPr lang="en-US" sz="1050" dirty="0"/>
          </a:p>
        </p:txBody>
      </p:sp>
      <p:sp>
        <p:nvSpPr>
          <p:cNvPr id="17" name="Text 15"/>
          <p:cNvSpPr txBox="1"/>
          <p:nvPr/>
        </p:nvSpPr>
        <p:spPr>
          <a:xfrm>
            <a:off x="502920" y="6528816"/>
            <a:ext cx="6400800" cy="237744"/>
          </a:xfrm>
          <a:prstGeom prst="rect">
            <a:avLst/>
          </a:prstGeom>
          <a:noFill/>
          <a:ln/>
        </p:spPr>
        <p:txBody>
          <a:bodyPr wrap="square" lIns="0" tIns="0" rIns="0" bIns="0" rtlCol="0" anchor="ctr"/>
          <a:lstStyle/>
          <a:p>
            <a:pPr indent="0" marL="0">
              <a:buNone/>
            </a:pPr>
            <a:r>
              <a:rPr lang="en-US" sz="850" spc="150" kern="0" dirty="0">
                <a:solidFill>
                  <a:srgbClr val="9AA0A8"/>
                </a:solidFill>
                <a:latin typeface="Calibri" pitchFamily="34" charset="0"/>
                <a:ea typeface="Calibri" pitchFamily="34" charset="-122"/>
                <a:cs typeface="Calibri" pitchFamily="34" charset="-120"/>
              </a:rPr>
              <a:t>PDFSentry · Reachability over Recognition</a:t>
            </a:r>
            <a:endParaRPr lang="en-US" sz="850" dirty="0"/>
          </a:p>
        </p:txBody>
      </p:sp>
      <p:sp>
        <p:nvSpPr>
          <p:cNvPr id="18" name="Text 16"/>
          <p:cNvSpPr txBox="1"/>
          <p:nvPr/>
        </p:nvSpPr>
        <p:spPr>
          <a:xfrm>
            <a:off x="11323015" y="6510528"/>
            <a:ext cx="457200" cy="256032"/>
          </a:xfrm>
          <a:prstGeom prst="rect">
            <a:avLst/>
          </a:prstGeom>
          <a:noFill/>
          <a:ln/>
        </p:spPr>
        <p:txBody>
          <a:bodyPr wrap="square" lIns="0" tIns="0" rIns="0" bIns="0" rtlCol="0" anchor="ctr"/>
          <a:lstStyle/>
          <a:p>
            <a:pPr algn="r" indent="0" marL="0">
              <a:buNone/>
            </a:pPr>
            <a:r>
              <a:rPr lang="en-US" sz="950" b="1" dirty="0">
                <a:solidFill>
                  <a:srgbClr val="6B7178"/>
                </a:solidFill>
                <a:latin typeface="Calibri" pitchFamily="34" charset="0"/>
                <a:ea typeface="Calibri" pitchFamily="34" charset="-122"/>
                <a:cs typeface="Calibri" pitchFamily="34" charset="-120"/>
              </a:rPr>
              <a:t>08</a:t>
            </a:r>
            <a:endParaRPr lang="en-US" sz="9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502920" y="292608"/>
            <a:ext cx="4572000" cy="274320"/>
          </a:xfrm>
          <a:prstGeom prst="rect">
            <a:avLst/>
          </a:prstGeom>
          <a:noFill/>
          <a:ln/>
        </p:spPr>
        <p:txBody>
          <a:bodyPr wrap="square" lIns="0" tIns="0" rIns="0" bIns="0" rtlCol="0" anchor="ctr"/>
          <a:lstStyle/>
          <a:p>
            <a:pPr indent="0" marL="0">
              <a:buNone/>
            </a:pPr>
            <a:r>
              <a:rPr lang="en-US" sz="1100" b="1" spc="400" kern="0" dirty="0">
                <a:solidFill>
                  <a:srgbClr val="6B7178"/>
                </a:solidFill>
                <a:latin typeface="Calibri" pitchFamily="34" charset="0"/>
                <a:ea typeface="Calibri" pitchFamily="34" charset="-122"/>
                <a:cs typeface="Calibri" pitchFamily="34" charset="-120"/>
              </a:rPr>
              <a:t>PDFSENTRY</a:t>
            </a:r>
            <a:endParaRPr lang="en-US" sz="1100" dirty="0"/>
          </a:p>
        </p:txBody>
      </p:sp>
      <p:sp>
        <p:nvSpPr>
          <p:cNvPr id="3" name="Text 1"/>
          <p:cNvSpPr txBox="1"/>
          <p:nvPr/>
        </p:nvSpPr>
        <p:spPr>
          <a:xfrm>
            <a:off x="6659575" y="292608"/>
            <a:ext cx="5029200" cy="274320"/>
          </a:xfrm>
          <a:prstGeom prst="rect">
            <a:avLst/>
          </a:prstGeom>
          <a:noFill/>
          <a:ln/>
        </p:spPr>
        <p:txBody>
          <a:bodyPr wrap="square" lIns="0" tIns="0" rIns="0" bIns="0" rtlCol="0" anchor="ctr"/>
          <a:lstStyle/>
          <a:p>
            <a:pPr algn="r" indent="0" marL="0">
              <a:buNone/>
            </a:pPr>
            <a:r>
              <a:rPr lang="en-US" sz="1100" spc="300" kern="0" dirty="0">
                <a:solidFill>
                  <a:srgbClr val="6B7178"/>
                </a:solidFill>
                <a:latin typeface="Calibri" pitchFamily="34" charset="0"/>
                <a:ea typeface="Calibri" pitchFamily="34" charset="-122"/>
                <a:cs typeface="Calibri" pitchFamily="34" charset="-120"/>
              </a:rPr>
              <a:t>REVIEW 3 · FINAL</a:t>
            </a:r>
            <a:endParaRPr lang="en-US" sz="1100" dirty="0"/>
          </a:p>
        </p:txBody>
      </p:sp>
      <p:sp>
        <p:nvSpPr>
          <p:cNvPr id="4" name="Text 2"/>
          <p:cNvSpPr txBox="1"/>
          <p:nvPr/>
        </p:nvSpPr>
        <p:spPr>
          <a:xfrm>
            <a:off x="512064" y="786384"/>
            <a:ext cx="10058400" cy="256032"/>
          </a:xfrm>
          <a:prstGeom prst="rect">
            <a:avLst/>
          </a:prstGeom>
          <a:noFill/>
          <a:ln/>
        </p:spPr>
        <p:txBody>
          <a:bodyPr wrap="square" lIns="0" tIns="0" rIns="0" bIns="0" rtlCol="0" anchor="ctr"/>
          <a:lstStyle/>
          <a:p>
            <a:pPr indent="0" marL="0">
              <a:buNone/>
            </a:pPr>
            <a:r>
              <a:rPr lang="en-US" sz="1100" b="1" spc="400" kern="0" dirty="0">
                <a:solidFill>
                  <a:srgbClr val="2F8F82"/>
                </a:solidFill>
                <a:latin typeface="Calibri" pitchFamily="34" charset="0"/>
                <a:ea typeface="Calibri" pitchFamily="34" charset="-122"/>
                <a:cs typeface="Calibri" pitchFamily="34" charset="-120"/>
              </a:rPr>
              <a:t>08 · SETUP</a:t>
            </a:r>
            <a:endParaRPr lang="en-US" sz="1100" dirty="0"/>
          </a:p>
        </p:txBody>
      </p:sp>
      <p:sp>
        <p:nvSpPr>
          <p:cNvPr id="5" name="Text 3"/>
          <p:cNvSpPr txBox="1"/>
          <p:nvPr/>
        </p:nvSpPr>
        <p:spPr>
          <a:xfrm>
            <a:off x="502920" y="1078992"/>
            <a:ext cx="11155680" cy="731520"/>
          </a:xfrm>
          <a:prstGeom prst="rect">
            <a:avLst/>
          </a:prstGeom>
          <a:noFill/>
          <a:ln/>
        </p:spPr>
        <p:txBody>
          <a:bodyPr wrap="square" lIns="0" tIns="0" rIns="0" bIns="0" rtlCol="0" anchor="ctr"/>
          <a:lstStyle/>
          <a:p>
            <a:pPr indent="0" marL="0">
              <a:buNone/>
            </a:pPr>
            <a:r>
              <a:rPr lang="en-US" sz="3200" dirty="0">
                <a:solidFill>
                  <a:srgbClr val="1B1E22"/>
                </a:solidFill>
                <a:latin typeface="Arial Black" pitchFamily="34" charset="0"/>
                <a:ea typeface="Arial Black" pitchFamily="34" charset="-122"/>
                <a:cs typeface="Arial Black" pitchFamily="34" charset="-120"/>
              </a:rPr>
              <a:t>Experimental setup &amp; datasets</a:t>
            </a:r>
            <a:endParaRPr lang="en-US" sz="3200" dirty="0"/>
          </a:p>
        </p:txBody>
      </p:sp>
      <p:sp>
        <p:nvSpPr>
          <p:cNvPr id="6" name="Text 4"/>
          <p:cNvSpPr txBox="1"/>
          <p:nvPr/>
        </p:nvSpPr>
        <p:spPr>
          <a:xfrm>
            <a:off x="548640" y="1783080"/>
            <a:ext cx="10881360" cy="548640"/>
          </a:xfrm>
          <a:prstGeom prst="rect">
            <a:avLst/>
          </a:prstGeom>
          <a:noFill/>
          <a:ln/>
        </p:spPr>
        <p:txBody>
          <a:bodyPr wrap="square" lIns="0" tIns="0" rIns="0" bIns="0" rtlCol="0" anchor="ctr"/>
          <a:lstStyle/>
          <a:p>
            <a:pPr indent="0" marL="0">
              <a:lnSpc>
                <a:spcPct val="105000"/>
              </a:lnSpc>
              <a:buNone/>
            </a:pPr>
            <a:r>
              <a:rPr lang="en-US" sz="1550" dirty="0">
                <a:solidFill>
                  <a:srgbClr val="3A3F46"/>
                </a:solidFill>
                <a:latin typeface="Calibri" pitchFamily="34" charset="0"/>
                <a:ea typeface="Calibri" pitchFamily="34" charset="-122"/>
                <a:cs typeface="Calibri" pitchFamily="34" charset="-120"/>
              </a:rPr>
              <a:t>A rigorous, reproducible protocol — real malware for evidence, controlled twins for mechanism, never live execution.</a:t>
            </a:r>
            <a:endParaRPr lang="en-US" sz="1550" dirty="0"/>
          </a:p>
        </p:txBody>
      </p:sp>
      <p:sp>
        <p:nvSpPr>
          <p:cNvPr id="7" name="Text 5"/>
          <p:cNvSpPr txBox="1"/>
          <p:nvPr/>
        </p:nvSpPr>
        <p:spPr>
          <a:xfrm>
            <a:off x="566928" y="2423160"/>
            <a:ext cx="10881360" cy="2788920"/>
          </a:xfrm>
          <a:prstGeom prst="rect">
            <a:avLst/>
          </a:prstGeom>
          <a:noFill/>
          <a:ln/>
        </p:spPr>
        <p:txBody>
          <a:bodyPr wrap="square" lIns="0" tIns="0" rIns="0" bIns="0" rtlCol="0" anchor="t"/>
          <a:lstStyle/>
          <a:p>
            <a:pPr marL="342900" indent="-342900">
              <a:lnSpc>
                <a:spcPct val="118000"/>
              </a:lnSpc>
              <a:buSzPct val="100000"/>
              <a:buChar char="•"/>
            </a:pPr>
            <a:r>
              <a:rPr lang="en-US" sz="1600" b="1" dirty="0">
                <a:solidFill>
                  <a:srgbClr val="1B1E22"/>
                </a:solidFill>
                <a:latin typeface="Calibri" pitchFamily="34" charset="0"/>
                <a:ea typeface="Calibri" pitchFamily="34" charset="-122"/>
                <a:cs typeface="Calibri" pitchFamily="34" charset="-120"/>
              </a:rPr>
              <a:t>Baseline  </a:t>
            </a:r>
            <a:pPr indent="0" marL="0">
              <a:lnSpc>
                <a:spcPct val="118000"/>
              </a:lnSpc>
              <a:spcAft>
                <a:spcPts val="1300"/>
              </a:spcAft>
              <a:buNone/>
            </a:pPr>
            <a:r>
              <a:rPr lang="en-US" sz="1600" dirty="0">
                <a:solidFill>
                  <a:srgbClr val="3A3F46"/>
                </a:solidFill>
                <a:latin typeface="Calibri" pitchFamily="34" charset="0"/>
                <a:ea typeface="Calibri" pitchFamily="34" charset="-122"/>
                <a:cs typeface="Calibri" pitchFamily="34" charset="-120"/>
              </a:rPr>
              <a:t>EMBER2024 authors’ released PDF model, reproduced on the ordinary test set and the 805-sample evasive challenge set.</a:t>
            </a:r>
            <a:endParaRPr lang="en-US" sz="1600" dirty="0"/>
          </a:p>
          <a:p>
            <a:pPr marL="342900" indent="-342900">
              <a:lnSpc>
                <a:spcPct val="118000"/>
              </a:lnSpc>
              <a:buSzPct val="100000"/>
              <a:buChar char="•"/>
            </a:pPr>
            <a:r>
              <a:rPr lang="en-US" sz="1600" b="1" dirty="0">
                <a:solidFill>
                  <a:srgbClr val="1B1E22"/>
                </a:solidFill>
                <a:latin typeface="Calibri" pitchFamily="34" charset="0"/>
                <a:ea typeface="Calibri" pitchFamily="34" charset="-122"/>
                <a:cs typeface="Calibri" pitchFamily="34" charset="-120"/>
              </a:rPr>
              <a:t>Protocol  </a:t>
            </a:r>
            <a:pPr indent="0" marL="0">
              <a:lnSpc>
                <a:spcPct val="118000"/>
              </a:lnSpc>
              <a:spcAft>
                <a:spcPts val="1300"/>
              </a:spcAft>
              <a:buNone/>
            </a:pPr>
            <a:r>
              <a:rPr lang="en-US" sz="1600" dirty="0">
                <a:solidFill>
                  <a:srgbClr val="3A3F46"/>
                </a:solidFill>
                <a:latin typeface="Calibri" pitchFamily="34" charset="0"/>
                <a:ea typeface="Calibri" pitchFamily="34" charset="-122"/>
                <a:cs typeface="Calibri" pitchFamily="34" charset="-120"/>
              </a:rPr>
              <a:t>Challenge reproduction uses the authors’ 6,000-benign sampling (seed 1337); fusion is scored with 5-fold cross-validation.</a:t>
            </a:r>
            <a:endParaRPr lang="en-US" sz="1600" dirty="0"/>
          </a:p>
          <a:p>
            <a:pPr marL="342900" indent="-342900">
              <a:lnSpc>
                <a:spcPct val="118000"/>
              </a:lnSpc>
              <a:buSzPct val="100000"/>
              <a:buChar char="•"/>
            </a:pPr>
            <a:r>
              <a:rPr lang="en-US" sz="1600" b="1" dirty="0">
                <a:solidFill>
                  <a:srgbClr val="1B1E22"/>
                </a:solidFill>
                <a:latin typeface="Calibri" pitchFamily="34" charset="0"/>
                <a:ea typeface="Calibri" pitchFamily="34" charset="-122"/>
                <a:cs typeface="Calibri" pitchFamily="34" charset="-120"/>
              </a:rPr>
              <a:t>Controlled twins  </a:t>
            </a:r>
            <a:pPr indent="0" marL="0">
              <a:lnSpc>
                <a:spcPct val="118000"/>
              </a:lnSpc>
              <a:spcAft>
                <a:spcPts val="1300"/>
              </a:spcAft>
              <a:buNone/>
            </a:pPr>
            <a:r>
              <a:rPr lang="en-US" sz="1600" dirty="0">
                <a:solidFill>
                  <a:srgbClr val="3A3F46"/>
                </a:solidFill>
                <a:latin typeface="Calibri" pitchFamily="34" charset="0"/>
                <a:ea typeface="Calibri" pitchFamily="34" charset="-122"/>
                <a:cs typeface="Calibri" pitchFamily="34" charset="-120"/>
              </a:rPr>
              <a:t>300 benign PDFs weaponised across 4 trigger wirings × 8 lossless transforms, each with a harmless app.alert payload.</a:t>
            </a:r>
            <a:endParaRPr lang="en-US" sz="1600" dirty="0"/>
          </a:p>
          <a:p>
            <a:pPr marL="342900" indent="-342900">
              <a:lnSpc>
                <a:spcPct val="118000"/>
              </a:lnSpc>
              <a:buSzPct val="100000"/>
              <a:buChar char="•"/>
            </a:pPr>
            <a:r>
              <a:rPr lang="en-US" sz="1600" b="1" dirty="0">
                <a:solidFill>
                  <a:srgbClr val="1B1E22"/>
                </a:solidFill>
                <a:latin typeface="Calibri" pitchFamily="34" charset="0"/>
                <a:ea typeface="Calibri" pitchFamily="34" charset="-122"/>
                <a:cs typeface="Calibri" pitchFamily="34" charset="-120"/>
              </a:rPr>
              <a:t>Benign corpus  </a:t>
            </a:r>
            <a:pPr indent="0" marL="0">
              <a:lnSpc>
                <a:spcPct val="118000"/>
              </a:lnSpc>
              <a:spcAft>
                <a:spcPts val="1300"/>
              </a:spcAft>
              <a:buNone/>
            </a:pPr>
            <a:r>
              <a:rPr lang="en-US" sz="1600" dirty="0">
                <a:solidFill>
                  <a:srgbClr val="3A3F46"/>
                </a:solidFill>
                <a:latin typeface="Calibri" pitchFamily="34" charset="0"/>
                <a:ea typeface="Calibri" pitchFamily="34" charset="-122"/>
                <a:cs typeface="Calibri" pitchFamily="34" charset="-120"/>
              </a:rPr>
              <a:t>35 real fixtures + 250 generated documents (links, forms, bookmarks) for false-positive measurement.</a:t>
            </a:r>
            <a:endParaRPr lang="en-US" sz="1600" dirty="0"/>
          </a:p>
          <a:p>
            <a:pPr marL="342900" indent="-342900">
              <a:lnSpc>
                <a:spcPct val="118000"/>
              </a:lnSpc>
              <a:buSzPct val="100000"/>
              <a:buChar char="•"/>
            </a:pPr>
            <a:r>
              <a:rPr lang="en-US" sz="1600" b="1" dirty="0">
                <a:solidFill>
                  <a:srgbClr val="1B1E22"/>
                </a:solidFill>
                <a:latin typeface="Calibri" pitchFamily="34" charset="0"/>
                <a:ea typeface="Calibri" pitchFamily="34" charset="-122"/>
                <a:cs typeface="Calibri" pitchFamily="34" charset="-120"/>
              </a:rPr>
              <a:t>Reproducibility  </a:t>
            </a:r>
            <a:pPr indent="0" marL="0">
              <a:lnSpc>
                <a:spcPct val="118000"/>
              </a:lnSpc>
              <a:spcAft>
                <a:spcPts val="1300"/>
              </a:spcAft>
              <a:buNone/>
            </a:pPr>
            <a:r>
              <a:rPr lang="en-US" sz="1600" dirty="0">
                <a:solidFill>
                  <a:srgbClr val="3A3F46"/>
                </a:solidFill>
                <a:latin typeface="Calibri" pitchFamily="34" charset="0"/>
                <a:ea typeface="Calibri" pitchFamily="34" charset="-122"/>
                <a:cs typeface="Calibri" pitchFamily="34" charset="-120"/>
              </a:rPr>
              <a:t>Every figure folds into a stored JSON artifact and renders in the dashboard — no hand-typed numbers.</a:t>
            </a:r>
            <a:endParaRPr lang="en-US" sz="1600" dirty="0"/>
          </a:p>
        </p:txBody>
      </p:sp>
      <p:sp>
        <p:nvSpPr>
          <p:cNvPr id="8" name="Shape 6"/>
          <p:cNvSpPr/>
          <p:nvPr/>
        </p:nvSpPr>
        <p:spPr>
          <a:xfrm>
            <a:off x="548640" y="5074920"/>
            <a:ext cx="3383280" cy="1097280"/>
          </a:xfrm>
          <a:prstGeom prst="roundRect">
            <a:avLst>
              <a:gd name="adj" fmla="val 5833"/>
            </a:avLst>
          </a:prstGeom>
          <a:solidFill>
            <a:srgbClr val="EEF0F2"/>
          </a:solidFill>
          <a:ln w="9525">
            <a:solidFill>
              <a:srgbClr val="CED2D8"/>
            </a:solidFill>
            <a:prstDash val="solid"/>
          </a:ln>
          <a:effectLst>
            <a:outerShdw sx="100000" sy="100000" kx="0" ky="0" algn="bl" rotWithShape="0" blurRad="101600" dist="38100" dir="5400000">
              <a:srgbClr val="9aa0a8">
                <a:alpha val="30000"/>
              </a:srgbClr>
            </a:outerShdw>
          </a:effectLst>
        </p:spPr>
      </p:sp>
      <p:sp>
        <p:nvSpPr>
          <p:cNvPr id="9" name="Text 7"/>
          <p:cNvSpPr txBox="1"/>
          <p:nvPr/>
        </p:nvSpPr>
        <p:spPr>
          <a:xfrm>
            <a:off x="804672" y="5230368"/>
            <a:ext cx="2871216" cy="548640"/>
          </a:xfrm>
          <a:prstGeom prst="rect">
            <a:avLst/>
          </a:prstGeom>
          <a:noFill/>
          <a:ln/>
        </p:spPr>
        <p:txBody>
          <a:bodyPr wrap="square" lIns="0" tIns="0" rIns="0" bIns="0" rtlCol="0" anchor="ctr"/>
          <a:lstStyle/>
          <a:p>
            <a:pPr indent="0" marL="0">
              <a:buNone/>
            </a:pPr>
            <a:r>
              <a:rPr lang="en-US" sz="2700" dirty="0">
                <a:solidFill>
                  <a:srgbClr val="1B1E22"/>
                </a:solidFill>
                <a:latin typeface="Arial Black" pitchFamily="34" charset="0"/>
                <a:ea typeface="Arial Black" pitchFamily="34" charset="-122"/>
                <a:cs typeface="Arial Black" pitchFamily="34" charset="-120"/>
              </a:rPr>
              <a:t>805</a:t>
            </a:r>
            <a:endParaRPr lang="en-US" sz="2700" dirty="0"/>
          </a:p>
        </p:txBody>
      </p:sp>
      <p:sp>
        <p:nvSpPr>
          <p:cNvPr id="10" name="Text 8"/>
          <p:cNvSpPr txBox="1"/>
          <p:nvPr/>
        </p:nvSpPr>
        <p:spPr>
          <a:xfrm>
            <a:off x="804672" y="5769864"/>
            <a:ext cx="2871216" cy="365760"/>
          </a:xfrm>
          <a:prstGeom prst="rect">
            <a:avLst/>
          </a:prstGeom>
          <a:noFill/>
          <a:ln/>
        </p:spPr>
        <p:txBody>
          <a:bodyPr wrap="square" lIns="0" tIns="0" rIns="0" bIns="0" rtlCol="0" anchor="ctr"/>
          <a:lstStyle/>
          <a:p>
            <a:pPr indent="0" marL="0">
              <a:lnSpc>
                <a:spcPct val="100000"/>
              </a:lnSpc>
              <a:buNone/>
            </a:pPr>
            <a:r>
              <a:rPr lang="en-US" sz="1050" dirty="0">
                <a:solidFill>
                  <a:srgbClr val="6B7178"/>
                </a:solidFill>
                <a:latin typeface="Calibri" pitchFamily="34" charset="0"/>
                <a:ea typeface="Calibri" pitchFamily="34" charset="-122"/>
                <a:cs typeface="Calibri" pitchFamily="34" charset="-120"/>
              </a:rPr>
              <a:t>real evasive PDFs</a:t>
            </a:r>
            <a:endParaRPr lang="en-US" sz="1050" dirty="0"/>
          </a:p>
        </p:txBody>
      </p:sp>
      <p:sp>
        <p:nvSpPr>
          <p:cNvPr id="11" name="Shape 9"/>
          <p:cNvSpPr/>
          <p:nvPr/>
        </p:nvSpPr>
        <p:spPr>
          <a:xfrm>
            <a:off x="4297680" y="5074920"/>
            <a:ext cx="3383280" cy="1097280"/>
          </a:xfrm>
          <a:prstGeom prst="roundRect">
            <a:avLst>
              <a:gd name="adj" fmla="val 5833"/>
            </a:avLst>
          </a:prstGeom>
          <a:solidFill>
            <a:srgbClr val="EEF0F2"/>
          </a:solidFill>
          <a:ln w="9525">
            <a:solidFill>
              <a:srgbClr val="CED2D8"/>
            </a:solidFill>
            <a:prstDash val="solid"/>
          </a:ln>
          <a:effectLst>
            <a:outerShdw sx="100000" sy="100000" kx="0" ky="0" algn="bl" rotWithShape="0" blurRad="101600" dist="38100" dir="5400000">
              <a:srgbClr val="9aa0a8">
                <a:alpha val="30000"/>
              </a:srgbClr>
            </a:outerShdw>
          </a:effectLst>
        </p:spPr>
      </p:sp>
      <p:sp>
        <p:nvSpPr>
          <p:cNvPr id="12" name="Text 10"/>
          <p:cNvSpPr txBox="1"/>
          <p:nvPr/>
        </p:nvSpPr>
        <p:spPr>
          <a:xfrm>
            <a:off x="4553712" y="5230368"/>
            <a:ext cx="2871216" cy="548640"/>
          </a:xfrm>
          <a:prstGeom prst="rect">
            <a:avLst/>
          </a:prstGeom>
          <a:noFill/>
          <a:ln/>
        </p:spPr>
        <p:txBody>
          <a:bodyPr wrap="square" lIns="0" tIns="0" rIns="0" bIns="0" rtlCol="0" anchor="ctr"/>
          <a:lstStyle/>
          <a:p>
            <a:pPr indent="0" marL="0">
              <a:buNone/>
            </a:pPr>
            <a:r>
              <a:rPr lang="en-US" sz="2700" dirty="0">
                <a:solidFill>
                  <a:srgbClr val="1B1E22"/>
                </a:solidFill>
                <a:latin typeface="Arial Black" pitchFamily="34" charset="0"/>
                <a:ea typeface="Arial Black" pitchFamily="34" charset="-122"/>
                <a:cs typeface="Arial Black" pitchFamily="34" charset="-120"/>
              </a:rPr>
              <a:t>300 × 32</a:t>
            </a:r>
            <a:endParaRPr lang="en-US" sz="2700" dirty="0"/>
          </a:p>
        </p:txBody>
      </p:sp>
      <p:sp>
        <p:nvSpPr>
          <p:cNvPr id="13" name="Text 11"/>
          <p:cNvSpPr txBox="1"/>
          <p:nvPr/>
        </p:nvSpPr>
        <p:spPr>
          <a:xfrm>
            <a:off x="4553712" y="5769864"/>
            <a:ext cx="2871216" cy="365760"/>
          </a:xfrm>
          <a:prstGeom prst="rect">
            <a:avLst/>
          </a:prstGeom>
          <a:noFill/>
          <a:ln/>
        </p:spPr>
        <p:txBody>
          <a:bodyPr wrap="square" lIns="0" tIns="0" rIns="0" bIns="0" rtlCol="0" anchor="ctr"/>
          <a:lstStyle/>
          <a:p>
            <a:pPr indent="0" marL="0">
              <a:lnSpc>
                <a:spcPct val="100000"/>
              </a:lnSpc>
              <a:buNone/>
            </a:pPr>
            <a:r>
              <a:rPr lang="en-US" sz="1050" dirty="0">
                <a:solidFill>
                  <a:srgbClr val="6B7178"/>
                </a:solidFill>
                <a:latin typeface="Calibri" pitchFamily="34" charset="0"/>
                <a:ea typeface="Calibri" pitchFamily="34" charset="-122"/>
                <a:cs typeface="Calibri" pitchFamily="34" charset="-120"/>
              </a:rPr>
              <a:t>weaponised variants</a:t>
            </a:r>
            <a:endParaRPr lang="en-US" sz="1050" dirty="0"/>
          </a:p>
        </p:txBody>
      </p:sp>
      <p:sp>
        <p:nvSpPr>
          <p:cNvPr id="14" name="Shape 12"/>
          <p:cNvSpPr/>
          <p:nvPr/>
        </p:nvSpPr>
        <p:spPr>
          <a:xfrm>
            <a:off x="8046720" y="5074920"/>
            <a:ext cx="3383280" cy="1097280"/>
          </a:xfrm>
          <a:prstGeom prst="roundRect">
            <a:avLst>
              <a:gd name="adj" fmla="val 5833"/>
            </a:avLst>
          </a:prstGeom>
          <a:solidFill>
            <a:srgbClr val="EEF0F2"/>
          </a:solidFill>
          <a:ln w="9525">
            <a:solidFill>
              <a:srgbClr val="CED2D8"/>
            </a:solidFill>
            <a:prstDash val="solid"/>
          </a:ln>
          <a:effectLst>
            <a:outerShdw sx="100000" sy="100000" kx="0" ky="0" algn="bl" rotWithShape="0" blurRad="101600" dist="38100" dir="5400000">
              <a:srgbClr val="9aa0a8">
                <a:alpha val="30000"/>
              </a:srgbClr>
            </a:outerShdw>
          </a:effectLst>
        </p:spPr>
      </p:sp>
      <p:sp>
        <p:nvSpPr>
          <p:cNvPr id="15" name="Text 13"/>
          <p:cNvSpPr txBox="1"/>
          <p:nvPr/>
        </p:nvSpPr>
        <p:spPr>
          <a:xfrm>
            <a:off x="8302752" y="5230368"/>
            <a:ext cx="2871216" cy="548640"/>
          </a:xfrm>
          <a:prstGeom prst="rect">
            <a:avLst/>
          </a:prstGeom>
          <a:noFill/>
          <a:ln/>
        </p:spPr>
        <p:txBody>
          <a:bodyPr wrap="square" lIns="0" tIns="0" rIns="0" bIns="0" rtlCol="0" anchor="ctr"/>
          <a:lstStyle/>
          <a:p>
            <a:pPr indent="0" marL="0">
              <a:buNone/>
            </a:pPr>
            <a:r>
              <a:rPr lang="en-US" sz="2700" dirty="0">
                <a:solidFill>
                  <a:srgbClr val="1B1E22"/>
                </a:solidFill>
                <a:latin typeface="Arial Black" pitchFamily="34" charset="0"/>
                <a:ea typeface="Arial Black" pitchFamily="34" charset="-122"/>
                <a:cs typeface="Arial Black" pitchFamily="34" charset="-120"/>
              </a:rPr>
              <a:t>285</a:t>
            </a:r>
            <a:endParaRPr lang="en-US" sz="2700" dirty="0"/>
          </a:p>
        </p:txBody>
      </p:sp>
      <p:sp>
        <p:nvSpPr>
          <p:cNvPr id="16" name="Text 14"/>
          <p:cNvSpPr txBox="1"/>
          <p:nvPr/>
        </p:nvSpPr>
        <p:spPr>
          <a:xfrm>
            <a:off x="8302752" y="5769864"/>
            <a:ext cx="2871216" cy="365760"/>
          </a:xfrm>
          <a:prstGeom prst="rect">
            <a:avLst/>
          </a:prstGeom>
          <a:noFill/>
          <a:ln/>
        </p:spPr>
        <p:txBody>
          <a:bodyPr wrap="square" lIns="0" tIns="0" rIns="0" bIns="0" rtlCol="0" anchor="ctr"/>
          <a:lstStyle/>
          <a:p>
            <a:pPr indent="0" marL="0">
              <a:lnSpc>
                <a:spcPct val="100000"/>
              </a:lnSpc>
              <a:buNone/>
            </a:pPr>
            <a:r>
              <a:rPr lang="en-US" sz="1050" dirty="0">
                <a:solidFill>
                  <a:srgbClr val="6B7178"/>
                </a:solidFill>
                <a:latin typeface="Calibri" pitchFamily="34" charset="0"/>
                <a:ea typeface="Calibri" pitchFamily="34" charset="-122"/>
                <a:cs typeface="Calibri" pitchFamily="34" charset="-120"/>
              </a:rPr>
              <a:t>benign test documents</a:t>
            </a:r>
            <a:endParaRPr lang="en-US" sz="1050" dirty="0"/>
          </a:p>
        </p:txBody>
      </p:sp>
      <p:sp>
        <p:nvSpPr>
          <p:cNvPr id="17" name="Text 15"/>
          <p:cNvSpPr txBox="1"/>
          <p:nvPr/>
        </p:nvSpPr>
        <p:spPr>
          <a:xfrm>
            <a:off x="502920" y="6528816"/>
            <a:ext cx="6400800" cy="237744"/>
          </a:xfrm>
          <a:prstGeom prst="rect">
            <a:avLst/>
          </a:prstGeom>
          <a:noFill/>
          <a:ln/>
        </p:spPr>
        <p:txBody>
          <a:bodyPr wrap="square" lIns="0" tIns="0" rIns="0" bIns="0" rtlCol="0" anchor="ctr"/>
          <a:lstStyle/>
          <a:p>
            <a:pPr indent="0" marL="0">
              <a:buNone/>
            </a:pPr>
            <a:r>
              <a:rPr lang="en-US" sz="850" spc="150" kern="0" dirty="0">
                <a:solidFill>
                  <a:srgbClr val="9AA0A8"/>
                </a:solidFill>
                <a:latin typeface="Calibri" pitchFamily="34" charset="0"/>
                <a:ea typeface="Calibri" pitchFamily="34" charset="-122"/>
                <a:cs typeface="Calibri" pitchFamily="34" charset="-120"/>
              </a:rPr>
              <a:t>PDFSentry · Reachability over Recognition</a:t>
            </a:r>
            <a:endParaRPr lang="en-US" sz="850" dirty="0"/>
          </a:p>
        </p:txBody>
      </p:sp>
      <p:sp>
        <p:nvSpPr>
          <p:cNvPr id="18" name="Text 16"/>
          <p:cNvSpPr txBox="1"/>
          <p:nvPr/>
        </p:nvSpPr>
        <p:spPr>
          <a:xfrm>
            <a:off x="11323015" y="6510528"/>
            <a:ext cx="457200" cy="256032"/>
          </a:xfrm>
          <a:prstGeom prst="rect">
            <a:avLst/>
          </a:prstGeom>
          <a:noFill/>
          <a:ln/>
        </p:spPr>
        <p:txBody>
          <a:bodyPr wrap="square" lIns="0" tIns="0" rIns="0" bIns="0" rtlCol="0" anchor="ctr"/>
          <a:lstStyle/>
          <a:p>
            <a:pPr algn="r" indent="0" marL="0">
              <a:buNone/>
            </a:pPr>
            <a:r>
              <a:rPr lang="en-US" sz="950" b="1" dirty="0">
                <a:solidFill>
                  <a:srgbClr val="6B7178"/>
                </a:solidFill>
                <a:latin typeface="Calibri" pitchFamily="34" charset="0"/>
                <a:ea typeface="Calibri" pitchFamily="34" charset="-122"/>
                <a:cs typeface="Calibri" pitchFamily="34" charset="-120"/>
              </a:rPr>
              <a:t>09</a:t>
            </a:r>
            <a:endParaRPr lang="en-US" sz="9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502920" y="292608"/>
            <a:ext cx="4572000" cy="274320"/>
          </a:xfrm>
          <a:prstGeom prst="rect">
            <a:avLst/>
          </a:prstGeom>
          <a:noFill/>
          <a:ln/>
        </p:spPr>
        <p:txBody>
          <a:bodyPr wrap="square" lIns="0" tIns="0" rIns="0" bIns="0" rtlCol="0" anchor="ctr"/>
          <a:lstStyle/>
          <a:p>
            <a:pPr indent="0" marL="0">
              <a:buNone/>
            </a:pPr>
            <a:r>
              <a:rPr lang="en-US" sz="1100" b="1" spc="400" kern="0" dirty="0">
                <a:solidFill>
                  <a:srgbClr val="6B7178"/>
                </a:solidFill>
                <a:latin typeface="Calibri" pitchFamily="34" charset="0"/>
                <a:ea typeface="Calibri" pitchFamily="34" charset="-122"/>
                <a:cs typeface="Calibri" pitchFamily="34" charset="-120"/>
              </a:rPr>
              <a:t>PDFSENTRY</a:t>
            </a:r>
            <a:endParaRPr lang="en-US" sz="1100" dirty="0"/>
          </a:p>
        </p:txBody>
      </p:sp>
      <p:sp>
        <p:nvSpPr>
          <p:cNvPr id="3" name="Text 1"/>
          <p:cNvSpPr txBox="1"/>
          <p:nvPr/>
        </p:nvSpPr>
        <p:spPr>
          <a:xfrm>
            <a:off x="6659575" y="292608"/>
            <a:ext cx="5029200" cy="274320"/>
          </a:xfrm>
          <a:prstGeom prst="rect">
            <a:avLst/>
          </a:prstGeom>
          <a:noFill/>
          <a:ln/>
        </p:spPr>
        <p:txBody>
          <a:bodyPr wrap="square" lIns="0" tIns="0" rIns="0" bIns="0" rtlCol="0" anchor="ctr"/>
          <a:lstStyle/>
          <a:p>
            <a:pPr algn="r" indent="0" marL="0">
              <a:buNone/>
            </a:pPr>
            <a:r>
              <a:rPr lang="en-US" sz="1100" spc="300" kern="0" dirty="0">
                <a:solidFill>
                  <a:srgbClr val="6B7178"/>
                </a:solidFill>
                <a:latin typeface="Calibri" pitchFamily="34" charset="0"/>
                <a:ea typeface="Calibri" pitchFamily="34" charset="-122"/>
                <a:cs typeface="Calibri" pitchFamily="34" charset="-120"/>
              </a:rPr>
              <a:t>REVIEW 3 · FINAL</a:t>
            </a:r>
            <a:endParaRPr lang="en-US" sz="1100" dirty="0"/>
          </a:p>
        </p:txBody>
      </p:sp>
      <p:sp>
        <p:nvSpPr>
          <p:cNvPr id="4" name="Text 2"/>
          <p:cNvSpPr txBox="1"/>
          <p:nvPr/>
        </p:nvSpPr>
        <p:spPr>
          <a:xfrm>
            <a:off x="512064" y="786384"/>
            <a:ext cx="10058400" cy="256032"/>
          </a:xfrm>
          <a:prstGeom prst="rect">
            <a:avLst/>
          </a:prstGeom>
          <a:noFill/>
          <a:ln/>
        </p:spPr>
        <p:txBody>
          <a:bodyPr wrap="square" lIns="0" tIns="0" rIns="0" bIns="0" rtlCol="0" anchor="ctr"/>
          <a:lstStyle/>
          <a:p>
            <a:pPr indent="0" marL="0">
              <a:buNone/>
            </a:pPr>
            <a:r>
              <a:rPr lang="en-US" sz="1100" b="1" spc="400" kern="0" dirty="0">
                <a:solidFill>
                  <a:srgbClr val="2F8F82"/>
                </a:solidFill>
                <a:latin typeface="Calibri" pitchFamily="34" charset="0"/>
                <a:ea typeface="Calibri" pitchFamily="34" charset="-122"/>
                <a:cs typeface="Calibri" pitchFamily="34" charset="-120"/>
              </a:rPr>
              <a:t>09 · DIAGNOSIS</a:t>
            </a:r>
            <a:endParaRPr lang="en-US" sz="1100" dirty="0"/>
          </a:p>
        </p:txBody>
      </p:sp>
      <p:sp>
        <p:nvSpPr>
          <p:cNvPr id="5" name="Text 3"/>
          <p:cNvSpPr txBox="1"/>
          <p:nvPr/>
        </p:nvSpPr>
        <p:spPr>
          <a:xfrm>
            <a:off x="502920" y="1078992"/>
            <a:ext cx="11155680" cy="731520"/>
          </a:xfrm>
          <a:prstGeom prst="rect">
            <a:avLst/>
          </a:prstGeom>
          <a:noFill/>
          <a:ln/>
        </p:spPr>
        <p:txBody>
          <a:bodyPr wrap="square" lIns="0" tIns="0" rIns="0" bIns="0" rtlCol="0" anchor="ctr"/>
          <a:lstStyle/>
          <a:p>
            <a:pPr indent="0" marL="0">
              <a:buNone/>
            </a:pPr>
            <a:r>
              <a:rPr lang="en-US" sz="3000" dirty="0">
                <a:solidFill>
                  <a:srgbClr val="1B1E22"/>
                </a:solidFill>
                <a:latin typeface="Arial Black" pitchFamily="34" charset="0"/>
                <a:ea typeface="Arial Black" pitchFamily="34" charset="-122"/>
                <a:cs typeface="Arial Black" pitchFamily="34" charset="-120"/>
              </a:rPr>
              <a:t>SHAP diagnosis — the structural void</a:t>
            </a:r>
            <a:endParaRPr lang="en-US" sz="3000" dirty="0"/>
          </a:p>
        </p:txBody>
      </p:sp>
      <p:sp>
        <p:nvSpPr>
          <p:cNvPr id="6" name="Text 4"/>
          <p:cNvSpPr txBox="1"/>
          <p:nvPr/>
        </p:nvSpPr>
        <p:spPr>
          <a:xfrm>
            <a:off x="548640" y="1783080"/>
            <a:ext cx="10881360" cy="548640"/>
          </a:xfrm>
          <a:prstGeom prst="rect">
            <a:avLst/>
          </a:prstGeom>
          <a:noFill/>
          <a:ln/>
        </p:spPr>
        <p:txBody>
          <a:bodyPr wrap="square" lIns="0" tIns="0" rIns="0" bIns="0" rtlCol="0" anchor="ctr"/>
          <a:lstStyle/>
          <a:p>
            <a:pPr indent="0" marL="0">
              <a:lnSpc>
                <a:spcPct val="105000"/>
              </a:lnSpc>
              <a:buNone/>
            </a:pPr>
            <a:r>
              <a:rPr lang="en-US" sz="1550" dirty="0">
                <a:solidFill>
                  <a:srgbClr val="3A3F46"/>
                </a:solidFill>
                <a:latin typeface="Calibri" pitchFamily="34" charset="0"/>
                <a:ea typeface="Calibri" pitchFamily="34" charset="-122"/>
                <a:cs typeface="Calibri" pitchFamily="34" charset="-120"/>
              </a:rPr>
              <a:t>Where the EMBER model spends attention on the evasive malware it misses (mean |SHAP| by feature family).</a:t>
            </a:r>
            <a:endParaRPr lang="en-US" sz="1550" dirty="0"/>
          </a:p>
        </p:txBody>
      </p:sp>
      <p:graphicFrame>
        <p:nvGraphicFramePr>
          <p:cNvPr id="7" name="Chart 0" descr=""/>
          <p:cNvGraphicFramePr/>
          <p:nvPr/>
        </p:nvGraphicFramePr>
        <p:xfrm>
          <a:off x="502920" y="2514600"/>
          <a:ext cx="7040880" cy="3977640"/>
        </p:xfrm>
        <a:graphic xmlns:a="http://schemas.openxmlformats.org/drawingml/2006/main">
          <a:graphicData uri="http://schemas.openxmlformats.org/drawingml/2006/chart">
            <c:chart xmlns:c="http://schemas.openxmlformats.org/drawingml/2006/chart" r:id="rId2"/>
          </a:graphicData>
        </a:graphic>
      </p:graphicFrame>
      <p:sp>
        <p:nvSpPr>
          <p:cNvPr id="8" name="Text 5"/>
          <p:cNvSpPr txBox="1"/>
          <p:nvPr/>
        </p:nvSpPr>
        <p:spPr>
          <a:xfrm>
            <a:off x="7909560" y="2651760"/>
            <a:ext cx="3931920" cy="822960"/>
          </a:xfrm>
          <a:prstGeom prst="rect">
            <a:avLst/>
          </a:prstGeom>
          <a:noFill/>
          <a:ln/>
        </p:spPr>
        <p:txBody>
          <a:bodyPr wrap="square" lIns="0" tIns="0" rIns="0" bIns="0" rtlCol="0" anchor="ctr"/>
          <a:lstStyle/>
          <a:p>
            <a:pPr indent="0" marL="0">
              <a:buNone/>
            </a:pPr>
            <a:r>
              <a:rPr lang="en-US" sz="3800" dirty="0">
                <a:solidFill>
                  <a:srgbClr val="B4473F"/>
                </a:solidFill>
                <a:latin typeface="Arial Black" pitchFamily="34" charset="0"/>
                <a:ea typeface="Arial Black" pitchFamily="34" charset="-122"/>
                <a:cs typeface="Arial Black" pitchFamily="34" charset="-120"/>
              </a:rPr>
              <a:t>~0%</a:t>
            </a:r>
            <a:endParaRPr lang="en-US" sz="3800" dirty="0"/>
          </a:p>
        </p:txBody>
      </p:sp>
      <p:sp>
        <p:nvSpPr>
          <p:cNvPr id="9" name="Text 6"/>
          <p:cNvSpPr txBox="1"/>
          <p:nvPr/>
        </p:nvSpPr>
        <p:spPr>
          <a:xfrm>
            <a:off x="7909560" y="3438144"/>
            <a:ext cx="3931920" cy="603504"/>
          </a:xfrm>
          <a:prstGeom prst="rect">
            <a:avLst/>
          </a:prstGeom>
          <a:noFill/>
          <a:ln/>
        </p:spPr>
        <p:txBody>
          <a:bodyPr wrap="square" lIns="0" tIns="0" rIns="0" bIns="0" rtlCol="0" anchor="t"/>
          <a:lstStyle/>
          <a:p>
            <a:pPr indent="0" marL="0">
              <a:lnSpc>
                <a:spcPct val="105000"/>
              </a:lnSpc>
              <a:buNone/>
            </a:pPr>
            <a:r>
              <a:rPr lang="en-US" sz="1250" dirty="0">
                <a:solidFill>
                  <a:srgbClr val="6B7178"/>
                </a:solidFill>
                <a:latin typeface="Calibri" pitchFamily="34" charset="0"/>
                <a:ea typeface="Calibri" pitchFamily="34" charset="-122"/>
                <a:cs typeface="Calibri" pitchFamily="34" charset="-120"/>
              </a:rPr>
              <a:t>attention on structure</a:t>
            </a:r>
            <a:endParaRPr lang="en-US" sz="1250" dirty="0"/>
          </a:p>
        </p:txBody>
      </p:sp>
      <p:sp>
        <p:nvSpPr>
          <p:cNvPr id="10" name="Text 7"/>
          <p:cNvSpPr txBox="1"/>
          <p:nvPr/>
        </p:nvSpPr>
        <p:spPr>
          <a:xfrm>
            <a:off x="7909560" y="4069080"/>
            <a:ext cx="3931920" cy="822960"/>
          </a:xfrm>
          <a:prstGeom prst="rect">
            <a:avLst/>
          </a:prstGeom>
          <a:noFill/>
          <a:ln/>
        </p:spPr>
        <p:txBody>
          <a:bodyPr wrap="square" lIns="0" tIns="0" rIns="0" bIns="0" rtlCol="0" anchor="ctr"/>
          <a:lstStyle/>
          <a:p>
            <a:pPr indent="0" marL="0">
              <a:buNone/>
            </a:pPr>
            <a:r>
              <a:rPr lang="en-US" sz="3800" dirty="0">
                <a:solidFill>
                  <a:srgbClr val="3A3F46"/>
                </a:solidFill>
                <a:latin typeface="Arial Black" pitchFamily="34" charset="0"/>
                <a:ea typeface="Arial Black" pitchFamily="34" charset="-122"/>
                <a:cs typeface="Arial Black" pitchFamily="34" charset="-120"/>
              </a:rPr>
              <a:t>~60%</a:t>
            </a:r>
            <a:endParaRPr lang="en-US" sz="3800" dirty="0"/>
          </a:p>
        </p:txBody>
      </p:sp>
      <p:sp>
        <p:nvSpPr>
          <p:cNvPr id="11" name="Text 8"/>
          <p:cNvSpPr txBox="1"/>
          <p:nvPr/>
        </p:nvSpPr>
        <p:spPr>
          <a:xfrm>
            <a:off x="7909560" y="4855464"/>
            <a:ext cx="3931920" cy="603504"/>
          </a:xfrm>
          <a:prstGeom prst="rect">
            <a:avLst/>
          </a:prstGeom>
          <a:noFill/>
          <a:ln/>
        </p:spPr>
        <p:txBody>
          <a:bodyPr wrap="square" lIns="0" tIns="0" rIns="0" bIns="0" rtlCol="0" anchor="t"/>
          <a:lstStyle/>
          <a:p>
            <a:pPr indent="0" marL="0">
              <a:lnSpc>
                <a:spcPct val="105000"/>
              </a:lnSpc>
              <a:buNone/>
            </a:pPr>
            <a:r>
              <a:rPr lang="en-US" sz="1250" dirty="0">
                <a:solidFill>
                  <a:srgbClr val="6B7178"/>
                </a:solidFill>
                <a:latin typeface="Calibri" pitchFamily="34" charset="0"/>
                <a:ea typeface="Calibri" pitchFamily="34" charset="-122"/>
                <a:cs typeface="Calibri" pitchFamily="34" charset="-120"/>
              </a:rPr>
              <a:t>on string statistics</a:t>
            </a:r>
            <a:endParaRPr lang="en-US" sz="1250" dirty="0"/>
          </a:p>
        </p:txBody>
      </p:sp>
      <p:sp>
        <p:nvSpPr>
          <p:cNvPr id="12" name="Text 9"/>
          <p:cNvSpPr txBox="1"/>
          <p:nvPr/>
        </p:nvSpPr>
        <p:spPr>
          <a:xfrm>
            <a:off x="7909560" y="5486400"/>
            <a:ext cx="3931920" cy="822960"/>
          </a:xfrm>
          <a:prstGeom prst="rect">
            <a:avLst/>
          </a:prstGeom>
          <a:noFill/>
          <a:ln/>
        </p:spPr>
        <p:txBody>
          <a:bodyPr wrap="square" lIns="0" tIns="0" rIns="0" bIns="0" rtlCol="0" anchor="ctr"/>
          <a:lstStyle/>
          <a:p>
            <a:pPr indent="0" marL="0">
              <a:buNone/>
            </a:pPr>
            <a:r>
              <a:rPr lang="en-US" sz="3800" dirty="0">
                <a:solidFill>
                  <a:srgbClr val="C08A2E"/>
                </a:solidFill>
                <a:latin typeface="Arial Black" pitchFamily="34" charset="0"/>
                <a:ea typeface="Arial Black" pitchFamily="34" charset="-122"/>
                <a:cs typeface="Arial Black" pitchFamily="34" charset="-120"/>
              </a:rPr>
              <a:t>≈</a:t>
            </a:r>
            <a:endParaRPr lang="en-US" sz="3800" dirty="0"/>
          </a:p>
        </p:txBody>
      </p:sp>
      <p:sp>
        <p:nvSpPr>
          <p:cNvPr id="13" name="Text 10"/>
          <p:cNvSpPr txBox="1"/>
          <p:nvPr/>
        </p:nvSpPr>
        <p:spPr>
          <a:xfrm>
            <a:off x="7909560" y="6272784"/>
            <a:ext cx="3931920" cy="603504"/>
          </a:xfrm>
          <a:prstGeom prst="rect">
            <a:avLst/>
          </a:prstGeom>
          <a:noFill/>
          <a:ln/>
        </p:spPr>
        <p:txBody>
          <a:bodyPr wrap="square" lIns="0" tIns="0" rIns="0" bIns="0" rtlCol="0" anchor="t"/>
          <a:lstStyle/>
          <a:p>
            <a:pPr indent="0" marL="0">
              <a:lnSpc>
                <a:spcPct val="105000"/>
              </a:lnSpc>
              <a:buNone/>
            </a:pPr>
            <a:r>
              <a:rPr lang="en-US" sz="1250" dirty="0">
                <a:solidFill>
                  <a:srgbClr val="6B7178"/>
                </a:solidFill>
                <a:latin typeface="Calibri" pitchFamily="34" charset="0"/>
                <a:ea typeface="Calibri" pitchFamily="34" charset="-122"/>
                <a:cs typeface="Calibri" pitchFamily="34" charset="-120"/>
              </a:rPr>
              <a:t>missed looks like caught</a:t>
            </a:r>
            <a:endParaRPr lang="en-US" sz="1250" dirty="0"/>
          </a:p>
        </p:txBody>
      </p:sp>
      <p:sp>
        <p:nvSpPr>
          <p:cNvPr id="14" name="Text 11"/>
          <p:cNvSpPr txBox="1"/>
          <p:nvPr/>
        </p:nvSpPr>
        <p:spPr>
          <a:xfrm>
            <a:off x="502920" y="6528816"/>
            <a:ext cx="6400800" cy="237744"/>
          </a:xfrm>
          <a:prstGeom prst="rect">
            <a:avLst/>
          </a:prstGeom>
          <a:noFill/>
          <a:ln/>
        </p:spPr>
        <p:txBody>
          <a:bodyPr wrap="square" lIns="0" tIns="0" rIns="0" bIns="0" rtlCol="0" anchor="ctr"/>
          <a:lstStyle/>
          <a:p>
            <a:pPr indent="0" marL="0">
              <a:buNone/>
            </a:pPr>
            <a:r>
              <a:rPr lang="en-US" sz="850" spc="150" kern="0" dirty="0">
                <a:solidFill>
                  <a:srgbClr val="9AA0A8"/>
                </a:solidFill>
                <a:latin typeface="Calibri" pitchFamily="34" charset="0"/>
                <a:ea typeface="Calibri" pitchFamily="34" charset="-122"/>
                <a:cs typeface="Calibri" pitchFamily="34" charset="-120"/>
              </a:rPr>
              <a:t>PDFSentry · Reachability over Recognition</a:t>
            </a:r>
            <a:endParaRPr lang="en-US" sz="850" dirty="0"/>
          </a:p>
        </p:txBody>
      </p:sp>
      <p:sp>
        <p:nvSpPr>
          <p:cNvPr id="15" name="Text 12"/>
          <p:cNvSpPr txBox="1"/>
          <p:nvPr/>
        </p:nvSpPr>
        <p:spPr>
          <a:xfrm>
            <a:off x="11323015" y="6510528"/>
            <a:ext cx="457200" cy="256032"/>
          </a:xfrm>
          <a:prstGeom prst="rect">
            <a:avLst/>
          </a:prstGeom>
          <a:noFill/>
          <a:ln/>
        </p:spPr>
        <p:txBody>
          <a:bodyPr wrap="square" lIns="0" tIns="0" rIns="0" bIns="0" rtlCol="0" anchor="ctr"/>
          <a:lstStyle/>
          <a:p>
            <a:pPr algn="r" indent="0" marL="0">
              <a:buNone/>
            </a:pPr>
            <a:r>
              <a:rPr lang="en-US" sz="950" b="1" dirty="0">
                <a:solidFill>
                  <a:srgbClr val="6B7178"/>
                </a:solidFill>
                <a:latin typeface="Calibri" pitchFamily="34" charset="0"/>
                <a:ea typeface="Calibri" pitchFamily="34" charset="-122"/>
                <a:cs typeface="Calibri" pitchFamily="34" charset="-120"/>
              </a:rPr>
              <a:t>10</a:t>
            </a:r>
            <a:endParaRPr lang="en-US" sz="9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502920" y="292608"/>
            <a:ext cx="4572000" cy="274320"/>
          </a:xfrm>
          <a:prstGeom prst="rect">
            <a:avLst/>
          </a:prstGeom>
          <a:noFill/>
          <a:ln/>
        </p:spPr>
        <p:txBody>
          <a:bodyPr wrap="square" lIns="0" tIns="0" rIns="0" bIns="0" rtlCol="0" anchor="ctr"/>
          <a:lstStyle/>
          <a:p>
            <a:pPr indent="0" marL="0">
              <a:buNone/>
            </a:pPr>
            <a:r>
              <a:rPr lang="en-US" sz="1100" b="1" spc="400" kern="0" dirty="0">
                <a:solidFill>
                  <a:srgbClr val="6B7178"/>
                </a:solidFill>
                <a:latin typeface="Calibri" pitchFamily="34" charset="0"/>
                <a:ea typeface="Calibri" pitchFamily="34" charset="-122"/>
                <a:cs typeface="Calibri" pitchFamily="34" charset="-120"/>
              </a:rPr>
              <a:t>PDFSENTRY</a:t>
            </a:r>
            <a:endParaRPr lang="en-US" sz="1100" dirty="0"/>
          </a:p>
        </p:txBody>
      </p:sp>
      <p:sp>
        <p:nvSpPr>
          <p:cNvPr id="3" name="Text 1"/>
          <p:cNvSpPr txBox="1"/>
          <p:nvPr/>
        </p:nvSpPr>
        <p:spPr>
          <a:xfrm>
            <a:off x="6659575" y="292608"/>
            <a:ext cx="5029200" cy="274320"/>
          </a:xfrm>
          <a:prstGeom prst="rect">
            <a:avLst/>
          </a:prstGeom>
          <a:noFill/>
          <a:ln/>
        </p:spPr>
        <p:txBody>
          <a:bodyPr wrap="square" lIns="0" tIns="0" rIns="0" bIns="0" rtlCol="0" anchor="ctr"/>
          <a:lstStyle/>
          <a:p>
            <a:pPr algn="r" indent="0" marL="0">
              <a:buNone/>
            </a:pPr>
            <a:r>
              <a:rPr lang="en-US" sz="1100" spc="300" kern="0" dirty="0">
                <a:solidFill>
                  <a:srgbClr val="6B7178"/>
                </a:solidFill>
                <a:latin typeface="Calibri" pitchFamily="34" charset="0"/>
                <a:ea typeface="Calibri" pitchFamily="34" charset="-122"/>
                <a:cs typeface="Calibri" pitchFamily="34" charset="-120"/>
              </a:rPr>
              <a:t>REVIEW 3 · FINAL</a:t>
            </a:r>
            <a:endParaRPr lang="en-US" sz="1100" dirty="0"/>
          </a:p>
        </p:txBody>
      </p:sp>
      <p:sp>
        <p:nvSpPr>
          <p:cNvPr id="4" name="Text 2"/>
          <p:cNvSpPr txBox="1"/>
          <p:nvPr/>
        </p:nvSpPr>
        <p:spPr>
          <a:xfrm>
            <a:off x="512064" y="786384"/>
            <a:ext cx="10058400" cy="256032"/>
          </a:xfrm>
          <a:prstGeom prst="rect">
            <a:avLst/>
          </a:prstGeom>
          <a:noFill/>
          <a:ln/>
        </p:spPr>
        <p:txBody>
          <a:bodyPr wrap="square" lIns="0" tIns="0" rIns="0" bIns="0" rtlCol="0" anchor="ctr"/>
          <a:lstStyle/>
          <a:p>
            <a:pPr indent="0" marL="0">
              <a:buNone/>
            </a:pPr>
            <a:r>
              <a:rPr lang="en-US" sz="1100" b="1" spc="400" kern="0" dirty="0">
                <a:solidFill>
                  <a:srgbClr val="2F8F82"/>
                </a:solidFill>
                <a:latin typeface="Calibri" pitchFamily="34" charset="0"/>
                <a:ea typeface="Calibri" pitchFamily="34" charset="-122"/>
                <a:cs typeface="Calibri" pitchFamily="34" charset="-120"/>
              </a:rPr>
              <a:t>10 · REAL-MALWARE EVIDENCE</a:t>
            </a:r>
            <a:endParaRPr lang="en-US" sz="1100" dirty="0"/>
          </a:p>
        </p:txBody>
      </p:sp>
      <p:sp>
        <p:nvSpPr>
          <p:cNvPr id="5" name="Text 3"/>
          <p:cNvSpPr txBox="1"/>
          <p:nvPr/>
        </p:nvSpPr>
        <p:spPr>
          <a:xfrm>
            <a:off x="502920" y="1078992"/>
            <a:ext cx="11155680" cy="731520"/>
          </a:xfrm>
          <a:prstGeom prst="rect">
            <a:avLst/>
          </a:prstGeom>
          <a:noFill/>
          <a:ln/>
        </p:spPr>
        <p:txBody>
          <a:bodyPr wrap="square" lIns="0" tIns="0" rIns="0" bIns="0" rtlCol="0" anchor="ctr"/>
          <a:lstStyle/>
          <a:p>
            <a:pPr indent="0" marL="0">
              <a:buNone/>
            </a:pPr>
            <a:r>
              <a:rPr lang="en-US" sz="3200" dirty="0">
                <a:solidFill>
                  <a:srgbClr val="1B1E22"/>
                </a:solidFill>
                <a:latin typeface="Arial Black" pitchFamily="34" charset="0"/>
                <a:ea typeface="Arial Black" pitchFamily="34" charset="-122"/>
                <a:cs typeface="Arial Black" pitchFamily="34" charset="-120"/>
              </a:rPr>
              <a:t>Real evasive malware — the compression signature</a:t>
            </a:r>
            <a:endParaRPr lang="en-US" sz="3200" dirty="0"/>
          </a:p>
        </p:txBody>
      </p:sp>
      <p:sp>
        <p:nvSpPr>
          <p:cNvPr id="6" name="Text 4"/>
          <p:cNvSpPr txBox="1"/>
          <p:nvPr/>
        </p:nvSpPr>
        <p:spPr>
          <a:xfrm>
            <a:off x="548640" y="1783080"/>
            <a:ext cx="10881360" cy="548640"/>
          </a:xfrm>
          <a:prstGeom prst="rect">
            <a:avLst/>
          </a:prstGeom>
          <a:noFill/>
          <a:ln/>
        </p:spPr>
        <p:txBody>
          <a:bodyPr wrap="square" lIns="0" tIns="0" rIns="0" bIns="0" rtlCol="0" anchor="ctr"/>
          <a:lstStyle/>
          <a:p>
            <a:pPr indent="0" marL="0">
              <a:lnSpc>
                <a:spcPct val="105000"/>
              </a:lnSpc>
              <a:buNone/>
            </a:pPr>
            <a:r>
              <a:rPr lang="en-US" sz="1550" dirty="0">
                <a:solidFill>
                  <a:srgbClr val="3A3F46"/>
                </a:solidFill>
                <a:latin typeface="Calibri" pitchFamily="34" charset="0"/>
                <a:ea typeface="Calibri" pitchFamily="34" charset="-122"/>
                <a:cs typeface="Calibri" pitchFamily="34" charset="-120"/>
              </a:rPr>
              <a:t>On real malware, the samples EMBER misses carry a measurable structural-concealment fingerprint.</a:t>
            </a:r>
            <a:endParaRPr lang="en-US" sz="1550" dirty="0"/>
          </a:p>
        </p:txBody>
      </p:sp>
      <p:sp>
        <p:nvSpPr>
          <p:cNvPr id="7" name="Text 5"/>
          <p:cNvSpPr txBox="1"/>
          <p:nvPr/>
        </p:nvSpPr>
        <p:spPr>
          <a:xfrm>
            <a:off x="566928" y="2423160"/>
            <a:ext cx="10881360" cy="2788920"/>
          </a:xfrm>
          <a:prstGeom prst="rect">
            <a:avLst/>
          </a:prstGeom>
          <a:noFill/>
          <a:ln/>
        </p:spPr>
        <p:txBody>
          <a:bodyPr wrap="square" lIns="0" tIns="0" rIns="0" bIns="0" rtlCol="0" anchor="t"/>
          <a:lstStyle/>
          <a:p>
            <a:pPr marL="342900" indent="-342900">
              <a:lnSpc>
                <a:spcPct val="118000"/>
              </a:lnSpc>
              <a:buSzPct val="100000"/>
              <a:buChar char="•"/>
            </a:pPr>
            <a:r>
              <a:rPr lang="en-US" sz="1600" b="1" dirty="0">
                <a:solidFill>
                  <a:srgbClr val="1B1E22"/>
                </a:solidFill>
                <a:latin typeface="Calibri" pitchFamily="34" charset="0"/>
                <a:ea typeface="Calibri" pitchFamily="34" charset="-122"/>
                <a:cs typeface="Calibri" pitchFamily="34" charset="-120"/>
              </a:rPr>
              <a:t>Confound-free  </a:t>
            </a:r>
            <a:pPr indent="0" marL="0">
              <a:lnSpc>
                <a:spcPct val="118000"/>
              </a:lnSpc>
              <a:spcAft>
                <a:spcPts val="1300"/>
              </a:spcAft>
              <a:buNone/>
            </a:pPr>
            <a:r>
              <a:rPr lang="en-US" sz="1600" dirty="0">
                <a:solidFill>
                  <a:srgbClr val="3A3F46"/>
                </a:solidFill>
                <a:latin typeface="Calibri" pitchFamily="34" charset="0"/>
                <a:ea typeface="Calibri" pitchFamily="34" charset="-122"/>
                <a:cs typeface="Calibri" pitchFamily="34" charset="-120"/>
              </a:rPr>
              <a:t>Measured directly on the 805 real challenge PDFs using EMBER’s own released features — no new tooling, no execution.</a:t>
            </a:r>
            <a:endParaRPr lang="en-US" sz="1600" dirty="0"/>
          </a:p>
          <a:p>
            <a:pPr marL="342900" indent="-342900">
              <a:lnSpc>
                <a:spcPct val="118000"/>
              </a:lnSpc>
              <a:buSzPct val="100000"/>
              <a:buChar char="•"/>
            </a:pPr>
            <a:r>
              <a:rPr lang="en-US" sz="1600" b="1" dirty="0">
                <a:solidFill>
                  <a:srgbClr val="1B1E22"/>
                </a:solidFill>
                <a:latin typeface="Calibri" pitchFamily="34" charset="0"/>
                <a:ea typeface="Calibri" pitchFamily="34" charset="-122"/>
                <a:cs typeface="Calibri" pitchFamily="34" charset="-120"/>
              </a:rPr>
              <a:t>Misses are compressed  </a:t>
            </a:r>
            <a:pPr indent="0" marL="0">
              <a:lnSpc>
                <a:spcPct val="118000"/>
              </a:lnSpc>
              <a:spcAft>
                <a:spcPts val="1300"/>
              </a:spcAft>
              <a:buNone/>
            </a:pPr>
            <a:r>
              <a:rPr lang="en-US" sz="1600" dirty="0">
                <a:solidFill>
                  <a:srgbClr val="3A3F46"/>
                </a:solidFill>
                <a:latin typeface="Calibri" pitchFamily="34" charset="0"/>
                <a:ea typeface="Calibri" pitchFamily="34" charset="-122"/>
                <a:cs typeface="Calibri" pitchFamily="34" charset="-120"/>
              </a:rPr>
              <a:t>Missed malware has a median /FlateDecode count of 12 vs 7 for caught malware (Mann-Whitney p &lt; 10⁻¹⁵).</a:t>
            </a:r>
            <a:endParaRPr lang="en-US" sz="1600" dirty="0"/>
          </a:p>
          <a:p>
            <a:pPr marL="342900" indent="-342900">
              <a:lnSpc>
                <a:spcPct val="118000"/>
              </a:lnSpc>
              <a:buSzPct val="100000"/>
              <a:buChar char="•"/>
            </a:pPr>
            <a:r>
              <a:rPr lang="en-US" sz="1600" b="1" dirty="0">
                <a:solidFill>
                  <a:srgbClr val="1B1E22"/>
                </a:solidFill>
                <a:latin typeface="Calibri" pitchFamily="34" charset="0"/>
                <a:ea typeface="Calibri" pitchFamily="34" charset="-122"/>
                <a:cs typeface="Calibri" pitchFamily="34" charset="-120"/>
              </a:rPr>
              <a:t>Higher entropy, larger  </a:t>
            </a:r>
            <a:pPr indent="0" marL="0">
              <a:lnSpc>
                <a:spcPct val="118000"/>
              </a:lnSpc>
              <a:spcAft>
                <a:spcPts val="1300"/>
              </a:spcAft>
              <a:buNone/>
            </a:pPr>
            <a:r>
              <a:rPr lang="en-US" sz="1600" dirty="0">
                <a:solidFill>
                  <a:srgbClr val="3A3F46"/>
                </a:solidFill>
                <a:latin typeface="Calibri" pitchFamily="34" charset="0"/>
                <a:ea typeface="Calibri" pitchFamily="34" charset="-122"/>
                <a:cs typeface="Calibri" pitchFamily="34" charset="-120"/>
              </a:rPr>
              <a:t>Byte entropy 7.93 vs 7.87 (p &lt; 10⁻⁶) and file size 143.6 KB vs 75.8 KB (p &lt; 10⁻¹⁹).</a:t>
            </a:r>
            <a:endParaRPr lang="en-US" sz="1600" dirty="0"/>
          </a:p>
          <a:p>
            <a:pPr marL="342900" indent="-342900">
              <a:lnSpc>
                <a:spcPct val="118000"/>
              </a:lnSpc>
              <a:buSzPct val="100000"/>
              <a:buChar char="•"/>
            </a:pPr>
            <a:r>
              <a:rPr lang="en-US" sz="1600" b="1" dirty="0">
                <a:solidFill>
                  <a:srgbClr val="1B1E22"/>
                </a:solidFill>
                <a:latin typeface="Calibri" pitchFamily="34" charset="0"/>
                <a:ea typeface="Calibri" pitchFamily="34" charset="-122"/>
                <a:cs typeface="Calibri" pitchFamily="34" charset="-120"/>
              </a:rPr>
              <a:t>The mechanism  </a:t>
            </a:r>
            <a:pPr indent="0" marL="0">
              <a:lnSpc>
                <a:spcPct val="118000"/>
              </a:lnSpc>
              <a:spcAft>
                <a:spcPts val="1300"/>
              </a:spcAft>
              <a:buNone/>
            </a:pPr>
            <a:r>
              <a:rPr lang="en-US" sz="1600" dirty="0">
                <a:solidFill>
                  <a:srgbClr val="3A3F46"/>
                </a:solidFill>
                <a:latin typeface="Calibri" pitchFamily="34" charset="0"/>
                <a:ea typeface="Calibri" pitchFamily="34" charset="-122"/>
                <a:cs typeface="Calibri" pitchFamily="34" charset="-120"/>
              </a:rPr>
              <a:t>EMBER’s blind spot aligns exactly with structural concealment — the thing reachability is built to see.</a:t>
            </a:r>
            <a:endParaRPr lang="en-US" sz="1600" dirty="0"/>
          </a:p>
        </p:txBody>
      </p:sp>
      <p:sp>
        <p:nvSpPr>
          <p:cNvPr id="8" name="Shape 6"/>
          <p:cNvSpPr/>
          <p:nvPr/>
        </p:nvSpPr>
        <p:spPr>
          <a:xfrm>
            <a:off x="548640" y="5074920"/>
            <a:ext cx="3383280" cy="1097280"/>
          </a:xfrm>
          <a:prstGeom prst="roundRect">
            <a:avLst>
              <a:gd name="adj" fmla="val 5833"/>
            </a:avLst>
          </a:prstGeom>
          <a:solidFill>
            <a:srgbClr val="EEF0F2"/>
          </a:solidFill>
          <a:ln w="9525">
            <a:solidFill>
              <a:srgbClr val="CED2D8"/>
            </a:solidFill>
            <a:prstDash val="solid"/>
          </a:ln>
          <a:effectLst>
            <a:outerShdw sx="100000" sy="100000" kx="0" ky="0" algn="bl" rotWithShape="0" blurRad="101600" dist="38100" dir="5400000">
              <a:srgbClr val="9aa0a8">
                <a:alpha val="30000"/>
              </a:srgbClr>
            </a:outerShdw>
          </a:effectLst>
        </p:spPr>
      </p:sp>
      <p:sp>
        <p:nvSpPr>
          <p:cNvPr id="9" name="Text 7"/>
          <p:cNvSpPr txBox="1"/>
          <p:nvPr/>
        </p:nvSpPr>
        <p:spPr>
          <a:xfrm>
            <a:off x="804672" y="5230368"/>
            <a:ext cx="2871216" cy="548640"/>
          </a:xfrm>
          <a:prstGeom prst="rect">
            <a:avLst/>
          </a:prstGeom>
          <a:noFill/>
          <a:ln/>
        </p:spPr>
        <p:txBody>
          <a:bodyPr wrap="square" lIns="0" tIns="0" rIns="0" bIns="0" rtlCol="0" anchor="ctr"/>
          <a:lstStyle/>
          <a:p>
            <a:pPr indent="0" marL="0">
              <a:buNone/>
            </a:pPr>
            <a:r>
              <a:rPr lang="en-US" sz="2700" dirty="0">
                <a:solidFill>
                  <a:srgbClr val="2F8F82"/>
                </a:solidFill>
                <a:latin typeface="Arial Black" pitchFamily="34" charset="0"/>
                <a:ea typeface="Arial Black" pitchFamily="34" charset="-122"/>
                <a:cs typeface="Arial Black" pitchFamily="34" charset="-120"/>
              </a:rPr>
              <a:t>12 vs 7</a:t>
            </a:r>
            <a:endParaRPr lang="en-US" sz="2700" dirty="0"/>
          </a:p>
        </p:txBody>
      </p:sp>
      <p:sp>
        <p:nvSpPr>
          <p:cNvPr id="10" name="Text 8"/>
          <p:cNvSpPr txBox="1"/>
          <p:nvPr/>
        </p:nvSpPr>
        <p:spPr>
          <a:xfrm>
            <a:off x="804672" y="5769864"/>
            <a:ext cx="2871216" cy="365760"/>
          </a:xfrm>
          <a:prstGeom prst="rect">
            <a:avLst/>
          </a:prstGeom>
          <a:noFill/>
          <a:ln/>
        </p:spPr>
        <p:txBody>
          <a:bodyPr wrap="square" lIns="0" tIns="0" rIns="0" bIns="0" rtlCol="0" anchor="ctr"/>
          <a:lstStyle/>
          <a:p>
            <a:pPr indent="0" marL="0">
              <a:lnSpc>
                <a:spcPct val="100000"/>
              </a:lnSpc>
              <a:buNone/>
            </a:pPr>
            <a:r>
              <a:rPr lang="en-US" sz="1050" dirty="0">
                <a:solidFill>
                  <a:srgbClr val="6B7178"/>
                </a:solidFill>
                <a:latin typeface="Calibri" pitchFamily="34" charset="0"/>
                <a:ea typeface="Calibri" pitchFamily="34" charset="-122"/>
                <a:cs typeface="Calibri" pitchFamily="34" charset="-120"/>
              </a:rPr>
              <a:t>/FlateDecode: missed vs caught</a:t>
            </a:r>
            <a:endParaRPr lang="en-US" sz="1050" dirty="0"/>
          </a:p>
        </p:txBody>
      </p:sp>
      <p:sp>
        <p:nvSpPr>
          <p:cNvPr id="11" name="Shape 9"/>
          <p:cNvSpPr/>
          <p:nvPr/>
        </p:nvSpPr>
        <p:spPr>
          <a:xfrm>
            <a:off x="4297680" y="5074920"/>
            <a:ext cx="3383280" cy="1097280"/>
          </a:xfrm>
          <a:prstGeom prst="roundRect">
            <a:avLst>
              <a:gd name="adj" fmla="val 5833"/>
            </a:avLst>
          </a:prstGeom>
          <a:solidFill>
            <a:srgbClr val="EEF0F2"/>
          </a:solidFill>
          <a:ln w="9525">
            <a:solidFill>
              <a:srgbClr val="CED2D8"/>
            </a:solidFill>
            <a:prstDash val="solid"/>
          </a:ln>
          <a:effectLst>
            <a:outerShdw sx="100000" sy="100000" kx="0" ky="0" algn="bl" rotWithShape="0" blurRad="101600" dist="38100" dir="5400000">
              <a:srgbClr val="9aa0a8">
                <a:alpha val="30000"/>
              </a:srgbClr>
            </a:outerShdw>
          </a:effectLst>
        </p:spPr>
      </p:sp>
      <p:sp>
        <p:nvSpPr>
          <p:cNvPr id="12" name="Text 10"/>
          <p:cNvSpPr txBox="1"/>
          <p:nvPr/>
        </p:nvSpPr>
        <p:spPr>
          <a:xfrm>
            <a:off x="4553712" y="5230368"/>
            <a:ext cx="2871216" cy="548640"/>
          </a:xfrm>
          <a:prstGeom prst="rect">
            <a:avLst/>
          </a:prstGeom>
          <a:noFill/>
          <a:ln/>
        </p:spPr>
        <p:txBody>
          <a:bodyPr wrap="square" lIns="0" tIns="0" rIns="0" bIns="0" rtlCol="0" anchor="ctr"/>
          <a:lstStyle/>
          <a:p>
            <a:pPr indent="0" marL="0">
              <a:buNone/>
            </a:pPr>
            <a:r>
              <a:rPr lang="en-US" sz="2700" dirty="0">
                <a:solidFill>
                  <a:srgbClr val="1B1E22"/>
                </a:solidFill>
                <a:latin typeface="Arial Black" pitchFamily="34" charset="0"/>
                <a:ea typeface="Arial Black" pitchFamily="34" charset="-122"/>
                <a:cs typeface="Arial Black" pitchFamily="34" charset="-120"/>
              </a:rPr>
              <a:t>p &lt; 10⁻¹⁵</a:t>
            </a:r>
            <a:endParaRPr lang="en-US" sz="2700" dirty="0"/>
          </a:p>
        </p:txBody>
      </p:sp>
      <p:sp>
        <p:nvSpPr>
          <p:cNvPr id="13" name="Text 11"/>
          <p:cNvSpPr txBox="1"/>
          <p:nvPr/>
        </p:nvSpPr>
        <p:spPr>
          <a:xfrm>
            <a:off x="4553712" y="5769864"/>
            <a:ext cx="2871216" cy="365760"/>
          </a:xfrm>
          <a:prstGeom prst="rect">
            <a:avLst/>
          </a:prstGeom>
          <a:noFill/>
          <a:ln/>
        </p:spPr>
        <p:txBody>
          <a:bodyPr wrap="square" lIns="0" tIns="0" rIns="0" bIns="0" rtlCol="0" anchor="ctr"/>
          <a:lstStyle/>
          <a:p>
            <a:pPr indent="0" marL="0">
              <a:lnSpc>
                <a:spcPct val="100000"/>
              </a:lnSpc>
              <a:buNone/>
            </a:pPr>
            <a:r>
              <a:rPr lang="en-US" sz="1050" dirty="0">
                <a:solidFill>
                  <a:srgbClr val="6B7178"/>
                </a:solidFill>
                <a:latin typeface="Calibri" pitchFamily="34" charset="0"/>
                <a:ea typeface="Calibri" pitchFamily="34" charset="-122"/>
                <a:cs typeface="Calibri" pitchFamily="34" charset="-120"/>
              </a:rPr>
              <a:t>statistical significance</a:t>
            </a:r>
            <a:endParaRPr lang="en-US" sz="1050" dirty="0"/>
          </a:p>
        </p:txBody>
      </p:sp>
      <p:sp>
        <p:nvSpPr>
          <p:cNvPr id="14" name="Shape 12"/>
          <p:cNvSpPr/>
          <p:nvPr/>
        </p:nvSpPr>
        <p:spPr>
          <a:xfrm>
            <a:off x="8046720" y="5074920"/>
            <a:ext cx="3383280" cy="1097280"/>
          </a:xfrm>
          <a:prstGeom prst="roundRect">
            <a:avLst>
              <a:gd name="adj" fmla="val 5833"/>
            </a:avLst>
          </a:prstGeom>
          <a:solidFill>
            <a:srgbClr val="EEF0F2"/>
          </a:solidFill>
          <a:ln w="9525">
            <a:solidFill>
              <a:srgbClr val="CED2D8"/>
            </a:solidFill>
            <a:prstDash val="solid"/>
          </a:ln>
          <a:effectLst>
            <a:outerShdw sx="100000" sy="100000" kx="0" ky="0" algn="bl" rotWithShape="0" blurRad="101600" dist="38100" dir="5400000">
              <a:srgbClr val="9aa0a8">
                <a:alpha val="30000"/>
              </a:srgbClr>
            </a:outerShdw>
          </a:effectLst>
        </p:spPr>
      </p:sp>
      <p:sp>
        <p:nvSpPr>
          <p:cNvPr id="15" name="Text 13"/>
          <p:cNvSpPr txBox="1"/>
          <p:nvPr/>
        </p:nvSpPr>
        <p:spPr>
          <a:xfrm>
            <a:off x="8302752" y="5230368"/>
            <a:ext cx="2871216" cy="548640"/>
          </a:xfrm>
          <a:prstGeom prst="rect">
            <a:avLst/>
          </a:prstGeom>
          <a:noFill/>
          <a:ln/>
        </p:spPr>
        <p:txBody>
          <a:bodyPr wrap="square" lIns="0" tIns="0" rIns="0" bIns="0" rtlCol="0" anchor="ctr"/>
          <a:lstStyle/>
          <a:p>
            <a:pPr indent="0" marL="0">
              <a:buNone/>
            </a:pPr>
            <a:r>
              <a:rPr lang="en-US" sz="2700" dirty="0">
                <a:solidFill>
                  <a:srgbClr val="C08A2E"/>
                </a:solidFill>
                <a:latin typeface="Arial Black" pitchFamily="34" charset="0"/>
                <a:ea typeface="Arial Black" pitchFamily="34" charset="-122"/>
                <a:cs typeface="Arial Black" pitchFamily="34" charset="-120"/>
              </a:rPr>
              <a:t>1.9×</a:t>
            </a:r>
            <a:endParaRPr lang="en-US" sz="2700" dirty="0"/>
          </a:p>
        </p:txBody>
      </p:sp>
      <p:sp>
        <p:nvSpPr>
          <p:cNvPr id="16" name="Text 14"/>
          <p:cNvSpPr txBox="1"/>
          <p:nvPr/>
        </p:nvSpPr>
        <p:spPr>
          <a:xfrm>
            <a:off x="8302752" y="5769864"/>
            <a:ext cx="2871216" cy="365760"/>
          </a:xfrm>
          <a:prstGeom prst="rect">
            <a:avLst/>
          </a:prstGeom>
          <a:noFill/>
          <a:ln/>
        </p:spPr>
        <p:txBody>
          <a:bodyPr wrap="square" lIns="0" tIns="0" rIns="0" bIns="0" rtlCol="0" anchor="ctr"/>
          <a:lstStyle/>
          <a:p>
            <a:pPr indent="0" marL="0">
              <a:lnSpc>
                <a:spcPct val="100000"/>
              </a:lnSpc>
              <a:buNone/>
            </a:pPr>
            <a:r>
              <a:rPr lang="en-US" sz="1050" dirty="0">
                <a:solidFill>
                  <a:srgbClr val="6B7178"/>
                </a:solidFill>
                <a:latin typeface="Calibri" pitchFamily="34" charset="0"/>
                <a:ea typeface="Calibri" pitchFamily="34" charset="-122"/>
                <a:cs typeface="Calibri" pitchFamily="34" charset="-120"/>
              </a:rPr>
              <a:t>file-size ratio</a:t>
            </a:r>
            <a:endParaRPr lang="en-US" sz="1050" dirty="0"/>
          </a:p>
        </p:txBody>
      </p:sp>
      <p:sp>
        <p:nvSpPr>
          <p:cNvPr id="17" name="Text 15"/>
          <p:cNvSpPr txBox="1"/>
          <p:nvPr/>
        </p:nvSpPr>
        <p:spPr>
          <a:xfrm>
            <a:off x="502920" y="6528816"/>
            <a:ext cx="6400800" cy="237744"/>
          </a:xfrm>
          <a:prstGeom prst="rect">
            <a:avLst/>
          </a:prstGeom>
          <a:noFill/>
          <a:ln/>
        </p:spPr>
        <p:txBody>
          <a:bodyPr wrap="square" lIns="0" tIns="0" rIns="0" bIns="0" rtlCol="0" anchor="ctr"/>
          <a:lstStyle/>
          <a:p>
            <a:pPr indent="0" marL="0">
              <a:buNone/>
            </a:pPr>
            <a:r>
              <a:rPr lang="en-US" sz="850" spc="150" kern="0" dirty="0">
                <a:solidFill>
                  <a:srgbClr val="9AA0A8"/>
                </a:solidFill>
                <a:latin typeface="Calibri" pitchFamily="34" charset="0"/>
                <a:ea typeface="Calibri" pitchFamily="34" charset="-122"/>
                <a:cs typeface="Calibri" pitchFamily="34" charset="-120"/>
              </a:rPr>
              <a:t>PDFSentry · Reachability over Recognition</a:t>
            </a:r>
            <a:endParaRPr lang="en-US" sz="850" dirty="0"/>
          </a:p>
        </p:txBody>
      </p:sp>
      <p:sp>
        <p:nvSpPr>
          <p:cNvPr id="18" name="Text 16"/>
          <p:cNvSpPr txBox="1"/>
          <p:nvPr/>
        </p:nvSpPr>
        <p:spPr>
          <a:xfrm>
            <a:off x="11323015" y="6510528"/>
            <a:ext cx="457200" cy="256032"/>
          </a:xfrm>
          <a:prstGeom prst="rect">
            <a:avLst/>
          </a:prstGeom>
          <a:noFill/>
          <a:ln/>
        </p:spPr>
        <p:txBody>
          <a:bodyPr wrap="square" lIns="0" tIns="0" rIns="0" bIns="0" rtlCol="0" anchor="ctr"/>
          <a:lstStyle/>
          <a:p>
            <a:pPr algn="r" indent="0" marL="0">
              <a:buNone/>
            </a:pPr>
            <a:r>
              <a:rPr lang="en-US" sz="950" b="1" dirty="0">
                <a:solidFill>
                  <a:srgbClr val="6B7178"/>
                </a:solidFill>
                <a:latin typeface="Calibri" pitchFamily="34" charset="0"/>
                <a:ea typeface="Calibri" pitchFamily="34" charset="-122"/>
                <a:cs typeface="Calibri" pitchFamily="34" charset="-120"/>
              </a:rPr>
              <a:t>11</a:t>
            </a:r>
            <a:endParaRPr lang="en-US" sz="9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502920" y="292608"/>
            <a:ext cx="4572000" cy="274320"/>
          </a:xfrm>
          <a:prstGeom prst="rect">
            <a:avLst/>
          </a:prstGeom>
          <a:noFill/>
          <a:ln/>
        </p:spPr>
        <p:txBody>
          <a:bodyPr wrap="square" lIns="0" tIns="0" rIns="0" bIns="0" rtlCol="0" anchor="ctr"/>
          <a:lstStyle/>
          <a:p>
            <a:pPr indent="0" marL="0">
              <a:buNone/>
            </a:pPr>
            <a:r>
              <a:rPr lang="en-US" sz="1100" b="1" spc="400" kern="0" dirty="0">
                <a:solidFill>
                  <a:srgbClr val="6B7178"/>
                </a:solidFill>
                <a:latin typeface="Calibri" pitchFamily="34" charset="0"/>
                <a:ea typeface="Calibri" pitchFamily="34" charset="-122"/>
                <a:cs typeface="Calibri" pitchFamily="34" charset="-120"/>
              </a:rPr>
              <a:t>PDFSENTRY</a:t>
            </a:r>
            <a:endParaRPr lang="en-US" sz="1100" dirty="0"/>
          </a:p>
        </p:txBody>
      </p:sp>
      <p:sp>
        <p:nvSpPr>
          <p:cNvPr id="3" name="Text 1"/>
          <p:cNvSpPr txBox="1"/>
          <p:nvPr/>
        </p:nvSpPr>
        <p:spPr>
          <a:xfrm>
            <a:off x="6659575" y="292608"/>
            <a:ext cx="5029200" cy="274320"/>
          </a:xfrm>
          <a:prstGeom prst="rect">
            <a:avLst/>
          </a:prstGeom>
          <a:noFill/>
          <a:ln/>
        </p:spPr>
        <p:txBody>
          <a:bodyPr wrap="square" lIns="0" tIns="0" rIns="0" bIns="0" rtlCol="0" anchor="ctr"/>
          <a:lstStyle/>
          <a:p>
            <a:pPr algn="r" indent="0" marL="0">
              <a:buNone/>
            </a:pPr>
            <a:r>
              <a:rPr lang="en-US" sz="1100" spc="300" kern="0" dirty="0">
                <a:solidFill>
                  <a:srgbClr val="6B7178"/>
                </a:solidFill>
                <a:latin typeface="Calibri" pitchFamily="34" charset="0"/>
                <a:ea typeface="Calibri" pitchFamily="34" charset="-122"/>
                <a:cs typeface="Calibri" pitchFamily="34" charset="-120"/>
              </a:rPr>
              <a:t>REVIEW 3 · FINAL</a:t>
            </a:r>
            <a:endParaRPr lang="en-US" sz="1100" dirty="0"/>
          </a:p>
        </p:txBody>
      </p:sp>
      <p:sp>
        <p:nvSpPr>
          <p:cNvPr id="4" name="Text 2"/>
          <p:cNvSpPr txBox="1"/>
          <p:nvPr/>
        </p:nvSpPr>
        <p:spPr>
          <a:xfrm>
            <a:off x="512064" y="786384"/>
            <a:ext cx="10058400" cy="256032"/>
          </a:xfrm>
          <a:prstGeom prst="rect">
            <a:avLst/>
          </a:prstGeom>
          <a:noFill/>
          <a:ln/>
        </p:spPr>
        <p:txBody>
          <a:bodyPr wrap="square" lIns="0" tIns="0" rIns="0" bIns="0" rtlCol="0" anchor="ctr"/>
          <a:lstStyle/>
          <a:p>
            <a:pPr indent="0" marL="0">
              <a:buNone/>
            </a:pPr>
            <a:r>
              <a:rPr lang="en-US" sz="1100" b="1" spc="400" kern="0" dirty="0">
                <a:solidFill>
                  <a:srgbClr val="2F8F82"/>
                </a:solidFill>
                <a:latin typeface="Calibri" pitchFamily="34" charset="0"/>
                <a:ea typeface="Calibri" pitchFamily="34" charset="-122"/>
                <a:cs typeface="Calibri" pitchFamily="34" charset="-120"/>
              </a:rPr>
              <a:t>11 · DETECTION</a:t>
            </a:r>
            <a:endParaRPr lang="en-US" sz="1100" dirty="0"/>
          </a:p>
        </p:txBody>
      </p:sp>
      <p:sp>
        <p:nvSpPr>
          <p:cNvPr id="5" name="Text 3"/>
          <p:cNvSpPr txBox="1"/>
          <p:nvPr/>
        </p:nvSpPr>
        <p:spPr>
          <a:xfrm>
            <a:off x="502920" y="1078992"/>
            <a:ext cx="11155680" cy="731520"/>
          </a:xfrm>
          <a:prstGeom prst="rect">
            <a:avLst/>
          </a:prstGeom>
          <a:noFill/>
          <a:ln/>
        </p:spPr>
        <p:txBody>
          <a:bodyPr wrap="square" lIns="0" tIns="0" rIns="0" bIns="0" rtlCol="0" anchor="ctr"/>
          <a:lstStyle/>
          <a:p>
            <a:pPr indent="0" marL="0">
              <a:buNone/>
            </a:pPr>
            <a:r>
              <a:rPr lang="en-US" sz="3000" dirty="0">
                <a:solidFill>
                  <a:srgbClr val="1B1E22"/>
                </a:solidFill>
                <a:latin typeface="Arial Black" pitchFamily="34" charset="0"/>
                <a:ea typeface="Arial Black" pitchFamily="34" charset="-122"/>
                <a:cs typeface="Arial Black" pitchFamily="34" charset="-120"/>
              </a:rPr>
              <a:t>Pillar 01 · Detection — fusion result</a:t>
            </a:r>
            <a:endParaRPr lang="en-US" sz="3000" dirty="0"/>
          </a:p>
        </p:txBody>
      </p:sp>
      <p:sp>
        <p:nvSpPr>
          <p:cNvPr id="6" name="Text 4"/>
          <p:cNvSpPr txBox="1"/>
          <p:nvPr/>
        </p:nvSpPr>
        <p:spPr>
          <a:xfrm>
            <a:off x="548640" y="1783080"/>
            <a:ext cx="10881360" cy="548640"/>
          </a:xfrm>
          <a:prstGeom prst="rect">
            <a:avLst/>
          </a:prstGeom>
          <a:noFill/>
          <a:ln/>
        </p:spPr>
        <p:txBody>
          <a:bodyPr wrap="square" lIns="0" tIns="0" rIns="0" bIns="0" rtlCol="0" anchor="ctr"/>
          <a:lstStyle/>
          <a:p>
            <a:pPr indent="0" marL="0">
              <a:lnSpc>
                <a:spcPct val="105000"/>
              </a:lnSpc>
              <a:buNone/>
            </a:pPr>
            <a:r>
              <a:rPr lang="en-US" sz="1550" dirty="0">
                <a:solidFill>
                  <a:srgbClr val="3A3F46"/>
                </a:solidFill>
                <a:latin typeface="Calibri" pitchFamily="34" charset="0"/>
                <a:ea typeface="Calibri" pitchFamily="34" charset="-122"/>
                <a:cs typeface="Calibri" pitchFamily="34" charset="-120"/>
              </a:rPr>
              <a:t>On controlled structural evasions, EMBER alone is near-blind; adding the reachability signal makes it near-perfect.</a:t>
            </a:r>
            <a:endParaRPr lang="en-US" sz="1550" dirty="0"/>
          </a:p>
        </p:txBody>
      </p:sp>
      <p:graphicFrame>
        <p:nvGraphicFramePr>
          <p:cNvPr id="7" name="Chart 0" descr=""/>
          <p:cNvGraphicFramePr/>
          <p:nvPr/>
        </p:nvGraphicFramePr>
        <p:xfrm>
          <a:off x="502920" y="2514600"/>
          <a:ext cx="7040880" cy="3977640"/>
        </p:xfrm>
        <a:graphic xmlns:a="http://schemas.openxmlformats.org/drawingml/2006/main">
          <a:graphicData uri="http://schemas.openxmlformats.org/drawingml/2006/chart">
            <c:chart xmlns:c="http://schemas.openxmlformats.org/drawingml/2006/chart" r:id="rId2"/>
          </a:graphicData>
        </a:graphic>
      </p:graphicFrame>
      <p:sp>
        <p:nvSpPr>
          <p:cNvPr id="8" name="Text 5"/>
          <p:cNvSpPr txBox="1"/>
          <p:nvPr/>
        </p:nvSpPr>
        <p:spPr>
          <a:xfrm>
            <a:off x="7909560" y="2651760"/>
            <a:ext cx="3931920" cy="822960"/>
          </a:xfrm>
          <a:prstGeom prst="rect">
            <a:avLst/>
          </a:prstGeom>
          <a:noFill/>
          <a:ln/>
        </p:spPr>
        <p:txBody>
          <a:bodyPr wrap="square" lIns="0" tIns="0" rIns="0" bIns="0" rtlCol="0" anchor="ctr"/>
          <a:lstStyle/>
          <a:p>
            <a:pPr indent="0" marL="0">
              <a:buNone/>
            </a:pPr>
            <a:r>
              <a:rPr lang="en-US" sz="4200" dirty="0">
                <a:solidFill>
                  <a:srgbClr val="2F8F82"/>
                </a:solidFill>
                <a:latin typeface="Arial Black" pitchFamily="34" charset="0"/>
                <a:ea typeface="Arial Black" pitchFamily="34" charset="-122"/>
                <a:cs typeface="Arial Black" pitchFamily="34" charset="-120"/>
              </a:rPr>
              <a:t>+0.349</a:t>
            </a:r>
            <a:endParaRPr lang="en-US" sz="4200" dirty="0"/>
          </a:p>
        </p:txBody>
      </p:sp>
      <p:sp>
        <p:nvSpPr>
          <p:cNvPr id="9" name="Text 6"/>
          <p:cNvSpPr txBox="1"/>
          <p:nvPr/>
        </p:nvSpPr>
        <p:spPr>
          <a:xfrm>
            <a:off x="7909560" y="3438144"/>
            <a:ext cx="3931920" cy="603504"/>
          </a:xfrm>
          <a:prstGeom prst="rect">
            <a:avLst/>
          </a:prstGeom>
          <a:noFill/>
          <a:ln/>
        </p:spPr>
        <p:txBody>
          <a:bodyPr wrap="square" lIns="0" tIns="0" rIns="0" bIns="0" rtlCol="0" anchor="t"/>
          <a:lstStyle/>
          <a:p>
            <a:pPr indent="0" marL="0">
              <a:lnSpc>
                <a:spcPct val="105000"/>
              </a:lnSpc>
              <a:buNone/>
            </a:pPr>
            <a:r>
              <a:rPr lang="en-US" sz="1250" dirty="0">
                <a:solidFill>
                  <a:srgbClr val="6B7178"/>
                </a:solidFill>
                <a:latin typeface="Calibri" pitchFamily="34" charset="0"/>
                <a:ea typeface="Calibri" pitchFamily="34" charset="-122"/>
                <a:cs typeface="Calibri" pitchFamily="34" charset="-120"/>
              </a:rPr>
              <a:t>ROC-AUC from the structural signal</a:t>
            </a:r>
            <a:endParaRPr lang="en-US" sz="1250" dirty="0"/>
          </a:p>
        </p:txBody>
      </p:sp>
      <p:sp>
        <p:nvSpPr>
          <p:cNvPr id="10" name="Text 7"/>
          <p:cNvSpPr txBox="1"/>
          <p:nvPr/>
        </p:nvSpPr>
        <p:spPr>
          <a:xfrm>
            <a:off x="7909560" y="4069080"/>
            <a:ext cx="3931920" cy="822960"/>
          </a:xfrm>
          <a:prstGeom prst="rect">
            <a:avLst/>
          </a:prstGeom>
          <a:noFill/>
          <a:ln/>
        </p:spPr>
        <p:txBody>
          <a:bodyPr wrap="square" lIns="0" tIns="0" rIns="0" bIns="0" rtlCol="0" anchor="ctr"/>
          <a:lstStyle/>
          <a:p>
            <a:pPr indent="0" marL="0">
              <a:buNone/>
            </a:pPr>
            <a:r>
              <a:rPr lang="en-US" sz="4200" dirty="0">
                <a:solidFill>
                  <a:srgbClr val="1B1E22"/>
                </a:solidFill>
                <a:latin typeface="Arial Black" pitchFamily="34" charset="0"/>
                <a:ea typeface="Arial Black" pitchFamily="34" charset="-122"/>
                <a:cs typeface="Arial Black" pitchFamily="34" charset="-120"/>
              </a:rPr>
              <a:t>100%</a:t>
            </a:r>
            <a:endParaRPr lang="en-US" sz="4200" dirty="0"/>
          </a:p>
        </p:txBody>
      </p:sp>
      <p:sp>
        <p:nvSpPr>
          <p:cNvPr id="11" name="Text 8"/>
          <p:cNvSpPr txBox="1"/>
          <p:nvPr/>
        </p:nvSpPr>
        <p:spPr>
          <a:xfrm>
            <a:off x="7909560" y="4855464"/>
            <a:ext cx="3931920" cy="603504"/>
          </a:xfrm>
          <a:prstGeom prst="rect">
            <a:avLst/>
          </a:prstGeom>
          <a:noFill/>
          <a:ln/>
        </p:spPr>
        <p:txBody>
          <a:bodyPr wrap="square" lIns="0" tIns="0" rIns="0" bIns="0" rtlCol="0" anchor="t"/>
          <a:lstStyle/>
          <a:p>
            <a:pPr indent="0" marL="0">
              <a:lnSpc>
                <a:spcPct val="105000"/>
              </a:lnSpc>
              <a:buNone/>
            </a:pPr>
            <a:r>
              <a:rPr lang="en-US" sz="1250" dirty="0">
                <a:solidFill>
                  <a:srgbClr val="6B7178"/>
                </a:solidFill>
                <a:latin typeface="Calibri" pitchFamily="34" charset="0"/>
                <a:ea typeface="Calibri" pitchFamily="34" charset="-122"/>
                <a:cs typeface="Calibri" pitchFamily="34" charset="-120"/>
              </a:rPr>
              <a:t>reachability recall on reachable threats</a:t>
            </a:r>
            <a:endParaRPr lang="en-US" sz="1250" dirty="0"/>
          </a:p>
        </p:txBody>
      </p:sp>
      <p:sp>
        <p:nvSpPr>
          <p:cNvPr id="12" name="Text 9"/>
          <p:cNvSpPr txBox="1"/>
          <p:nvPr/>
        </p:nvSpPr>
        <p:spPr>
          <a:xfrm>
            <a:off x="7909560" y="5486400"/>
            <a:ext cx="3931920" cy="822960"/>
          </a:xfrm>
          <a:prstGeom prst="rect">
            <a:avLst/>
          </a:prstGeom>
          <a:noFill/>
          <a:ln/>
        </p:spPr>
        <p:txBody>
          <a:bodyPr wrap="square" lIns="0" tIns="0" rIns="0" bIns="0" rtlCol="0" anchor="ctr"/>
          <a:lstStyle/>
          <a:p>
            <a:pPr indent="0" marL="0">
              <a:buNone/>
            </a:pPr>
            <a:r>
              <a:rPr lang="en-US" sz="4200" dirty="0">
                <a:solidFill>
                  <a:srgbClr val="1B1E22"/>
                </a:solidFill>
                <a:latin typeface="Arial Black" pitchFamily="34" charset="0"/>
                <a:ea typeface="Arial Black" pitchFamily="34" charset="-122"/>
                <a:cs typeface="Arial Black" pitchFamily="34" charset="-120"/>
              </a:rPr>
              <a:t>0</a:t>
            </a:r>
            <a:endParaRPr lang="en-US" sz="4200" dirty="0"/>
          </a:p>
        </p:txBody>
      </p:sp>
      <p:sp>
        <p:nvSpPr>
          <p:cNvPr id="13" name="Text 10"/>
          <p:cNvSpPr txBox="1"/>
          <p:nvPr/>
        </p:nvSpPr>
        <p:spPr>
          <a:xfrm>
            <a:off x="7909560" y="6272784"/>
            <a:ext cx="3931920" cy="603504"/>
          </a:xfrm>
          <a:prstGeom prst="rect">
            <a:avLst/>
          </a:prstGeom>
          <a:noFill/>
          <a:ln/>
        </p:spPr>
        <p:txBody>
          <a:bodyPr wrap="square" lIns="0" tIns="0" rIns="0" bIns="0" rtlCol="0" anchor="t"/>
          <a:lstStyle/>
          <a:p>
            <a:pPr indent="0" marL="0">
              <a:lnSpc>
                <a:spcPct val="105000"/>
              </a:lnSpc>
              <a:buNone/>
            </a:pPr>
            <a:r>
              <a:rPr lang="en-US" sz="1250" dirty="0">
                <a:solidFill>
                  <a:srgbClr val="6B7178"/>
                </a:solidFill>
                <a:latin typeface="Calibri" pitchFamily="34" charset="0"/>
                <a:ea typeface="Calibri" pitchFamily="34" charset="-122"/>
                <a:cs typeface="Calibri" pitchFamily="34" charset="-120"/>
              </a:rPr>
              <a:t>false positives on 285 benign</a:t>
            </a:r>
            <a:endParaRPr lang="en-US" sz="1250" dirty="0"/>
          </a:p>
        </p:txBody>
      </p:sp>
      <p:sp>
        <p:nvSpPr>
          <p:cNvPr id="14" name="Text 11"/>
          <p:cNvSpPr txBox="1"/>
          <p:nvPr/>
        </p:nvSpPr>
        <p:spPr>
          <a:xfrm>
            <a:off x="502920" y="6528816"/>
            <a:ext cx="6400800" cy="237744"/>
          </a:xfrm>
          <a:prstGeom prst="rect">
            <a:avLst/>
          </a:prstGeom>
          <a:noFill/>
          <a:ln/>
        </p:spPr>
        <p:txBody>
          <a:bodyPr wrap="square" lIns="0" tIns="0" rIns="0" bIns="0" rtlCol="0" anchor="ctr"/>
          <a:lstStyle/>
          <a:p>
            <a:pPr indent="0" marL="0">
              <a:buNone/>
            </a:pPr>
            <a:r>
              <a:rPr lang="en-US" sz="850" spc="150" kern="0" dirty="0">
                <a:solidFill>
                  <a:srgbClr val="9AA0A8"/>
                </a:solidFill>
                <a:latin typeface="Calibri" pitchFamily="34" charset="0"/>
                <a:ea typeface="Calibri" pitchFamily="34" charset="-122"/>
                <a:cs typeface="Calibri" pitchFamily="34" charset="-120"/>
              </a:rPr>
              <a:t>PDFSentry · Reachability over Recognition</a:t>
            </a:r>
            <a:endParaRPr lang="en-US" sz="850" dirty="0"/>
          </a:p>
        </p:txBody>
      </p:sp>
      <p:sp>
        <p:nvSpPr>
          <p:cNvPr id="15" name="Text 12"/>
          <p:cNvSpPr txBox="1"/>
          <p:nvPr/>
        </p:nvSpPr>
        <p:spPr>
          <a:xfrm>
            <a:off x="11323015" y="6510528"/>
            <a:ext cx="457200" cy="256032"/>
          </a:xfrm>
          <a:prstGeom prst="rect">
            <a:avLst/>
          </a:prstGeom>
          <a:noFill/>
          <a:ln/>
        </p:spPr>
        <p:txBody>
          <a:bodyPr wrap="square" lIns="0" tIns="0" rIns="0" bIns="0" rtlCol="0" anchor="ctr"/>
          <a:lstStyle/>
          <a:p>
            <a:pPr algn="r" indent="0" marL="0">
              <a:buNone/>
            </a:pPr>
            <a:r>
              <a:rPr lang="en-US" sz="950" b="1" dirty="0">
                <a:solidFill>
                  <a:srgbClr val="6B7178"/>
                </a:solidFill>
                <a:latin typeface="Calibri" pitchFamily="34" charset="0"/>
                <a:ea typeface="Calibri" pitchFamily="34" charset="-122"/>
                <a:cs typeface="Calibri" pitchFamily="34" charset="-120"/>
              </a:rPr>
              <a:t>12</a:t>
            </a:r>
            <a:endParaRPr lang="en-US" sz="9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502920" y="292608"/>
            <a:ext cx="4572000" cy="274320"/>
          </a:xfrm>
          <a:prstGeom prst="rect">
            <a:avLst/>
          </a:prstGeom>
          <a:noFill/>
          <a:ln/>
        </p:spPr>
        <p:txBody>
          <a:bodyPr wrap="square" lIns="0" tIns="0" rIns="0" bIns="0" rtlCol="0" anchor="ctr"/>
          <a:lstStyle/>
          <a:p>
            <a:pPr indent="0" marL="0">
              <a:buNone/>
            </a:pPr>
            <a:r>
              <a:rPr lang="en-US" sz="1100" b="1" spc="400" kern="0" dirty="0">
                <a:solidFill>
                  <a:srgbClr val="6B7178"/>
                </a:solidFill>
                <a:latin typeface="Calibri" pitchFamily="34" charset="0"/>
                <a:ea typeface="Calibri" pitchFamily="34" charset="-122"/>
                <a:cs typeface="Calibri" pitchFamily="34" charset="-120"/>
              </a:rPr>
              <a:t>PDFSENTRY</a:t>
            </a:r>
            <a:endParaRPr lang="en-US" sz="1100" dirty="0"/>
          </a:p>
        </p:txBody>
      </p:sp>
      <p:sp>
        <p:nvSpPr>
          <p:cNvPr id="3" name="Text 1"/>
          <p:cNvSpPr txBox="1"/>
          <p:nvPr/>
        </p:nvSpPr>
        <p:spPr>
          <a:xfrm>
            <a:off x="6659575" y="292608"/>
            <a:ext cx="5029200" cy="274320"/>
          </a:xfrm>
          <a:prstGeom prst="rect">
            <a:avLst/>
          </a:prstGeom>
          <a:noFill/>
          <a:ln/>
        </p:spPr>
        <p:txBody>
          <a:bodyPr wrap="square" lIns="0" tIns="0" rIns="0" bIns="0" rtlCol="0" anchor="ctr"/>
          <a:lstStyle/>
          <a:p>
            <a:pPr algn="r" indent="0" marL="0">
              <a:buNone/>
            </a:pPr>
            <a:r>
              <a:rPr lang="en-US" sz="1100" spc="300" kern="0" dirty="0">
                <a:solidFill>
                  <a:srgbClr val="6B7178"/>
                </a:solidFill>
                <a:latin typeface="Calibri" pitchFamily="34" charset="0"/>
                <a:ea typeface="Calibri" pitchFamily="34" charset="-122"/>
                <a:cs typeface="Calibri" pitchFamily="34" charset="-120"/>
              </a:rPr>
              <a:t>REVIEW 3 · FINAL</a:t>
            </a:r>
            <a:endParaRPr lang="en-US" sz="1100" dirty="0"/>
          </a:p>
        </p:txBody>
      </p:sp>
      <p:sp>
        <p:nvSpPr>
          <p:cNvPr id="4" name="Text 2"/>
          <p:cNvSpPr txBox="1"/>
          <p:nvPr/>
        </p:nvSpPr>
        <p:spPr>
          <a:xfrm>
            <a:off x="512064" y="786384"/>
            <a:ext cx="10058400" cy="256032"/>
          </a:xfrm>
          <a:prstGeom prst="rect">
            <a:avLst/>
          </a:prstGeom>
          <a:noFill/>
          <a:ln/>
        </p:spPr>
        <p:txBody>
          <a:bodyPr wrap="square" lIns="0" tIns="0" rIns="0" bIns="0" rtlCol="0" anchor="ctr"/>
          <a:lstStyle/>
          <a:p>
            <a:pPr indent="0" marL="0">
              <a:buNone/>
            </a:pPr>
            <a:r>
              <a:rPr lang="en-US" sz="1100" b="1" spc="400" kern="0" dirty="0">
                <a:solidFill>
                  <a:srgbClr val="2F8F82"/>
                </a:solidFill>
                <a:latin typeface="Calibri" pitchFamily="34" charset="0"/>
                <a:ea typeface="Calibri" pitchFamily="34" charset="-122"/>
                <a:cs typeface="Calibri" pitchFamily="34" charset="-120"/>
              </a:rPr>
              <a:t>12 · ROBUSTNESS</a:t>
            </a:r>
            <a:endParaRPr lang="en-US" sz="1100" dirty="0"/>
          </a:p>
        </p:txBody>
      </p:sp>
      <p:sp>
        <p:nvSpPr>
          <p:cNvPr id="5" name="Text 3"/>
          <p:cNvSpPr txBox="1"/>
          <p:nvPr/>
        </p:nvSpPr>
        <p:spPr>
          <a:xfrm>
            <a:off x="502920" y="1078992"/>
            <a:ext cx="11155680" cy="731520"/>
          </a:xfrm>
          <a:prstGeom prst="rect">
            <a:avLst/>
          </a:prstGeom>
          <a:noFill/>
          <a:ln/>
        </p:spPr>
        <p:txBody>
          <a:bodyPr wrap="square" lIns="0" tIns="0" rIns="0" bIns="0" rtlCol="0" anchor="ctr"/>
          <a:lstStyle/>
          <a:p>
            <a:pPr indent="0" marL="0">
              <a:buNone/>
            </a:pPr>
            <a:r>
              <a:rPr lang="en-US" sz="3000" dirty="0">
                <a:solidFill>
                  <a:srgbClr val="1B1E22"/>
                </a:solidFill>
                <a:latin typeface="Arial Black" pitchFamily="34" charset="0"/>
                <a:ea typeface="Arial Black" pitchFamily="34" charset="-122"/>
                <a:cs typeface="Arial Black" pitchFamily="34" charset="-120"/>
              </a:rPr>
              <a:t>Pillar 02 · Robustness — semantic stability</a:t>
            </a:r>
            <a:endParaRPr lang="en-US" sz="3000" dirty="0"/>
          </a:p>
        </p:txBody>
      </p:sp>
      <p:sp>
        <p:nvSpPr>
          <p:cNvPr id="6" name="Text 4"/>
          <p:cNvSpPr txBox="1"/>
          <p:nvPr/>
        </p:nvSpPr>
        <p:spPr>
          <a:xfrm>
            <a:off x="548640" y="1783080"/>
            <a:ext cx="10881360" cy="548640"/>
          </a:xfrm>
          <a:prstGeom prst="rect">
            <a:avLst/>
          </a:prstGeom>
          <a:noFill/>
          <a:ln/>
        </p:spPr>
        <p:txBody>
          <a:bodyPr wrap="square" lIns="0" tIns="0" rIns="0" bIns="0" rtlCol="0" anchor="ctr"/>
          <a:lstStyle/>
          <a:p>
            <a:pPr indent="0" marL="0">
              <a:lnSpc>
                <a:spcPct val="105000"/>
              </a:lnSpc>
              <a:buNone/>
            </a:pPr>
            <a:r>
              <a:rPr lang="en-US" sz="1550" dirty="0">
                <a:solidFill>
                  <a:srgbClr val="3A3F46"/>
                </a:solidFill>
                <a:latin typeface="Calibri" pitchFamily="34" charset="0"/>
                <a:ea typeface="Calibri" pitchFamily="34" charset="-122"/>
                <a:cs typeface="Calibri" pitchFamily="34" charset="-120"/>
              </a:rPr>
              <a:t>Same malicious behaviour, eight lossless re-saves. EMBER’s score swings across the scale; reachability never moves.</a:t>
            </a:r>
            <a:endParaRPr lang="en-US" sz="1550" dirty="0"/>
          </a:p>
        </p:txBody>
      </p:sp>
      <p:graphicFrame>
        <p:nvGraphicFramePr>
          <p:cNvPr id="7" name="Chart 0" descr=""/>
          <p:cNvGraphicFramePr/>
          <p:nvPr/>
        </p:nvGraphicFramePr>
        <p:xfrm>
          <a:off x="502920" y="2514600"/>
          <a:ext cx="7040880" cy="3977640"/>
        </p:xfrm>
        <a:graphic xmlns:a="http://schemas.openxmlformats.org/drawingml/2006/main">
          <a:graphicData uri="http://schemas.openxmlformats.org/drawingml/2006/chart">
            <c:chart xmlns:c="http://schemas.openxmlformats.org/drawingml/2006/chart" r:id="rId2"/>
          </a:graphicData>
        </a:graphic>
      </p:graphicFrame>
      <p:sp>
        <p:nvSpPr>
          <p:cNvPr id="8" name="Text 5"/>
          <p:cNvSpPr txBox="1"/>
          <p:nvPr/>
        </p:nvSpPr>
        <p:spPr>
          <a:xfrm>
            <a:off x="7909560" y="2651760"/>
            <a:ext cx="3931920" cy="822960"/>
          </a:xfrm>
          <a:prstGeom prst="rect">
            <a:avLst/>
          </a:prstGeom>
          <a:noFill/>
          <a:ln/>
        </p:spPr>
        <p:txBody>
          <a:bodyPr wrap="square" lIns="0" tIns="0" rIns="0" bIns="0" rtlCol="0" anchor="ctr"/>
          <a:lstStyle/>
          <a:p>
            <a:pPr indent="0" marL="0">
              <a:buNone/>
            </a:pPr>
            <a:r>
              <a:rPr lang="en-US" sz="4200" dirty="0">
                <a:solidFill>
                  <a:srgbClr val="B4473F"/>
                </a:solidFill>
                <a:latin typeface="Arial Black" pitchFamily="34" charset="0"/>
                <a:ea typeface="Arial Black" pitchFamily="34" charset="-122"/>
                <a:cs typeface="Arial Black" pitchFamily="34" charset="-120"/>
              </a:rPr>
              <a:t>78.4%</a:t>
            </a:r>
            <a:endParaRPr lang="en-US" sz="4200" dirty="0"/>
          </a:p>
        </p:txBody>
      </p:sp>
      <p:sp>
        <p:nvSpPr>
          <p:cNvPr id="9" name="Text 6"/>
          <p:cNvSpPr txBox="1"/>
          <p:nvPr/>
        </p:nvSpPr>
        <p:spPr>
          <a:xfrm>
            <a:off x="7909560" y="3438144"/>
            <a:ext cx="3931920" cy="603504"/>
          </a:xfrm>
          <a:prstGeom prst="rect">
            <a:avLst/>
          </a:prstGeom>
          <a:noFill/>
          <a:ln/>
        </p:spPr>
        <p:txBody>
          <a:bodyPr wrap="square" lIns="0" tIns="0" rIns="0" bIns="0" rtlCol="0" anchor="t"/>
          <a:lstStyle/>
          <a:p>
            <a:pPr indent="0" marL="0">
              <a:lnSpc>
                <a:spcPct val="105000"/>
              </a:lnSpc>
              <a:buNone/>
            </a:pPr>
            <a:r>
              <a:rPr lang="en-US" sz="1250" dirty="0">
                <a:solidFill>
                  <a:srgbClr val="6B7178"/>
                </a:solidFill>
                <a:latin typeface="Calibri" pitchFamily="34" charset="0"/>
                <a:ea typeface="Calibri" pitchFamily="34" charset="-122"/>
                <a:cs typeface="Calibri" pitchFamily="34" charset="-120"/>
              </a:rPr>
              <a:t>of docs get BOTH EMBER verdicts</a:t>
            </a:r>
            <a:endParaRPr lang="en-US" sz="1250" dirty="0"/>
          </a:p>
        </p:txBody>
      </p:sp>
      <p:sp>
        <p:nvSpPr>
          <p:cNvPr id="10" name="Text 7"/>
          <p:cNvSpPr txBox="1"/>
          <p:nvPr/>
        </p:nvSpPr>
        <p:spPr>
          <a:xfrm>
            <a:off x="7909560" y="4069080"/>
            <a:ext cx="3931920" cy="822960"/>
          </a:xfrm>
          <a:prstGeom prst="rect">
            <a:avLst/>
          </a:prstGeom>
          <a:noFill/>
          <a:ln/>
        </p:spPr>
        <p:txBody>
          <a:bodyPr wrap="square" lIns="0" tIns="0" rIns="0" bIns="0" rtlCol="0" anchor="ctr"/>
          <a:lstStyle/>
          <a:p>
            <a:pPr indent="0" marL="0">
              <a:buNone/>
            </a:pPr>
            <a:r>
              <a:rPr lang="en-US" sz="4200" dirty="0">
                <a:solidFill>
                  <a:srgbClr val="2F8F82"/>
                </a:solidFill>
                <a:latin typeface="Arial Black" pitchFamily="34" charset="0"/>
                <a:ea typeface="Arial Black" pitchFamily="34" charset="-122"/>
                <a:cs typeface="Arial Black" pitchFamily="34" charset="-120"/>
              </a:rPr>
              <a:t>1.000</a:t>
            </a:r>
            <a:endParaRPr lang="en-US" sz="4200" dirty="0"/>
          </a:p>
        </p:txBody>
      </p:sp>
      <p:sp>
        <p:nvSpPr>
          <p:cNvPr id="11" name="Text 8"/>
          <p:cNvSpPr txBox="1"/>
          <p:nvPr/>
        </p:nvSpPr>
        <p:spPr>
          <a:xfrm>
            <a:off x="7909560" y="4855464"/>
            <a:ext cx="3931920" cy="603504"/>
          </a:xfrm>
          <a:prstGeom prst="rect">
            <a:avLst/>
          </a:prstGeom>
          <a:noFill/>
          <a:ln/>
        </p:spPr>
        <p:txBody>
          <a:bodyPr wrap="square" lIns="0" tIns="0" rIns="0" bIns="0" rtlCol="0" anchor="t"/>
          <a:lstStyle/>
          <a:p>
            <a:pPr indent="0" marL="0">
              <a:lnSpc>
                <a:spcPct val="105000"/>
              </a:lnSpc>
              <a:buNone/>
            </a:pPr>
            <a:r>
              <a:rPr lang="en-US" sz="1250" dirty="0">
                <a:solidFill>
                  <a:srgbClr val="6B7178"/>
                </a:solidFill>
                <a:latin typeface="Calibri" pitchFamily="34" charset="0"/>
                <a:ea typeface="Calibri" pitchFamily="34" charset="-122"/>
                <a:cs typeface="Calibri" pitchFamily="34" charset="-120"/>
              </a:rPr>
              <a:t>reachability stability index</a:t>
            </a:r>
            <a:endParaRPr lang="en-US" sz="1250" dirty="0"/>
          </a:p>
        </p:txBody>
      </p:sp>
      <p:sp>
        <p:nvSpPr>
          <p:cNvPr id="12" name="Text 9"/>
          <p:cNvSpPr txBox="1"/>
          <p:nvPr/>
        </p:nvSpPr>
        <p:spPr>
          <a:xfrm>
            <a:off x="7909560" y="5486400"/>
            <a:ext cx="3931920" cy="822960"/>
          </a:xfrm>
          <a:prstGeom prst="rect">
            <a:avLst/>
          </a:prstGeom>
          <a:noFill/>
          <a:ln/>
        </p:spPr>
        <p:txBody>
          <a:bodyPr wrap="square" lIns="0" tIns="0" rIns="0" bIns="0" rtlCol="0" anchor="ctr"/>
          <a:lstStyle/>
          <a:p>
            <a:pPr indent="0" marL="0">
              <a:buNone/>
            </a:pPr>
            <a:r>
              <a:rPr lang="en-US" sz="4200" dirty="0">
                <a:solidFill>
                  <a:srgbClr val="C08A2E"/>
                </a:solidFill>
                <a:latin typeface="Arial Black" pitchFamily="34" charset="0"/>
                <a:ea typeface="Arial Black" pitchFamily="34" charset="-122"/>
                <a:cs typeface="Arial Black" pitchFamily="34" charset="-120"/>
              </a:rPr>
              <a:t>0.216</a:t>
            </a:r>
            <a:endParaRPr lang="en-US" sz="4200" dirty="0"/>
          </a:p>
        </p:txBody>
      </p:sp>
      <p:sp>
        <p:nvSpPr>
          <p:cNvPr id="13" name="Text 10"/>
          <p:cNvSpPr txBox="1"/>
          <p:nvPr/>
        </p:nvSpPr>
        <p:spPr>
          <a:xfrm>
            <a:off x="7909560" y="6272784"/>
            <a:ext cx="3931920" cy="603504"/>
          </a:xfrm>
          <a:prstGeom prst="rect">
            <a:avLst/>
          </a:prstGeom>
          <a:noFill/>
          <a:ln/>
        </p:spPr>
        <p:txBody>
          <a:bodyPr wrap="square" lIns="0" tIns="0" rIns="0" bIns="0" rtlCol="0" anchor="t"/>
          <a:lstStyle/>
          <a:p>
            <a:pPr indent="0" marL="0">
              <a:lnSpc>
                <a:spcPct val="105000"/>
              </a:lnSpc>
              <a:buNone/>
            </a:pPr>
            <a:r>
              <a:rPr lang="en-US" sz="1250" dirty="0">
                <a:solidFill>
                  <a:srgbClr val="6B7178"/>
                </a:solidFill>
                <a:latin typeface="Calibri" pitchFamily="34" charset="0"/>
                <a:ea typeface="Calibri" pitchFamily="34" charset="-122"/>
                <a:cs typeface="Calibri" pitchFamily="34" charset="-120"/>
              </a:rPr>
              <a:t>EMBER stability index</a:t>
            </a:r>
            <a:endParaRPr lang="en-US" sz="1250" dirty="0"/>
          </a:p>
        </p:txBody>
      </p:sp>
      <p:sp>
        <p:nvSpPr>
          <p:cNvPr id="14" name="Text 11"/>
          <p:cNvSpPr txBox="1"/>
          <p:nvPr/>
        </p:nvSpPr>
        <p:spPr>
          <a:xfrm>
            <a:off x="502920" y="6528816"/>
            <a:ext cx="6400800" cy="237744"/>
          </a:xfrm>
          <a:prstGeom prst="rect">
            <a:avLst/>
          </a:prstGeom>
          <a:noFill/>
          <a:ln/>
        </p:spPr>
        <p:txBody>
          <a:bodyPr wrap="square" lIns="0" tIns="0" rIns="0" bIns="0" rtlCol="0" anchor="ctr"/>
          <a:lstStyle/>
          <a:p>
            <a:pPr indent="0" marL="0">
              <a:buNone/>
            </a:pPr>
            <a:r>
              <a:rPr lang="en-US" sz="850" spc="150" kern="0" dirty="0">
                <a:solidFill>
                  <a:srgbClr val="9AA0A8"/>
                </a:solidFill>
                <a:latin typeface="Calibri" pitchFamily="34" charset="0"/>
                <a:ea typeface="Calibri" pitchFamily="34" charset="-122"/>
                <a:cs typeface="Calibri" pitchFamily="34" charset="-120"/>
              </a:rPr>
              <a:t>PDFSentry · Reachability over Recognition</a:t>
            </a:r>
            <a:endParaRPr lang="en-US" sz="850" dirty="0"/>
          </a:p>
        </p:txBody>
      </p:sp>
      <p:sp>
        <p:nvSpPr>
          <p:cNvPr id="15" name="Text 12"/>
          <p:cNvSpPr txBox="1"/>
          <p:nvPr/>
        </p:nvSpPr>
        <p:spPr>
          <a:xfrm>
            <a:off x="11323015" y="6510528"/>
            <a:ext cx="457200" cy="256032"/>
          </a:xfrm>
          <a:prstGeom prst="rect">
            <a:avLst/>
          </a:prstGeom>
          <a:noFill/>
          <a:ln/>
        </p:spPr>
        <p:txBody>
          <a:bodyPr wrap="square" lIns="0" tIns="0" rIns="0" bIns="0" rtlCol="0" anchor="ctr"/>
          <a:lstStyle/>
          <a:p>
            <a:pPr algn="r" indent="0" marL="0">
              <a:buNone/>
            </a:pPr>
            <a:r>
              <a:rPr lang="en-US" sz="950" b="1" dirty="0">
                <a:solidFill>
                  <a:srgbClr val="6B7178"/>
                </a:solidFill>
                <a:latin typeface="Calibri" pitchFamily="34" charset="0"/>
                <a:ea typeface="Calibri" pitchFamily="34" charset="-122"/>
                <a:cs typeface="Calibri" pitchFamily="34" charset="-120"/>
              </a:rPr>
              <a:t>13</a:t>
            </a:r>
            <a:endParaRPr lang="en-US" sz="9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502920" y="292608"/>
            <a:ext cx="4572000" cy="274320"/>
          </a:xfrm>
          <a:prstGeom prst="rect">
            <a:avLst/>
          </a:prstGeom>
          <a:noFill/>
          <a:ln/>
        </p:spPr>
        <p:txBody>
          <a:bodyPr wrap="square" lIns="0" tIns="0" rIns="0" bIns="0" rtlCol="0" anchor="ctr"/>
          <a:lstStyle/>
          <a:p>
            <a:pPr indent="0" marL="0">
              <a:buNone/>
            </a:pPr>
            <a:r>
              <a:rPr lang="en-US" sz="1100" b="1" spc="400" kern="0" dirty="0">
                <a:solidFill>
                  <a:srgbClr val="6B7178"/>
                </a:solidFill>
                <a:latin typeface="Calibri" pitchFamily="34" charset="0"/>
                <a:ea typeface="Calibri" pitchFamily="34" charset="-122"/>
                <a:cs typeface="Calibri" pitchFamily="34" charset="-120"/>
              </a:rPr>
              <a:t>PDFSENTRY</a:t>
            </a:r>
            <a:endParaRPr lang="en-US" sz="1100" dirty="0"/>
          </a:p>
        </p:txBody>
      </p:sp>
      <p:sp>
        <p:nvSpPr>
          <p:cNvPr id="3" name="Text 1"/>
          <p:cNvSpPr txBox="1"/>
          <p:nvPr/>
        </p:nvSpPr>
        <p:spPr>
          <a:xfrm>
            <a:off x="6659575" y="292608"/>
            <a:ext cx="5029200" cy="274320"/>
          </a:xfrm>
          <a:prstGeom prst="rect">
            <a:avLst/>
          </a:prstGeom>
          <a:noFill/>
          <a:ln/>
        </p:spPr>
        <p:txBody>
          <a:bodyPr wrap="square" lIns="0" tIns="0" rIns="0" bIns="0" rtlCol="0" anchor="ctr"/>
          <a:lstStyle/>
          <a:p>
            <a:pPr algn="r" indent="0" marL="0">
              <a:buNone/>
            </a:pPr>
            <a:r>
              <a:rPr lang="en-US" sz="1100" spc="300" kern="0" dirty="0">
                <a:solidFill>
                  <a:srgbClr val="6B7178"/>
                </a:solidFill>
                <a:latin typeface="Calibri" pitchFamily="34" charset="0"/>
                <a:ea typeface="Calibri" pitchFamily="34" charset="-122"/>
                <a:cs typeface="Calibri" pitchFamily="34" charset="-120"/>
              </a:rPr>
              <a:t>REVIEW 3 · FINAL</a:t>
            </a:r>
            <a:endParaRPr lang="en-US" sz="1100" dirty="0"/>
          </a:p>
        </p:txBody>
      </p:sp>
      <p:sp>
        <p:nvSpPr>
          <p:cNvPr id="4" name="Text 2"/>
          <p:cNvSpPr txBox="1"/>
          <p:nvPr/>
        </p:nvSpPr>
        <p:spPr>
          <a:xfrm>
            <a:off x="512064" y="786384"/>
            <a:ext cx="10058400" cy="256032"/>
          </a:xfrm>
          <a:prstGeom prst="rect">
            <a:avLst/>
          </a:prstGeom>
          <a:noFill/>
          <a:ln/>
        </p:spPr>
        <p:txBody>
          <a:bodyPr wrap="square" lIns="0" tIns="0" rIns="0" bIns="0" rtlCol="0" anchor="ctr"/>
          <a:lstStyle/>
          <a:p>
            <a:pPr indent="0" marL="0">
              <a:buNone/>
            </a:pPr>
            <a:r>
              <a:rPr lang="en-US" sz="1100" b="1" spc="400" kern="0" dirty="0">
                <a:solidFill>
                  <a:srgbClr val="2F8F82"/>
                </a:solidFill>
                <a:latin typeface="Calibri" pitchFamily="34" charset="0"/>
                <a:ea typeface="Calibri" pitchFamily="34" charset="-122"/>
                <a:cs typeface="Calibri" pitchFamily="34" charset="-120"/>
              </a:rPr>
              <a:t>13 · ASSURANCE</a:t>
            </a:r>
            <a:endParaRPr lang="en-US" sz="1100" dirty="0"/>
          </a:p>
        </p:txBody>
      </p:sp>
      <p:sp>
        <p:nvSpPr>
          <p:cNvPr id="5" name="Text 3"/>
          <p:cNvSpPr txBox="1"/>
          <p:nvPr/>
        </p:nvSpPr>
        <p:spPr>
          <a:xfrm>
            <a:off x="502920" y="1078992"/>
            <a:ext cx="11155680" cy="731520"/>
          </a:xfrm>
          <a:prstGeom prst="rect">
            <a:avLst/>
          </a:prstGeom>
          <a:noFill/>
          <a:ln/>
        </p:spPr>
        <p:txBody>
          <a:bodyPr wrap="square" lIns="0" tIns="0" rIns="0" bIns="0" rtlCol="0" anchor="ctr"/>
          <a:lstStyle/>
          <a:p>
            <a:pPr indent="0" marL="0">
              <a:buNone/>
            </a:pPr>
            <a:r>
              <a:rPr lang="en-US" sz="3200" dirty="0">
                <a:solidFill>
                  <a:srgbClr val="1B1E22"/>
                </a:solidFill>
                <a:latin typeface="Arial Black" pitchFamily="34" charset="0"/>
                <a:ea typeface="Arial Black" pitchFamily="34" charset="-122"/>
                <a:cs typeface="Arial Black" pitchFamily="34" charset="-120"/>
              </a:rPr>
              <a:t>Pillar 03 · Assurance — verifiable verdicts</a:t>
            </a:r>
            <a:endParaRPr lang="en-US" sz="3200" dirty="0"/>
          </a:p>
        </p:txBody>
      </p:sp>
      <p:sp>
        <p:nvSpPr>
          <p:cNvPr id="6" name="Shape 4"/>
          <p:cNvSpPr/>
          <p:nvPr/>
        </p:nvSpPr>
        <p:spPr>
          <a:xfrm>
            <a:off x="457200" y="2103120"/>
            <a:ext cx="7863840" cy="4584070"/>
          </a:xfrm>
          <a:prstGeom prst="roundRect">
            <a:avLst>
              <a:gd name="adj" fmla="val 997"/>
            </a:avLst>
          </a:prstGeom>
          <a:solidFill>
            <a:srgbClr val="0F141B"/>
          </a:solidFill>
          <a:ln w="12700">
            <a:solidFill>
              <a:srgbClr val="2B3542"/>
            </a:solidFill>
            <a:prstDash val="solid"/>
          </a:ln>
          <a:effectLst>
            <a:outerShdw sx="100000" sy="100000" kx="0" ky="0" algn="bl" rotWithShape="0" blurRad="127000" dist="50800" dir="5400000">
              <a:srgbClr val="7c8795">
                <a:alpha val="40000"/>
              </a:srgbClr>
            </a:outerShdw>
          </a:effectLst>
        </p:spPr>
      </p:sp>
      <p:pic>
        <p:nvPicPr>
          <p:cNvPr id="7" name="Image 0" descr="/home/claude/PDFSentry/deck/assets/dash_assurance.jpg">    </p:cNvPr>
          <p:cNvPicPr>
            <a:picLocks noChangeAspect="1"/>
          </p:cNvPicPr>
          <p:nvPr/>
        </p:nvPicPr>
        <p:blipFill>
          <a:blip r:embed="rId2"/>
          <a:stretch>
            <a:fillRect/>
          </a:stretch>
        </p:blipFill>
        <p:spPr>
          <a:xfrm>
            <a:off x="548640" y="2194560"/>
            <a:ext cx="7680960" cy="4401190"/>
          </a:xfrm>
          <a:prstGeom prst="rect">
            <a:avLst/>
          </a:prstGeom>
        </p:spPr>
      </p:pic>
      <p:sp>
        <p:nvSpPr>
          <p:cNvPr id="8" name="Text 5"/>
          <p:cNvSpPr txBox="1"/>
          <p:nvPr/>
        </p:nvSpPr>
        <p:spPr>
          <a:xfrm>
            <a:off x="8549640" y="2331720"/>
            <a:ext cx="3184855" cy="960120"/>
          </a:xfrm>
          <a:prstGeom prst="rect">
            <a:avLst/>
          </a:prstGeom>
          <a:noFill/>
          <a:ln/>
        </p:spPr>
        <p:txBody>
          <a:bodyPr wrap="square" lIns="0" tIns="0" rIns="0" bIns="0" rtlCol="0" anchor="t"/>
          <a:lstStyle/>
          <a:p>
            <a:pPr marL="342900" indent="-342900">
              <a:lnSpc>
                <a:spcPct val="112000"/>
              </a:lnSpc>
              <a:buSzPct val="100000"/>
              <a:buChar char="•"/>
            </a:pPr>
            <a:r>
              <a:rPr lang="en-US" sz="1350" b="1" dirty="0">
                <a:solidFill>
                  <a:srgbClr val="1B1E22"/>
                </a:solidFill>
                <a:latin typeface="Calibri" pitchFamily="34" charset="0"/>
                <a:ea typeface="Calibri" pitchFamily="34" charset="-122"/>
                <a:cs typeface="Calibri" pitchFamily="34" charset="-120"/>
              </a:rPr>
              <a:t>Certificate  </a:t>
            </a:r>
            <a:pPr indent="0" marL="0">
              <a:lnSpc>
                <a:spcPct val="112000"/>
              </a:lnSpc>
              <a:buNone/>
            </a:pPr>
            <a:r>
              <a:rPr lang="en-US" sz="1350" dirty="0">
                <a:solidFill>
                  <a:srgbClr val="3A3F46"/>
                </a:solidFill>
                <a:latin typeface="Calibri" pitchFamily="34" charset="0"/>
                <a:ea typeface="Calibri" pitchFamily="34" charset="-122"/>
                <a:cs typeface="Calibri" pitchFamily="34" charset="-120"/>
              </a:rPr>
              <a:t>Every alarm ships a minimal witness: catalog → trigger → dangerous node.</a:t>
            </a:r>
            <a:endParaRPr lang="en-US" sz="1350" dirty="0"/>
          </a:p>
        </p:txBody>
      </p:sp>
      <p:sp>
        <p:nvSpPr>
          <p:cNvPr id="9" name="Text 6"/>
          <p:cNvSpPr txBox="1"/>
          <p:nvPr/>
        </p:nvSpPr>
        <p:spPr>
          <a:xfrm>
            <a:off x="8549640" y="3291840"/>
            <a:ext cx="3184855" cy="960120"/>
          </a:xfrm>
          <a:prstGeom prst="rect">
            <a:avLst/>
          </a:prstGeom>
          <a:noFill/>
          <a:ln/>
        </p:spPr>
        <p:txBody>
          <a:bodyPr wrap="square" lIns="0" tIns="0" rIns="0" bIns="0" rtlCol="0" anchor="t"/>
          <a:lstStyle/>
          <a:p>
            <a:pPr marL="342900" indent="-342900">
              <a:lnSpc>
                <a:spcPct val="112000"/>
              </a:lnSpc>
              <a:buSzPct val="100000"/>
              <a:buChar char="•"/>
            </a:pPr>
            <a:r>
              <a:rPr lang="en-US" sz="1350" b="1" dirty="0">
                <a:solidFill>
                  <a:srgbClr val="1B1E22"/>
                </a:solidFill>
                <a:latin typeface="Calibri" pitchFamily="34" charset="0"/>
                <a:ea typeface="Calibri" pitchFamily="34" charset="-122"/>
                <a:cs typeface="Calibri" pitchFamily="34" charset="-120"/>
              </a:rPr>
              <a:t>0 / 285  </a:t>
            </a:r>
            <a:pPr indent="0" marL="0">
              <a:lnSpc>
                <a:spcPct val="112000"/>
              </a:lnSpc>
              <a:buNone/>
            </a:pPr>
            <a:r>
              <a:rPr lang="en-US" sz="1350" dirty="0">
                <a:solidFill>
                  <a:srgbClr val="3A3F46"/>
                </a:solidFill>
                <a:latin typeface="Calibri" pitchFamily="34" charset="0"/>
                <a:ea typeface="Calibri" pitchFamily="34" charset="-122"/>
                <a:cs typeface="Calibri" pitchFamily="34" charset="-120"/>
              </a:rPr>
              <a:t>false positives on the benign corpus (auto-exec gate).</a:t>
            </a:r>
            <a:endParaRPr lang="en-US" sz="1350" dirty="0"/>
          </a:p>
        </p:txBody>
      </p:sp>
      <p:sp>
        <p:nvSpPr>
          <p:cNvPr id="10" name="Text 7"/>
          <p:cNvSpPr txBox="1"/>
          <p:nvPr/>
        </p:nvSpPr>
        <p:spPr>
          <a:xfrm>
            <a:off x="8549640" y="4251960"/>
            <a:ext cx="3184855" cy="960120"/>
          </a:xfrm>
          <a:prstGeom prst="rect">
            <a:avLst/>
          </a:prstGeom>
          <a:noFill/>
          <a:ln/>
        </p:spPr>
        <p:txBody>
          <a:bodyPr wrap="square" lIns="0" tIns="0" rIns="0" bIns="0" rtlCol="0" anchor="t"/>
          <a:lstStyle/>
          <a:p>
            <a:pPr marL="342900" indent="-342900">
              <a:lnSpc>
                <a:spcPct val="112000"/>
              </a:lnSpc>
              <a:buSzPct val="100000"/>
              <a:buChar char="•"/>
            </a:pPr>
            <a:r>
              <a:rPr lang="en-US" sz="1350" b="1" dirty="0">
                <a:solidFill>
                  <a:srgbClr val="1B1E22"/>
                </a:solidFill>
                <a:latin typeface="Calibri" pitchFamily="34" charset="0"/>
                <a:ea typeface="Calibri" pitchFamily="34" charset="-122"/>
                <a:cs typeface="Calibri" pitchFamily="34" charset="-120"/>
              </a:rPr>
              <a:t>Deterministic  </a:t>
            </a:r>
            <a:pPr indent="0" marL="0">
              <a:lnSpc>
                <a:spcPct val="112000"/>
              </a:lnSpc>
              <a:buNone/>
            </a:pPr>
            <a:r>
              <a:rPr lang="en-US" sz="1350" dirty="0">
                <a:solidFill>
                  <a:srgbClr val="3A3F46"/>
                </a:solidFill>
                <a:latin typeface="Calibri" pitchFamily="34" charset="0"/>
                <a:ea typeface="Calibri" pitchFamily="34" charset="-122"/>
                <a:cs typeface="Calibri" pitchFamily="34" charset="-120"/>
              </a:rPr>
              <a:t>identical verdict + path over repeated runs; no training data.</a:t>
            </a:r>
            <a:endParaRPr lang="en-US" sz="1350" dirty="0"/>
          </a:p>
        </p:txBody>
      </p:sp>
      <p:sp>
        <p:nvSpPr>
          <p:cNvPr id="11" name="Text 8"/>
          <p:cNvSpPr txBox="1"/>
          <p:nvPr/>
        </p:nvSpPr>
        <p:spPr>
          <a:xfrm>
            <a:off x="8549640" y="5212080"/>
            <a:ext cx="3184855" cy="960120"/>
          </a:xfrm>
          <a:prstGeom prst="rect">
            <a:avLst/>
          </a:prstGeom>
          <a:noFill/>
          <a:ln/>
        </p:spPr>
        <p:txBody>
          <a:bodyPr wrap="square" lIns="0" tIns="0" rIns="0" bIns="0" rtlCol="0" anchor="t"/>
          <a:lstStyle/>
          <a:p>
            <a:pPr marL="342900" indent="-342900">
              <a:lnSpc>
                <a:spcPct val="112000"/>
              </a:lnSpc>
              <a:buSzPct val="100000"/>
              <a:buChar char="•"/>
            </a:pPr>
            <a:r>
              <a:rPr lang="en-US" sz="1350" b="1" dirty="0">
                <a:solidFill>
                  <a:srgbClr val="1B1E22"/>
                </a:solidFill>
                <a:latin typeface="Calibri" pitchFamily="34" charset="0"/>
                <a:ea typeface="Calibri" pitchFamily="34" charset="-122"/>
                <a:cs typeface="Calibri" pitchFamily="34" charset="-120"/>
              </a:rPr>
              <a:t>Fast  </a:t>
            </a:r>
            <a:pPr indent="0" marL="0">
              <a:lnSpc>
                <a:spcPct val="112000"/>
              </a:lnSpc>
              <a:buNone/>
            </a:pPr>
            <a:r>
              <a:rPr lang="en-US" sz="1350" dirty="0">
                <a:solidFill>
                  <a:srgbClr val="3A3F46"/>
                </a:solidFill>
                <a:latin typeface="Calibri" pitchFamily="34" charset="0"/>
                <a:ea typeface="Calibri" pitchFamily="34" charset="-122"/>
                <a:cs typeface="Calibri" pitchFamily="34" charset="-120"/>
              </a:rPr>
              <a:t>~1.2 ms median per document — gateway-deployable.</a:t>
            </a:r>
            <a:endParaRPr lang="en-US" sz="1350" dirty="0"/>
          </a:p>
        </p:txBody>
      </p:sp>
      <p:sp>
        <p:nvSpPr>
          <p:cNvPr id="12" name="Text 9"/>
          <p:cNvSpPr txBox="1"/>
          <p:nvPr/>
        </p:nvSpPr>
        <p:spPr>
          <a:xfrm>
            <a:off x="502920" y="6528816"/>
            <a:ext cx="6400800" cy="237744"/>
          </a:xfrm>
          <a:prstGeom prst="rect">
            <a:avLst/>
          </a:prstGeom>
          <a:noFill/>
          <a:ln/>
        </p:spPr>
        <p:txBody>
          <a:bodyPr wrap="square" lIns="0" tIns="0" rIns="0" bIns="0" rtlCol="0" anchor="ctr"/>
          <a:lstStyle/>
          <a:p>
            <a:pPr indent="0" marL="0">
              <a:buNone/>
            </a:pPr>
            <a:r>
              <a:rPr lang="en-US" sz="850" spc="150" kern="0" dirty="0">
                <a:solidFill>
                  <a:srgbClr val="9AA0A8"/>
                </a:solidFill>
                <a:latin typeface="Calibri" pitchFamily="34" charset="0"/>
                <a:ea typeface="Calibri" pitchFamily="34" charset="-122"/>
                <a:cs typeface="Calibri" pitchFamily="34" charset="-120"/>
              </a:rPr>
              <a:t>PDFSentry · Reachability over Recognition</a:t>
            </a:r>
            <a:endParaRPr lang="en-US" sz="850" dirty="0"/>
          </a:p>
        </p:txBody>
      </p:sp>
      <p:sp>
        <p:nvSpPr>
          <p:cNvPr id="13" name="Text 10"/>
          <p:cNvSpPr txBox="1"/>
          <p:nvPr/>
        </p:nvSpPr>
        <p:spPr>
          <a:xfrm>
            <a:off x="11323015" y="6510528"/>
            <a:ext cx="457200" cy="256032"/>
          </a:xfrm>
          <a:prstGeom prst="rect">
            <a:avLst/>
          </a:prstGeom>
          <a:noFill/>
          <a:ln/>
        </p:spPr>
        <p:txBody>
          <a:bodyPr wrap="square" lIns="0" tIns="0" rIns="0" bIns="0" rtlCol="0" anchor="ctr"/>
          <a:lstStyle/>
          <a:p>
            <a:pPr algn="r" indent="0" marL="0">
              <a:buNone/>
            </a:pPr>
            <a:r>
              <a:rPr lang="en-US" sz="950" b="1" dirty="0">
                <a:solidFill>
                  <a:srgbClr val="6B7178"/>
                </a:solidFill>
                <a:latin typeface="Calibri" pitchFamily="34" charset="0"/>
                <a:ea typeface="Calibri" pitchFamily="34" charset="-122"/>
                <a:cs typeface="Calibri" pitchFamily="34" charset="-120"/>
              </a:rPr>
              <a:t>14</a:t>
            </a:r>
            <a:endParaRPr lang="en-US" sz="9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502920" y="292608"/>
            <a:ext cx="4572000" cy="274320"/>
          </a:xfrm>
          <a:prstGeom prst="rect">
            <a:avLst/>
          </a:prstGeom>
          <a:noFill/>
          <a:ln/>
        </p:spPr>
        <p:txBody>
          <a:bodyPr wrap="square" lIns="0" tIns="0" rIns="0" bIns="0" rtlCol="0" anchor="ctr"/>
          <a:lstStyle/>
          <a:p>
            <a:pPr indent="0" marL="0">
              <a:buNone/>
            </a:pPr>
            <a:r>
              <a:rPr lang="en-US" sz="1100" b="1" spc="400" kern="0" dirty="0">
                <a:solidFill>
                  <a:srgbClr val="6B7178"/>
                </a:solidFill>
                <a:latin typeface="Calibri" pitchFamily="34" charset="0"/>
                <a:ea typeface="Calibri" pitchFamily="34" charset="-122"/>
                <a:cs typeface="Calibri" pitchFamily="34" charset="-120"/>
              </a:rPr>
              <a:t>PDFSENTRY</a:t>
            </a:r>
            <a:endParaRPr lang="en-US" sz="1100" dirty="0"/>
          </a:p>
        </p:txBody>
      </p:sp>
      <p:sp>
        <p:nvSpPr>
          <p:cNvPr id="3" name="Text 1"/>
          <p:cNvSpPr txBox="1"/>
          <p:nvPr/>
        </p:nvSpPr>
        <p:spPr>
          <a:xfrm>
            <a:off x="6659575" y="292608"/>
            <a:ext cx="5029200" cy="274320"/>
          </a:xfrm>
          <a:prstGeom prst="rect">
            <a:avLst/>
          </a:prstGeom>
          <a:noFill/>
          <a:ln/>
        </p:spPr>
        <p:txBody>
          <a:bodyPr wrap="square" lIns="0" tIns="0" rIns="0" bIns="0" rtlCol="0" anchor="ctr"/>
          <a:lstStyle/>
          <a:p>
            <a:pPr algn="r" indent="0" marL="0">
              <a:buNone/>
            </a:pPr>
            <a:r>
              <a:rPr lang="en-US" sz="1100" spc="300" kern="0" dirty="0">
                <a:solidFill>
                  <a:srgbClr val="6B7178"/>
                </a:solidFill>
                <a:latin typeface="Calibri" pitchFamily="34" charset="0"/>
                <a:ea typeface="Calibri" pitchFamily="34" charset="-122"/>
                <a:cs typeface="Calibri" pitchFamily="34" charset="-120"/>
              </a:rPr>
              <a:t>REVIEW 3 · FINAL</a:t>
            </a:r>
            <a:endParaRPr lang="en-US" sz="1100" dirty="0"/>
          </a:p>
        </p:txBody>
      </p:sp>
      <p:sp>
        <p:nvSpPr>
          <p:cNvPr id="4" name="Text 2"/>
          <p:cNvSpPr txBox="1"/>
          <p:nvPr/>
        </p:nvSpPr>
        <p:spPr>
          <a:xfrm>
            <a:off x="512064" y="786384"/>
            <a:ext cx="10058400" cy="256032"/>
          </a:xfrm>
          <a:prstGeom prst="rect">
            <a:avLst/>
          </a:prstGeom>
          <a:noFill/>
          <a:ln/>
        </p:spPr>
        <p:txBody>
          <a:bodyPr wrap="square" lIns="0" tIns="0" rIns="0" bIns="0" rtlCol="0" anchor="ctr"/>
          <a:lstStyle/>
          <a:p>
            <a:pPr indent="0" marL="0">
              <a:buNone/>
            </a:pPr>
            <a:r>
              <a:rPr lang="en-US" sz="1100" b="1" spc="400" kern="0" dirty="0">
                <a:solidFill>
                  <a:srgbClr val="2F8F82"/>
                </a:solidFill>
                <a:latin typeface="Calibri" pitchFamily="34" charset="0"/>
                <a:ea typeface="Calibri" pitchFamily="34" charset="-122"/>
                <a:cs typeface="Calibri" pitchFamily="34" charset="-120"/>
              </a:rPr>
              <a:t>14 · CHARACTERISTICS · IoCs</a:t>
            </a:r>
            <a:endParaRPr lang="en-US" sz="1100" dirty="0"/>
          </a:p>
        </p:txBody>
      </p:sp>
      <p:sp>
        <p:nvSpPr>
          <p:cNvPr id="5" name="Text 3"/>
          <p:cNvSpPr txBox="1"/>
          <p:nvPr/>
        </p:nvSpPr>
        <p:spPr>
          <a:xfrm>
            <a:off x="502920" y="1078992"/>
            <a:ext cx="11155680" cy="731520"/>
          </a:xfrm>
          <a:prstGeom prst="rect">
            <a:avLst/>
          </a:prstGeom>
          <a:noFill/>
          <a:ln/>
        </p:spPr>
        <p:txBody>
          <a:bodyPr wrap="square" lIns="0" tIns="0" rIns="0" bIns="0" rtlCol="0" anchor="ctr"/>
          <a:lstStyle/>
          <a:p>
            <a:pPr indent="0" marL="0">
              <a:buNone/>
            </a:pPr>
            <a:r>
              <a:rPr lang="en-US" sz="3200" dirty="0">
                <a:solidFill>
                  <a:srgbClr val="1B1E22"/>
                </a:solidFill>
                <a:latin typeface="Arial Black" pitchFamily="34" charset="0"/>
                <a:ea typeface="Arial Black" pitchFamily="34" charset="-122"/>
                <a:cs typeface="Arial Black" pitchFamily="34" charset="-120"/>
              </a:rPr>
              <a:t>Malware characteristics &amp; Indicators of Compromise</a:t>
            </a:r>
            <a:endParaRPr lang="en-US" sz="3200" dirty="0"/>
          </a:p>
        </p:txBody>
      </p:sp>
      <p:sp>
        <p:nvSpPr>
          <p:cNvPr id="6" name="Text 4"/>
          <p:cNvSpPr txBox="1"/>
          <p:nvPr/>
        </p:nvSpPr>
        <p:spPr>
          <a:xfrm>
            <a:off x="548640" y="1783080"/>
            <a:ext cx="10881360" cy="548640"/>
          </a:xfrm>
          <a:prstGeom prst="rect">
            <a:avLst/>
          </a:prstGeom>
          <a:noFill/>
          <a:ln/>
        </p:spPr>
        <p:txBody>
          <a:bodyPr wrap="square" lIns="0" tIns="0" rIns="0" bIns="0" rtlCol="0" anchor="ctr"/>
          <a:lstStyle/>
          <a:p>
            <a:pPr indent="0" marL="0">
              <a:lnSpc>
                <a:spcPct val="105000"/>
              </a:lnSpc>
              <a:buNone/>
            </a:pPr>
            <a:r>
              <a:rPr lang="en-US" sz="1550" dirty="0">
                <a:solidFill>
                  <a:srgbClr val="3A3F46"/>
                </a:solidFill>
                <a:latin typeface="Calibri" pitchFamily="34" charset="0"/>
                <a:ea typeface="Calibri" pitchFamily="34" charset="-122"/>
                <a:cs typeface="Calibri" pitchFamily="34" charset="-120"/>
              </a:rPr>
              <a:t>What evasive PDFs do to survive, and the structural indicators PDFSentry extracts — each a reachability feature, not a fragile byte signature.</a:t>
            </a:r>
            <a:endParaRPr lang="en-US" sz="1550" dirty="0"/>
          </a:p>
        </p:txBody>
      </p:sp>
      <p:sp>
        <p:nvSpPr>
          <p:cNvPr id="7" name="Text 5"/>
          <p:cNvSpPr txBox="1"/>
          <p:nvPr/>
        </p:nvSpPr>
        <p:spPr>
          <a:xfrm>
            <a:off x="566928" y="2423160"/>
            <a:ext cx="10881360" cy="4206240"/>
          </a:xfrm>
          <a:prstGeom prst="rect">
            <a:avLst/>
          </a:prstGeom>
          <a:noFill/>
          <a:ln/>
        </p:spPr>
        <p:txBody>
          <a:bodyPr wrap="square" lIns="0" tIns="0" rIns="0" bIns="0" rtlCol="0" anchor="t"/>
          <a:lstStyle/>
          <a:p>
            <a:pPr marL="342900" indent="-342900">
              <a:lnSpc>
                <a:spcPct val="118000"/>
              </a:lnSpc>
              <a:buSzPct val="100000"/>
              <a:buChar char="•"/>
            </a:pPr>
            <a:r>
              <a:rPr lang="en-US" sz="1600" b="1" dirty="0">
                <a:solidFill>
                  <a:srgbClr val="1B1E22"/>
                </a:solidFill>
                <a:latin typeface="Calibri" pitchFamily="34" charset="0"/>
                <a:ea typeface="Calibri" pitchFamily="34" charset="-122"/>
                <a:cs typeface="Calibri" pitchFamily="34" charset="-120"/>
              </a:rPr>
              <a:t>Auto-execution  </a:t>
            </a:r>
            <a:pPr indent="0" marL="0">
              <a:lnSpc>
                <a:spcPct val="118000"/>
              </a:lnSpc>
              <a:spcAft>
                <a:spcPts val="1300"/>
              </a:spcAft>
              <a:buNone/>
            </a:pPr>
            <a:r>
              <a:rPr lang="en-US" sz="1600" dirty="0">
                <a:solidFill>
                  <a:srgbClr val="3A3F46"/>
                </a:solidFill>
                <a:latin typeface="Calibri" pitchFamily="34" charset="0"/>
                <a:ea typeface="Calibri" pitchFamily="34" charset="-122"/>
                <a:cs typeface="Calibri" pitchFamily="34" charset="-120"/>
              </a:rPr>
              <a:t>A dangerous action (JavaScript, Launch, EmbeddedFile) wired to fire on open via /OpenAction, /AA or /Names.</a:t>
            </a:r>
            <a:endParaRPr lang="en-US" sz="1600" dirty="0"/>
          </a:p>
          <a:p>
            <a:pPr marL="342900" indent="-342900">
              <a:lnSpc>
                <a:spcPct val="118000"/>
              </a:lnSpc>
              <a:buSzPct val="100000"/>
              <a:buChar char="•"/>
            </a:pPr>
            <a:r>
              <a:rPr lang="en-US" sz="1600" b="1" dirty="0">
                <a:solidFill>
                  <a:srgbClr val="1B1E22"/>
                </a:solidFill>
                <a:latin typeface="Calibri" pitchFamily="34" charset="0"/>
                <a:ea typeface="Calibri" pitchFamily="34" charset="-122"/>
                <a:cs typeface="Calibri" pitchFamily="34" charset="-120"/>
              </a:rPr>
              <a:t>Concealment  </a:t>
            </a:r>
            <a:pPr indent="0" marL="0">
              <a:lnSpc>
                <a:spcPct val="118000"/>
              </a:lnSpc>
              <a:spcAft>
                <a:spcPts val="1300"/>
              </a:spcAft>
              <a:buNone/>
            </a:pPr>
            <a:r>
              <a:rPr lang="en-US" sz="1600" dirty="0">
                <a:solidFill>
                  <a:srgbClr val="3A3F46"/>
                </a:solidFill>
                <a:latin typeface="Calibri" pitchFamily="34" charset="0"/>
                <a:ea typeface="Calibri" pitchFamily="34" charset="-122"/>
                <a:cs typeface="Calibri" pitchFamily="34" charset="-120"/>
              </a:rPr>
              <a:t>The payload hidden in a compressed object stream — present in behaviour, invisible to a token count.</a:t>
            </a:r>
            <a:endParaRPr lang="en-US" sz="1600" dirty="0"/>
          </a:p>
          <a:p>
            <a:pPr marL="342900" indent="-342900">
              <a:lnSpc>
                <a:spcPct val="118000"/>
              </a:lnSpc>
              <a:buSzPct val="100000"/>
              <a:buChar char="•"/>
            </a:pPr>
            <a:r>
              <a:rPr lang="en-US" sz="1600" b="1" dirty="0">
                <a:solidFill>
                  <a:srgbClr val="1B1E22"/>
                </a:solidFill>
                <a:latin typeface="Calibri" pitchFamily="34" charset="0"/>
                <a:ea typeface="Calibri" pitchFamily="34" charset="-122"/>
                <a:cs typeface="Calibri" pitchFamily="34" charset="-120"/>
              </a:rPr>
              <a:t>IoC · reachable trigger  </a:t>
            </a:r>
            <a:pPr indent="0" marL="0">
              <a:lnSpc>
                <a:spcPct val="118000"/>
              </a:lnSpc>
              <a:spcAft>
                <a:spcPts val="1300"/>
              </a:spcAft>
              <a:buNone/>
            </a:pPr>
            <a:r>
              <a:rPr lang="en-US" sz="1600" dirty="0">
                <a:solidFill>
                  <a:srgbClr val="3A3F46"/>
                </a:solidFill>
                <a:latin typeface="Calibri" pitchFamily="34" charset="0"/>
                <a:ea typeface="Calibri" pitchFamily="34" charset="-122"/>
                <a:cs typeface="Calibri" pitchFamily="34" charset="-120"/>
              </a:rPr>
              <a:t>An auto-trigger with a path to /JS, /Launch or /EmbeddedFile → ACTIVE_ONOPEN.</a:t>
            </a:r>
            <a:endParaRPr lang="en-US" sz="1600" dirty="0"/>
          </a:p>
          <a:p>
            <a:pPr marL="342900" indent="-342900">
              <a:lnSpc>
                <a:spcPct val="118000"/>
              </a:lnSpc>
              <a:buSzPct val="100000"/>
              <a:buChar char="•"/>
            </a:pPr>
            <a:r>
              <a:rPr lang="en-US" sz="1600" b="1" dirty="0">
                <a:solidFill>
                  <a:srgbClr val="1B1E22"/>
                </a:solidFill>
                <a:latin typeface="Calibri" pitchFamily="34" charset="0"/>
                <a:ea typeface="Calibri" pitchFamily="34" charset="-122"/>
                <a:cs typeface="Calibri" pitchFamily="34" charset="-120"/>
              </a:rPr>
              <a:t>IoC · hidden-gap  </a:t>
            </a:r>
            <a:pPr indent="0" marL="0">
              <a:lnSpc>
                <a:spcPct val="118000"/>
              </a:lnSpc>
              <a:spcAft>
                <a:spcPts val="1300"/>
              </a:spcAft>
              <a:buNone/>
            </a:pPr>
            <a:r>
              <a:rPr lang="en-US" sz="1600" dirty="0">
                <a:solidFill>
                  <a:srgbClr val="3A3F46"/>
                </a:solidFill>
                <a:latin typeface="Calibri" pitchFamily="34" charset="0"/>
                <a:ea typeface="Calibri" pitchFamily="34" charset="-122"/>
                <a:cs typeface="Calibri" pitchFamily="34" charset="-120"/>
              </a:rPr>
              <a:t>An ACTIVE capability whose naive token count is 0 — a contradiction only concealment produces.</a:t>
            </a:r>
            <a:endParaRPr lang="en-US" sz="1600" dirty="0"/>
          </a:p>
          <a:p>
            <a:pPr marL="342900" indent="-342900">
              <a:lnSpc>
                <a:spcPct val="118000"/>
              </a:lnSpc>
              <a:buSzPct val="100000"/>
              <a:buChar char="•"/>
            </a:pPr>
            <a:r>
              <a:rPr lang="en-US" sz="1600" b="1" dirty="0">
                <a:solidFill>
                  <a:srgbClr val="1B1E22"/>
                </a:solidFill>
                <a:latin typeface="Calibri" pitchFamily="34" charset="0"/>
                <a:ea typeface="Calibri" pitchFamily="34" charset="-122"/>
                <a:cs typeface="Calibri" pitchFamily="34" charset="-120"/>
              </a:rPr>
              <a:t>IoC · byte tells  </a:t>
            </a:r>
            <a:pPr indent="0" marL="0">
              <a:lnSpc>
                <a:spcPct val="118000"/>
              </a:lnSpc>
              <a:spcAft>
                <a:spcPts val="1300"/>
              </a:spcAft>
              <a:buNone/>
            </a:pPr>
            <a:r>
              <a:rPr lang="en-US" sz="1600" dirty="0">
                <a:solidFill>
                  <a:srgbClr val="3A3F46"/>
                </a:solidFill>
                <a:latin typeface="Calibri" pitchFamily="34" charset="0"/>
                <a:ea typeface="Calibri" pitchFamily="34" charset="-122"/>
                <a:cs typeface="Calibri" pitchFamily="34" charset="-120"/>
              </a:rPr>
              <a:t>/FlateDecode far above the benign median (≈ 12 vs 7), entropy &gt; 7.9, JS token count 0, oversized file.</a:t>
            </a:r>
            <a:endParaRPr lang="en-US" sz="1600" dirty="0"/>
          </a:p>
          <a:p>
            <a:pPr marL="342900" indent="-342900">
              <a:lnSpc>
                <a:spcPct val="118000"/>
              </a:lnSpc>
              <a:buSzPct val="100000"/>
              <a:buChar char="•"/>
            </a:pPr>
            <a:r>
              <a:rPr lang="en-US" sz="1600" b="1" dirty="0">
                <a:solidFill>
                  <a:srgbClr val="1B1E22"/>
                </a:solidFill>
                <a:latin typeface="Calibri" pitchFamily="34" charset="0"/>
                <a:ea typeface="Calibri" pitchFamily="34" charset="-122"/>
                <a:cs typeface="Calibri" pitchFamily="34" charset="-120"/>
              </a:rPr>
              <a:t>IoC · deep chains  </a:t>
            </a:r>
            <a:pPr indent="0" marL="0">
              <a:lnSpc>
                <a:spcPct val="118000"/>
              </a:lnSpc>
              <a:spcAft>
                <a:spcPts val="1300"/>
              </a:spcAft>
              <a:buNone/>
            </a:pPr>
            <a:r>
              <a:rPr lang="en-US" sz="1600" dirty="0">
                <a:solidFill>
                  <a:srgbClr val="3A3F46"/>
                </a:solidFill>
                <a:latin typeface="Calibri" pitchFamily="34" charset="0"/>
                <a:ea typeface="Calibri" pitchFamily="34" charset="-122"/>
                <a:cs typeface="Calibri" pitchFamily="34" charset="-120"/>
              </a:rPr>
              <a:t>GoTo → Next action sequences terminating at a dangerous node.</a:t>
            </a:r>
            <a:endParaRPr lang="en-US" sz="1600" dirty="0"/>
          </a:p>
        </p:txBody>
      </p:sp>
      <p:pic>
        <p:nvPicPr>
          <p:cNvPr id="8" name="Image 0" descr="/home/claude/PDFSentry/deck/assets/orn_ring.png">    </p:cNvPr>
          <p:cNvPicPr>
            <a:picLocks noChangeAspect="1"/>
          </p:cNvPicPr>
          <p:nvPr/>
        </p:nvPicPr>
        <p:blipFill>
          <a:blip r:embed="rId2">
            <a:alphaModFix amt="45000"/>
          </a:blip>
          <a:stretch>
            <a:fillRect/>
          </a:stretch>
        </p:blipFill>
        <p:spPr>
          <a:xfrm>
            <a:off x="10561320" y="5120640"/>
            <a:ext cx="1097280" cy="1097280"/>
          </a:xfrm>
          <a:prstGeom prst="rect">
            <a:avLst/>
          </a:prstGeom>
        </p:spPr>
      </p:pic>
      <p:sp>
        <p:nvSpPr>
          <p:cNvPr id="9" name="Text 6"/>
          <p:cNvSpPr txBox="1"/>
          <p:nvPr/>
        </p:nvSpPr>
        <p:spPr>
          <a:xfrm>
            <a:off x="502920" y="6528816"/>
            <a:ext cx="6400800" cy="237744"/>
          </a:xfrm>
          <a:prstGeom prst="rect">
            <a:avLst/>
          </a:prstGeom>
          <a:noFill/>
          <a:ln/>
        </p:spPr>
        <p:txBody>
          <a:bodyPr wrap="square" lIns="0" tIns="0" rIns="0" bIns="0" rtlCol="0" anchor="ctr"/>
          <a:lstStyle/>
          <a:p>
            <a:pPr indent="0" marL="0">
              <a:buNone/>
            </a:pPr>
            <a:r>
              <a:rPr lang="en-US" sz="850" spc="150" kern="0" dirty="0">
                <a:solidFill>
                  <a:srgbClr val="9AA0A8"/>
                </a:solidFill>
                <a:latin typeface="Calibri" pitchFamily="34" charset="0"/>
                <a:ea typeface="Calibri" pitchFamily="34" charset="-122"/>
                <a:cs typeface="Calibri" pitchFamily="34" charset="-120"/>
              </a:rPr>
              <a:t>PDFSentry · Reachability over Recognition</a:t>
            </a:r>
            <a:endParaRPr lang="en-US" sz="850" dirty="0"/>
          </a:p>
        </p:txBody>
      </p:sp>
      <p:sp>
        <p:nvSpPr>
          <p:cNvPr id="10" name="Text 7"/>
          <p:cNvSpPr txBox="1"/>
          <p:nvPr/>
        </p:nvSpPr>
        <p:spPr>
          <a:xfrm>
            <a:off x="11323015" y="6510528"/>
            <a:ext cx="457200" cy="256032"/>
          </a:xfrm>
          <a:prstGeom prst="rect">
            <a:avLst/>
          </a:prstGeom>
          <a:noFill/>
          <a:ln/>
        </p:spPr>
        <p:txBody>
          <a:bodyPr wrap="square" lIns="0" tIns="0" rIns="0" bIns="0" rtlCol="0" anchor="ctr"/>
          <a:lstStyle/>
          <a:p>
            <a:pPr algn="r" indent="0" marL="0">
              <a:buNone/>
            </a:pPr>
            <a:r>
              <a:rPr lang="en-US" sz="950" b="1" dirty="0">
                <a:solidFill>
                  <a:srgbClr val="6B7178"/>
                </a:solidFill>
                <a:latin typeface="Calibri" pitchFamily="34" charset="0"/>
                <a:ea typeface="Calibri" pitchFamily="34" charset="-122"/>
                <a:cs typeface="Calibri" pitchFamily="34" charset="-120"/>
              </a:rPr>
              <a:t>15</a:t>
            </a:r>
            <a:endParaRPr lang="en-US" sz="9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502920" y="292608"/>
            <a:ext cx="4572000" cy="274320"/>
          </a:xfrm>
          <a:prstGeom prst="rect">
            <a:avLst/>
          </a:prstGeom>
          <a:noFill/>
          <a:ln/>
        </p:spPr>
        <p:txBody>
          <a:bodyPr wrap="square" lIns="0" tIns="0" rIns="0" bIns="0" rtlCol="0" anchor="ctr"/>
          <a:lstStyle/>
          <a:p>
            <a:pPr indent="0" marL="0">
              <a:buNone/>
            </a:pPr>
            <a:r>
              <a:rPr lang="en-US" sz="1100" b="1" spc="400" kern="0" dirty="0">
                <a:solidFill>
                  <a:srgbClr val="6B7178"/>
                </a:solidFill>
                <a:latin typeface="Calibri" pitchFamily="34" charset="0"/>
                <a:ea typeface="Calibri" pitchFamily="34" charset="-122"/>
                <a:cs typeface="Calibri" pitchFamily="34" charset="-120"/>
              </a:rPr>
              <a:t>PDFSENTRY</a:t>
            </a:r>
            <a:endParaRPr lang="en-US" sz="1100" dirty="0"/>
          </a:p>
        </p:txBody>
      </p:sp>
      <p:sp>
        <p:nvSpPr>
          <p:cNvPr id="3" name="Text 1"/>
          <p:cNvSpPr txBox="1"/>
          <p:nvPr/>
        </p:nvSpPr>
        <p:spPr>
          <a:xfrm>
            <a:off x="6659575" y="292608"/>
            <a:ext cx="5029200" cy="274320"/>
          </a:xfrm>
          <a:prstGeom prst="rect">
            <a:avLst/>
          </a:prstGeom>
          <a:noFill/>
          <a:ln/>
        </p:spPr>
        <p:txBody>
          <a:bodyPr wrap="square" lIns="0" tIns="0" rIns="0" bIns="0" rtlCol="0" anchor="ctr"/>
          <a:lstStyle/>
          <a:p>
            <a:pPr algn="r" indent="0" marL="0">
              <a:buNone/>
            </a:pPr>
            <a:r>
              <a:rPr lang="en-US" sz="1100" spc="300" kern="0" dirty="0">
                <a:solidFill>
                  <a:srgbClr val="6B7178"/>
                </a:solidFill>
                <a:latin typeface="Calibri" pitchFamily="34" charset="0"/>
                <a:ea typeface="Calibri" pitchFamily="34" charset="-122"/>
                <a:cs typeface="Calibri" pitchFamily="34" charset="-120"/>
              </a:rPr>
              <a:t>REVIEW 3 · FINAL</a:t>
            </a:r>
            <a:endParaRPr lang="en-US" sz="1100" dirty="0"/>
          </a:p>
        </p:txBody>
      </p:sp>
      <p:sp>
        <p:nvSpPr>
          <p:cNvPr id="4" name="Text 2"/>
          <p:cNvSpPr txBox="1"/>
          <p:nvPr/>
        </p:nvSpPr>
        <p:spPr>
          <a:xfrm>
            <a:off x="512064" y="786384"/>
            <a:ext cx="10058400" cy="256032"/>
          </a:xfrm>
          <a:prstGeom prst="rect">
            <a:avLst/>
          </a:prstGeom>
          <a:noFill/>
          <a:ln/>
        </p:spPr>
        <p:txBody>
          <a:bodyPr wrap="square" lIns="0" tIns="0" rIns="0" bIns="0" rtlCol="0" anchor="ctr"/>
          <a:lstStyle/>
          <a:p>
            <a:pPr indent="0" marL="0">
              <a:buNone/>
            </a:pPr>
            <a:r>
              <a:rPr lang="en-US" sz="1100" b="1" spc="400" kern="0" dirty="0">
                <a:solidFill>
                  <a:srgbClr val="2F8F82"/>
                </a:solidFill>
                <a:latin typeface="Calibri" pitchFamily="34" charset="0"/>
                <a:ea typeface="Calibri" pitchFamily="34" charset="-122"/>
                <a:cs typeface="Calibri" pitchFamily="34" charset="-120"/>
              </a:rPr>
              <a:t>15 · COMPARISON</a:t>
            </a:r>
            <a:endParaRPr lang="en-US" sz="1100" dirty="0"/>
          </a:p>
        </p:txBody>
      </p:sp>
      <p:sp>
        <p:nvSpPr>
          <p:cNvPr id="5" name="Text 3"/>
          <p:cNvSpPr txBox="1"/>
          <p:nvPr/>
        </p:nvSpPr>
        <p:spPr>
          <a:xfrm>
            <a:off x="502920" y="1078992"/>
            <a:ext cx="11155680" cy="731520"/>
          </a:xfrm>
          <a:prstGeom prst="rect">
            <a:avLst/>
          </a:prstGeom>
          <a:noFill/>
          <a:ln/>
        </p:spPr>
        <p:txBody>
          <a:bodyPr wrap="square" lIns="0" tIns="0" rIns="0" bIns="0" rtlCol="0" anchor="ctr"/>
          <a:lstStyle/>
          <a:p>
            <a:pPr indent="0" marL="0">
              <a:buNone/>
            </a:pPr>
            <a:r>
              <a:rPr lang="en-US" sz="3200" dirty="0">
                <a:solidFill>
                  <a:srgbClr val="1B1E22"/>
                </a:solidFill>
                <a:latin typeface="Arial Black" pitchFamily="34" charset="0"/>
                <a:ea typeface="Arial Black" pitchFamily="34" charset="-122"/>
                <a:cs typeface="Arial Black" pitchFamily="34" charset="-120"/>
              </a:rPr>
              <a:t>Comparison &amp; honest scope</a:t>
            </a:r>
            <a:endParaRPr lang="en-US" sz="3200" dirty="0"/>
          </a:p>
        </p:txBody>
      </p:sp>
      <p:sp>
        <p:nvSpPr>
          <p:cNvPr id="6" name="Text 4"/>
          <p:cNvSpPr txBox="1"/>
          <p:nvPr/>
        </p:nvSpPr>
        <p:spPr>
          <a:xfrm>
            <a:off x="548640" y="1783080"/>
            <a:ext cx="10881360" cy="457200"/>
          </a:xfrm>
          <a:prstGeom prst="rect">
            <a:avLst/>
          </a:prstGeom>
          <a:noFill/>
          <a:ln/>
        </p:spPr>
        <p:txBody>
          <a:bodyPr wrap="square" lIns="0" tIns="0" rIns="0" bIns="0" rtlCol="0" anchor="ctr"/>
          <a:lstStyle/>
          <a:p>
            <a:pPr indent="0" marL="0">
              <a:buNone/>
            </a:pPr>
            <a:r>
              <a:rPr lang="en-US" sz="1500" dirty="0">
                <a:solidFill>
                  <a:srgbClr val="3A3F46"/>
                </a:solidFill>
                <a:latin typeface="Calibri" pitchFamily="34" charset="0"/>
                <a:ea typeface="Calibri" pitchFamily="34" charset="-122"/>
                <a:cs typeface="Calibri" pitchFamily="34" charset="-120"/>
              </a:rPr>
              <a:t>PDFSentry against the byte-ML baseline and a classic structural-path detector — with the scope stated plainly.</a:t>
            </a:r>
            <a:endParaRPr lang="en-US" sz="150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548640" y="2514600"/>
          <a:ext cx="10881360" cy="914400"/>
        </p:xfrm>
        <a:graphic>
          <a:graphicData uri="http://schemas.openxmlformats.org/drawingml/2006/table">
            <a:tbl>
              <a:tblPr/>
              <a:tblGrid>
                <a:gridCol w="3291840"/>
                <a:gridCol w="2529840"/>
                <a:gridCol w="2529840"/>
                <a:gridCol w="2529840"/>
              </a:tblGrid>
              <a:tr h="512064">
                <a:tc>
                  <a:txBody>
                    <a:bodyPr/>
                    <a:lstStyle/>
                    <a:p>
                      <a:pPr algn="l" indent="0" marL="0">
                        <a:buNone/>
                      </a:pPr>
                      <a:r>
                        <a:rPr lang="en-US" sz="1300" b="1" dirty="0">
                          <a:solidFill>
                            <a:srgbClr val="FFFFFF"/>
                          </a:solidFill>
                          <a:latin typeface="Calibri" pitchFamily="34" charset="0"/>
                          <a:ea typeface="Calibri" pitchFamily="34" charset="-122"/>
                          <a:cs typeface="Calibri" pitchFamily="34" charset="-120"/>
                        </a:rPr>
                        <a:t>Property</a:t>
                      </a:r>
                      <a:endParaRPr lang="en-US" sz="1300" dirty="0">
                        <a:latin typeface="Calibri" charset="0"/>
                        <a:ea typeface="Calibri" charset="0"/>
                        <a:cs typeface="Calibri" charset="0"/>
                      </a:endParaRPr>
                    </a:p>
                  </a:txBody>
                  <a:tcPr marL="63500" marR="63500" marT="63500" marB="63500" anchor="ctr">
                    <a:lnL w="9525" cap="flat" cmpd="sng" algn="ctr">
                      <a:solidFill>
                        <a:srgbClr val="DDE1E6"/>
                      </a:solidFill>
                      <a:prstDash val="solid"/>
                      <a:round/>
                      <a:headEnd type="none" w="med" len="med"/>
                      <a:tailEnd type="none" w="med" len="med"/>
                    </a:lnL>
                    <a:lnR w="9525" cap="flat" cmpd="sng" algn="ctr">
                      <a:solidFill>
                        <a:srgbClr val="DDE1E6"/>
                      </a:solidFill>
                      <a:prstDash val="solid"/>
                      <a:round/>
                      <a:headEnd type="none" w="med" len="med"/>
                      <a:tailEnd type="none" w="med" len="med"/>
                    </a:lnR>
                    <a:lnT w="9525" cap="flat" cmpd="sng" algn="ctr">
                      <a:solidFill>
                        <a:srgbClr val="DDE1E6"/>
                      </a:solidFill>
                      <a:prstDash val="solid"/>
                      <a:round/>
                      <a:headEnd type="none" w="med" len="med"/>
                      <a:tailEnd type="none" w="med" len="med"/>
                    </a:lnT>
                    <a:lnB w="9525" cap="flat" cmpd="sng" algn="ctr">
                      <a:solidFill>
                        <a:srgbClr val="DDE1E6"/>
                      </a:solidFill>
                      <a:prstDash val="solid"/>
                      <a:round/>
                      <a:headEnd type="none" w="med" len="med"/>
                      <a:tailEnd type="none" w="med" len="med"/>
                    </a:lnB>
                    <a:solidFill>
                      <a:srgbClr val="1B1E22"/>
                    </a:solidFill>
                  </a:tcPr>
                </a:tc>
                <a:tc>
                  <a:txBody>
                    <a:bodyPr/>
                    <a:lstStyle/>
                    <a:p>
                      <a:pPr algn="ctr" indent="0" marL="0">
                        <a:buNone/>
                      </a:pPr>
                      <a:r>
                        <a:rPr lang="en-US" sz="1300" b="1" dirty="0">
                          <a:solidFill>
                            <a:srgbClr val="FFFFFF"/>
                          </a:solidFill>
                          <a:latin typeface="Calibri" pitchFamily="34" charset="0"/>
                          <a:ea typeface="Calibri" pitchFamily="34" charset="-122"/>
                          <a:cs typeface="Calibri" pitchFamily="34" charset="-120"/>
                        </a:rPr>
                        <a:t>EMBER2024</a:t>
                      </a:r>
                      <a:endParaRPr lang="en-US" sz="1300" dirty="0">
                        <a:latin typeface="Calibri" charset="0"/>
                        <a:ea typeface="Calibri" charset="0"/>
                        <a:cs typeface="Calibri" charset="0"/>
                      </a:endParaRPr>
                    </a:p>
                  </a:txBody>
                  <a:tcPr marL="63500" marR="63500" marT="63500" marB="63500" anchor="ctr">
                    <a:lnL w="9525" cap="flat" cmpd="sng" algn="ctr">
                      <a:solidFill>
                        <a:srgbClr val="DDE1E6"/>
                      </a:solidFill>
                      <a:prstDash val="solid"/>
                      <a:round/>
                      <a:headEnd type="none" w="med" len="med"/>
                      <a:tailEnd type="none" w="med" len="med"/>
                    </a:lnL>
                    <a:lnR w="9525" cap="flat" cmpd="sng" algn="ctr">
                      <a:solidFill>
                        <a:srgbClr val="DDE1E6"/>
                      </a:solidFill>
                      <a:prstDash val="solid"/>
                      <a:round/>
                      <a:headEnd type="none" w="med" len="med"/>
                      <a:tailEnd type="none" w="med" len="med"/>
                    </a:lnR>
                    <a:lnT w="9525" cap="flat" cmpd="sng" algn="ctr">
                      <a:solidFill>
                        <a:srgbClr val="DDE1E6"/>
                      </a:solidFill>
                      <a:prstDash val="solid"/>
                      <a:round/>
                      <a:headEnd type="none" w="med" len="med"/>
                      <a:tailEnd type="none" w="med" len="med"/>
                    </a:lnT>
                    <a:lnB w="9525" cap="flat" cmpd="sng" algn="ctr">
                      <a:solidFill>
                        <a:srgbClr val="DDE1E6"/>
                      </a:solidFill>
                      <a:prstDash val="solid"/>
                      <a:round/>
                      <a:headEnd type="none" w="med" len="med"/>
                      <a:tailEnd type="none" w="med" len="med"/>
                    </a:lnB>
                    <a:solidFill>
                      <a:srgbClr val="1B1E22"/>
                    </a:solidFill>
                  </a:tcPr>
                </a:tc>
                <a:tc>
                  <a:txBody>
                    <a:bodyPr/>
                    <a:lstStyle/>
                    <a:p>
                      <a:pPr algn="ctr" indent="0" marL="0">
                        <a:buNone/>
                      </a:pPr>
                      <a:r>
                        <a:rPr lang="en-US" sz="1300" b="1" dirty="0">
                          <a:solidFill>
                            <a:srgbClr val="FFFFFF"/>
                          </a:solidFill>
                          <a:latin typeface="Calibri" pitchFamily="34" charset="0"/>
                          <a:ea typeface="Calibri" pitchFamily="34" charset="-122"/>
                          <a:cs typeface="Calibri" pitchFamily="34" charset="-120"/>
                        </a:rPr>
                        <a:t>Hidost</a:t>
                      </a:r>
                      <a:endParaRPr lang="en-US" sz="1300" dirty="0">
                        <a:latin typeface="Calibri" charset="0"/>
                        <a:ea typeface="Calibri" charset="0"/>
                        <a:cs typeface="Calibri" charset="0"/>
                      </a:endParaRPr>
                    </a:p>
                  </a:txBody>
                  <a:tcPr marL="63500" marR="63500" marT="63500" marB="63500" anchor="ctr">
                    <a:lnL w="9525" cap="flat" cmpd="sng" algn="ctr">
                      <a:solidFill>
                        <a:srgbClr val="DDE1E6"/>
                      </a:solidFill>
                      <a:prstDash val="solid"/>
                      <a:round/>
                      <a:headEnd type="none" w="med" len="med"/>
                      <a:tailEnd type="none" w="med" len="med"/>
                    </a:lnL>
                    <a:lnR w="9525" cap="flat" cmpd="sng" algn="ctr">
                      <a:solidFill>
                        <a:srgbClr val="DDE1E6"/>
                      </a:solidFill>
                      <a:prstDash val="solid"/>
                      <a:round/>
                      <a:headEnd type="none" w="med" len="med"/>
                      <a:tailEnd type="none" w="med" len="med"/>
                    </a:lnR>
                    <a:lnT w="9525" cap="flat" cmpd="sng" algn="ctr">
                      <a:solidFill>
                        <a:srgbClr val="DDE1E6"/>
                      </a:solidFill>
                      <a:prstDash val="solid"/>
                      <a:round/>
                      <a:headEnd type="none" w="med" len="med"/>
                      <a:tailEnd type="none" w="med" len="med"/>
                    </a:lnT>
                    <a:lnB w="9525" cap="flat" cmpd="sng" algn="ctr">
                      <a:solidFill>
                        <a:srgbClr val="DDE1E6"/>
                      </a:solidFill>
                      <a:prstDash val="solid"/>
                      <a:round/>
                      <a:headEnd type="none" w="med" len="med"/>
                      <a:tailEnd type="none" w="med" len="med"/>
                    </a:lnB>
                    <a:solidFill>
                      <a:srgbClr val="1B1E22"/>
                    </a:solidFill>
                  </a:tcPr>
                </a:tc>
                <a:tc>
                  <a:txBody>
                    <a:bodyPr/>
                    <a:lstStyle/>
                    <a:p>
                      <a:pPr algn="ctr" indent="0" marL="0">
                        <a:buNone/>
                      </a:pPr>
                      <a:r>
                        <a:rPr lang="en-US" sz="1300" b="1" dirty="0">
                          <a:solidFill>
                            <a:srgbClr val="FFFFFF"/>
                          </a:solidFill>
                          <a:latin typeface="Calibri" pitchFamily="34" charset="0"/>
                          <a:ea typeface="Calibri" pitchFamily="34" charset="-122"/>
                          <a:cs typeface="Calibri" pitchFamily="34" charset="-120"/>
                        </a:rPr>
                        <a:t>PDFSentry</a:t>
                      </a:r>
                      <a:endParaRPr lang="en-US" sz="1300" dirty="0">
                        <a:latin typeface="Calibri" charset="0"/>
                        <a:ea typeface="Calibri" charset="0"/>
                        <a:cs typeface="Calibri" charset="0"/>
                      </a:endParaRPr>
                    </a:p>
                  </a:txBody>
                  <a:tcPr marL="63500" marR="63500" marT="63500" marB="63500" anchor="ctr">
                    <a:lnL w="9525" cap="flat" cmpd="sng" algn="ctr">
                      <a:solidFill>
                        <a:srgbClr val="DDE1E6"/>
                      </a:solidFill>
                      <a:prstDash val="solid"/>
                      <a:round/>
                      <a:headEnd type="none" w="med" len="med"/>
                      <a:tailEnd type="none" w="med" len="med"/>
                    </a:lnL>
                    <a:lnR w="9525" cap="flat" cmpd="sng" algn="ctr">
                      <a:solidFill>
                        <a:srgbClr val="DDE1E6"/>
                      </a:solidFill>
                      <a:prstDash val="solid"/>
                      <a:round/>
                      <a:headEnd type="none" w="med" len="med"/>
                      <a:tailEnd type="none" w="med" len="med"/>
                    </a:lnR>
                    <a:lnT w="9525" cap="flat" cmpd="sng" algn="ctr">
                      <a:solidFill>
                        <a:srgbClr val="DDE1E6"/>
                      </a:solidFill>
                      <a:prstDash val="solid"/>
                      <a:round/>
                      <a:headEnd type="none" w="med" len="med"/>
                      <a:tailEnd type="none" w="med" len="med"/>
                    </a:lnT>
                    <a:lnB w="9525" cap="flat" cmpd="sng" algn="ctr">
                      <a:solidFill>
                        <a:srgbClr val="DDE1E6"/>
                      </a:solidFill>
                      <a:prstDash val="solid"/>
                      <a:round/>
                      <a:headEnd type="none" w="med" len="med"/>
                      <a:tailEnd type="none" w="med" len="med"/>
                    </a:lnB>
                    <a:solidFill>
                      <a:srgbClr val="1B1E22"/>
                    </a:solidFill>
                  </a:tcPr>
                </a:tc>
              </a:tr>
              <a:tr h="512064">
                <a:tc>
                  <a:txBody>
                    <a:bodyPr/>
                    <a:lstStyle/>
                    <a:p>
                      <a:pPr algn="l" indent="0" marL="0">
                        <a:buNone/>
                      </a:pPr>
                      <a:r>
                        <a:rPr lang="en-US" sz="1200" b="1" dirty="0">
                          <a:solidFill>
                            <a:srgbClr val="1B1E22"/>
                          </a:solidFill>
                          <a:latin typeface="Calibri" pitchFamily="34" charset="0"/>
                          <a:ea typeface="Calibri" pitchFamily="34" charset="-122"/>
                          <a:cs typeface="Calibri" pitchFamily="34" charset="-120"/>
                        </a:rPr>
                        <a:t>Reads what the file DOES</a:t>
                      </a:r>
                      <a:endParaRPr lang="en-US" sz="1200" dirty="0">
                        <a:latin typeface="Calibri" charset="0"/>
                        <a:ea typeface="Calibri" charset="0"/>
                        <a:cs typeface="Calibri" charset="0"/>
                      </a:endParaRPr>
                    </a:p>
                  </a:txBody>
                  <a:tcPr marL="63500" marR="63500" marT="63500" marB="63500" anchor="ctr">
                    <a:lnL w="9525" cap="flat" cmpd="sng" algn="ctr">
                      <a:solidFill>
                        <a:srgbClr val="DDE1E6"/>
                      </a:solidFill>
                      <a:prstDash val="solid"/>
                      <a:round/>
                      <a:headEnd type="none" w="med" len="med"/>
                      <a:tailEnd type="none" w="med" len="med"/>
                    </a:lnL>
                    <a:lnR w="9525" cap="flat" cmpd="sng" algn="ctr">
                      <a:solidFill>
                        <a:srgbClr val="DDE1E6"/>
                      </a:solidFill>
                      <a:prstDash val="solid"/>
                      <a:round/>
                      <a:headEnd type="none" w="med" len="med"/>
                      <a:tailEnd type="none" w="med" len="med"/>
                    </a:lnR>
                    <a:lnT w="9525" cap="flat" cmpd="sng" algn="ctr">
                      <a:solidFill>
                        <a:srgbClr val="DDE1E6"/>
                      </a:solidFill>
                      <a:prstDash val="solid"/>
                      <a:round/>
                      <a:headEnd type="none" w="med" len="med"/>
                      <a:tailEnd type="none" w="med" len="med"/>
                    </a:lnT>
                    <a:lnB w="9525" cap="flat" cmpd="sng" algn="ctr">
                      <a:solidFill>
                        <a:srgbClr val="DDE1E6"/>
                      </a:solidFill>
                      <a:prstDash val="solid"/>
                      <a:round/>
                      <a:headEnd type="none" w="med" len="med"/>
                      <a:tailEnd type="none" w="med" len="med"/>
                    </a:lnB>
                    <a:solidFill>
                      <a:srgbClr val="F1F3F5"/>
                    </a:solidFill>
                  </a:tcPr>
                </a:tc>
                <a:tc>
                  <a:txBody>
                    <a:bodyPr/>
                    <a:lstStyle/>
                    <a:p>
                      <a:pPr algn="ctr" indent="0" marL="0">
                        <a:buNone/>
                      </a:pPr>
                      <a:r>
                        <a:rPr lang="en-US" sz="1200" dirty="0">
                          <a:solidFill>
                            <a:srgbClr val="3A3F46"/>
                          </a:solidFill>
                          <a:latin typeface="Calibri" pitchFamily="34" charset="0"/>
                          <a:ea typeface="Calibri" pitchFamily="34" charset="-122"/>
                          <a:cs typeface="Calibri" pitchFamily="34" charset="-120"/>
                        </a:rPr>
                        <a:t>No (bytes/strings)</a:t>
                      </a:r>
                      <a:endParaRPr lang="en-US" sz="1200" dirty="0">
                        <a:latin typeface="Calibri" charset="0"/>
                        <a:ea typeface="Calibri" charset="0"/>
                        <a:cs typeface="Calibri" charset="0"/>
                      </a:endParaRPr>
                    </a:p>
                  </a:txBody>
                  <a:tcPr marL="63500" marR="63500" marT="63500" marB="63500" anchor="ctr">
                    <a:lnL w="9525" cap="flat" cmpd="sng" algn="ctr">
                      <a:solidFill>
                        <a:srgbClr val="DDE1E6"/>
                      </a:solidFill>
                      <a:prstDash val="solid"/>
                      <a:round/>
                      <a:headEnd type="none" w="med" len="med"/>
                      <a:tailEnd type="none" w="med" len="med"/>
                    </a:lnL>
                    <a:lnR w="9525" cap="flat" cmpd="sng" algn="ctr">
                      <a:solidFill>
                        <a:srgbClr val="DDE1E6"/>
                      </a:solidFill>
                      <a:prstDash val="solid"/>
                      <a:round/>
                      <a:headEnd type="none" w="med" len="med"/>
                      <a:tailEnd type="none" w="med" len="med"/>
                    </a:lnR>
                    <a:lnT w="9525" cap="flat" cmpd="sng" algn="ctr">
                      <a:solidFill>
                        <a:srgbClr val="DDE1E6"/>
                      </a:solidFill>
                      <a:prstDash val="solid"/>
                      <a:round/>
                      <a:headEnd type="none" w="med" len="med"/>
                      <a:tailEnd type="none" w="med" len="med"/>
                    </a:lnT>
                    <a:lnB w="9525" cap="flat" cmpd="sng" algn="ctr">
                      <a:solidFill>
                        <a:srgbClr val="DDE1E6"/>
                      </a:solidFill>
                      <a:prstDash val="solid"/>
                      <a:round/>
                      <a:headEnd type="none" w="med" len="med"/>
                      <a:tailEnd type="none" w="med" len="med"/>
                    </a:lnB>
                    <a:solidFill>
                      <a:srgbClr val="F1F3F5"/>
                    </a:solidFill>
                  </a:tcPr>
                </a:tc>
                <a:tc>
                  <a:txBody>
                    <a:bodyPr/>
                    <a:lstStyle/>
                    <a:p>
                      <a:pPr algn="ctr" indent="0" marL="0">
                        <a:buNone/>
                      </a:pPr>
                      <a:r>
                        <a:rPr lang="en-US" sz="1200" dirty="0">
                          <a:solidFill>
                            <a:srgbClr val="3A3F46"/>
                          </a:solidFill>
                          <a:latin typeface="Calibri" pitchFamily="34" charset="0"/>
                          <a:ea typeface="Calibri" pitchFamily="34" charset="-122"/>
                          <a:cs typeface="Calibri" pitchFamily="34" charset="-120"/>
                        </a:rPr>
                        <a:t>Partial (static paths)</a:t>
                      </a:r>
                      <a:endParaRPr lang="en-US" sz="1200" dirty="0">
                        <a:latin typeface="Calibri" charset="0"/>
                        <a:ea typeface="Calibri" charset="0"/>
                        <a:cs typeface="Calibri" charset="0"/>
                      </a:endParaRPr>
                    </a:p>
                  </a:txBody>
                  <a:tcPr marL="63500" marR="63500" marT="63500" marB="63500" anchor="ctr">
                    <a:lnL w="9525" cap="flat" cmpd="sng" algn="ctr">
                      <a:solidFill>
                        <a:srgbClr val="DDE1E6"/>
                      </a:solidFill>
                      <a:prstDash val="solid"/>
                      <a:round/>
                      <a:headEnd type="none" w="med" len="med"/>
                      <a:tailEnd type="none" w="med" len="med"/>
                    </a:lnL>
                    <a:lnR w="9525" cap="flat" cmpd="sng" algn="ctr">
                      <a:solidFill>
                        <a:srgbClr val="DDE1E6"/>
                      </a:solidFill>
                      <a:prstDash val="solid"/>
                      <a:round/>
                      <a:headEnd type="none" w="med" len="med"/>
                      <a:tailEnd type="none" w="med" len="med"/>
                    </a:lnR>
                    <a:lnT w="9525" cap="flat" cmpd="sng" algn="ctr">
                      <a:solidFill>
                        <a:srgbClr val="DDE1E6"/>
                      </a:solidFill>
                      <a:prstDash val="solid"/>
                      <a:round/>
                      <a:headEnd type="none" w="med" len="med"/>
                      <a:tailEnd type="none" w="med" len="med"/>
                    </a:lnT>
                    <a:lnB w="9525" cap="flat" cmpd="sng" algn="ctr">
                      <a:solidFill>
                        <a:srgbClr val="DDE1E6"/>
                      </a:solidFill>
                      <a:prstDash val="solid"/>
                      <a:round/>
                      <a:headEnd type="none" w="med" len="med"/>
                      <a:tailEnd type="none" w="med" len="med"/>
                    </a:lnB>
                    <a:solidFill>
                      <a:srgbClr val="F1F3F5"/>
                    </a:solidFill>
                  </a:tcPr>
                </a:tc>
                <a:tc>
                  <a:txBody>
                    <a:bodyPr/>
                    <a:lstStyle/>
                    <a:p>
                      <a:pPr algn="ctr" indent="0" marL="0">
                        <a:buNone/>
                      </a:pPr>
                      <a:r>
                        <a:rPr lang="en-US" sz="1200" b="1" dirty="0">
                          <a:solidFill>
                            <a:srgbClr val="2F8F82"/>
                          </a:solidFill>
                          <a:latin typeface="Calibri" pitchFamily="34" charset="0"/>
                          <a:ea typeface="Calibri" pitchFamily="34" charset="-122"/>
                          <a:cs typeface="Calibri" pitchFamily="34" charset="-120"/>
                        </a:rPr>
                        <a:t>Yes (reachability)</a:t>
                      </a:r>
                      <a:endParaRPr lang="en-US" sz="1200" dirty="0">
                        <a:latin typeface="Calibri" charset="0"/>
                        <a:ea typeface="Calibri" charset="0"/>
                        <a:cs typeface="Calibri" charset="0"/>
                      </a:endParaRPr>
                    </a:p>
                  </a:txBody>
                  <a:tcPr marL="63500" marR="63500" marT="63500" marB="63500" anchor="ctr">
                    <a:lnL w="9525" cap="flat" cmpd="sng" algn="ctr">
                      <a:solidFill>
                        <a:srgbClr val="DDE1E6"/>
                      </a:solidFill>
                      <a:prstDash val="solid"/>
                      <a:round/>
                      <a:headEnd type="none" w="med" len="med"/>
                      <a:tailEnd type="none" w="med" len="med"/>
                    </a:lnL>
                    <a:lnR w="9525" cap="flat" cmpd="sng" algn="ctr">
                      <a:solidFill>
                        <a:srgbClr val="DDE1E6"/>
                      </a:solidFill>
                      <a:prstDash val="solid"/>
                      <a:round/>
                      <a:headEnd type="none" w="med" len="med"/>
                      <a:tailEnd type="none" w="med" len="med"/>
                    </a:lnR>
                    <a:lnT w="9525" cap="flat" cmpd="sng" algn="ctr">
                      <a:solidFill>
                        <a:srgbClr val="DDE1E6"/>
                      </a:solidFill>
                      <a:prstDash val="solid"/>
                      <a:round/>
                      <a:headEnd type="none" w="med" len="med"/>
                      <a:tailEnd type="none" w="med" len="med"/>
                    </a:lnT>
                    <a:lnB w="9525" cap="flat" cmpd="sng" algn="ctr">
                      <a:solidFill>
                        <a:srgbClr val="DDE1E6"/>
                      </a:solidFill>
                      <a:prstDash val="solid"/>
                      <a:round/>
                      <a:headEnd type="none" w="med" len="med"/>
                      <a:tailEnd type="none" w="med" len="med"/>
                    </a:lnB>
                    <a:solidFill>
                      <a:srgbClr val="F1F3F5"/>
                    </a:solidFill>
                  </a:tcPr>
                </a:tc>
              </a:tr>
              <a:tr h="512064">
                <a:tc>
                  <a:txBody>
                    <a:bodyPr/>
                    <a:lstStyle/>
                    <a:p>
                      <a:pPr algn="l" indent="0" marL="0">
                        <a:buNone/>
                      </a:pPr>
                      <a:r>
                        <a:rPr lang="en-US" sz="1200" b="1" dirty="0">
                          <a:solidFill>
                            <a:srgbClr val="1B1E22"/>
                          </a:solidFill>
                          <a:latin typeface="Calibri" pitchFamily="34" charset="0"/>
                          <a:ea typeface="Calibri" pitchFamily="34" charset="-122"/>
                          <a:cs typeface="Calibri" pitchFamily="34" charset="-120"/>
                        </a:rPr>
                        <a:t>Explainable verdict</a:t>
                      </a:r>
                      <a:endParaRPr lang="en-US" sz="1200" dirty="0">
                        <a:latin typeface="Calibri" charset="0"/>
                        <a:ea typeface="Calibri" charset="0"/>
                        <a:cs typeface="Calibri" charset="0"/>
                      </a:endParaRPr>
                    </a:p>
                  </a:txBody>
                  <a:tcPr marL="63500" marR="63500" marT="63500" marB="63500" anchor="ctr">
                    <a:lnL w="9525" cap="flat" cmpd="sng" algn="ctr">
                      <a:solidFill>
                        <a:srgbClr val="DDE1E6"/>
                      </a:solidFill>
                      <a:prstDash val="solid"/>
                      <a:round/>
                      <a:headEnd type="none" w="med" len="med"/>
                      <a:tailEnd type="none" w="med" len="med"/>
                    </a:lnL>
                    <a:lnR w="9525" cap="flat" cmpd="sng" algn="ctr">
                      <a:solidFill>
                        <a:srgbClr val="DDE1E6"/>
                      </a:solidFill>
                      <a:prstDash val="solid"/>
                      <a:round/>
                      <a:headEnd type="none" w="med" len="med"/>
                      <a:tailEnd type="none" w="med" len="med"/>
                    </a:lnR>
                    <a:lnT w="9525" cap="flat" cmpd="sng" algn="ctr">
                      <a:solidFill>
                        <a:srgbClr val="DDE1E6"/>
                      </a:solidFill>
                      <a:prstDash val="solid"/>
                      <a:round/>
                      <a:headEnd type="none" w="med" len="med"/>
                      <a:tailEnd type="none" w="med" len="med"/>
                    </a:lnT>
                    <a:lnB w="9525" cap="flat" cmpd="sng" algn="ctr">
                      <a:solidFill>
                        <a:srgbClr val="DDE1E6"/>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3A3F46"/>
                          </a:solidFill>
                          <a:latin typeface="Calibri" pitchFamily="34" charset="0"/>
                          <a:ea typeface="Calibri" pitchFamily="34" charset="-122"/>
                          <a:cs typeface="Calibri" pitchFamily="34" charset="-120"/>
                        </a:rPr>
                        <a:t>Post-hoc SHAP</a:t>
                      </a:r>
                      <a:endParaRPr lang="en-US" sz="1200" dirty="0">
                        <a:latin typeface="Calibri" charset="0"/>
                        <a:ea typeface="Calibri" charset="0"/>
                        <a:cs typeface="Calibri" charset="0"/>
                      </a:endParaRPr>
                    </a:p>
                  </a:txBody>
                  <a:tcPr marL="63500" marR="63500" marT="63500" marB="63500" anchor="ctr">
                    <a:lnL w="9525" cap="flat" cmpd="sng" algn="ctr">
                      <a:solidFill>
                        <a:srgbClr val="DDE1E6"/>
                      </a:solidFill>
                      <a:prstDash val="solid"/>
                      <a:round/>
                      <a:headEnd type="none" w="med" len="med"/>
                      <a:tailEnd type="none" w="med" len="med"/>
                    </a:lnL>
                    <a:lnR w="9525" cap="flat" cmpd="sng" algn="ctr">
                      <a:solidFill>
                        <a:srgbClr val="DDE1E6"/>
                      </a:solidFill>
                      <a:prstDash val="solid"/>
                      <a:round/>
                      <a:headEnd type="none" w="med" len="med"/>
                      <a:tailEnd type="none" w="med" len="med"/>
                    </a:lnR>
                    <a:lnT w="9525" cap="flat" cmpd="sng" algn="ctr">
                      <a:solidFill>
                        <a:srgbClr val="DDE1E6"/>
                      </a:solidFill>
                      <a:prstDash val="solid"/>
                      <a:round/>
                      <a:headEnd type="none" w="med" len="med"/>
                      <a:tailEnd type="none" w="med" len="med"/>
                    </a:lnT>
                    <a:lnB w="9525" cap="flat" cmpd="sng" algn="ctr">
                      <a:solidFill>
                        <a:srgbClr val="DDE1E6"/>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3A3F46"/>
                          </a:solidFill>
                          <a:latin typeface="Calibri" pitchFamily="34" charset="0"/>
                          <a:ea typeface="Calibri" pitchFamily="34" charset="-122"/>
                          <a:cs typeface="Calibri" pitchFamily="34" charset="-120"/>
                        </a:rPr>
                        <a:t>No</a:t>
                      </a:r>
                      <a:endParaRPr lang="en-US" sz="1200" dirty="0">
                        <a:latin typeface="Calibri" charset="0"/>
                        <a:ea typeface="Calibri" charset="0"/>
                        <a:cs typeface="Calibri" charset="0"/>
                      </a:endParaRPr>
                    </a:p>
                  </a:txBody>
                  <a:tcPr marL="63500" marR="63500" marT="63500" marB="63500" anchor="ctr">
                    <a:lnL w="9525" cap="flat" cmpd="sng" algn="ctr">
                      <a:solidFill>
                        <a:srgbClr val="DDE1E6"/>
                      </a:solidFill>
                      <a:prstDash val="solid"/>
                      <a:round/>
                      <a:headEnd type="none" w="med" len="med"/>
                      <a:tailEnd type="none" w="med" len="med"/>
                    </a:lnL>
                    <a:lnR w="9525" cap="flat" cmpd="sng" algn="ctr">
                      <a:solidFill>
                        <a:srgbClr val="DDE1E6"/>
                      </a:solidFill>
                      <a:prstDash val="solid"/>
                      <a:round/>
                      <a:headEnd type="none" w="med" len="med"/>
                      <a:tailEnd type="none" w="med" len="med"/>
                    </a:lnR>
                    <a:lnT w="9525" cap="flat" cmpd="sng" algn="ctr">
                      <a:solidFill>
                        <a:srgbClr val="DDE1E6"/>
                      </a:solidFill>
                      <a:prstDash val="solid"/>
                      <a:round/>
                      <a:headEnd type="none" w="med" len="med"/>
                      <a:tailEnd type="none" w="med" len="med"/>
                    </a:lnT>
                    <a:lnB w="9525" cap="flat" cmpd="sng" algn="ctr">
                      <a:solidFill>
                        <a:srgbClr val="DDE1E6"/>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2F8F82"/>
                          </a:solidFill>
                          <a:latin typeface="Calibri" pitchFamily="34" charset="0"/>
                          <a:ea typeface="Calibri" pitchFamily="34" charset="-122"/>
                          <a:cs typeface="Calibri" pitchFamily="34" charset="-120"/>
                        </a:rPr>
                        <a:t>Witness path</a:t>
                      </a:r>
                      <a:endParaRPr lang="en-US" sz="1200" dirty="0">
                        <a:latin typeface="Calibri" charset="0"/>
                        <a:ea typeface="Calibri" charset="0"/>
                        <a:cs typeface="Calibri" charset="0"/>
                      </a:endParaRPr>
                    </a:p>
                  </a:txBody>
                  <a:tcPr marL="63500" marR="63500" marT="63500" marB="63500" anchor="ctr">
                    <a:lnL w="9525" cap="flat" cmpd="sng" algn="ctr">
                      <a:solidFill>
                        <a:srgbClr val="DDE1E6"/>
                      </a:solidFill>
                      <a:prstDash val="solid"/>
                      <a:round/>
                      <a:headEnd type="none" w="med" len="med"/>
                      <a:tailEnd type="none" w="med" len="med"/>
                    </a:lnL>
                    <a:lnR w="9525" cap="flat" cmpd="sng" algn="ctr">
                      <a:solidFill>
                        <a:srgbClr val="DDE1E6"/>
                      </a:solidFill>
                      <a:prstDash val="solid"/>
                      <a:round/>
                      <a:headEnd type="none" w="med" len="med"/>
                      <a:tailEnd type="none" w="med" len="med"/>
                    </a:lnR>
                    <a:lnT w="9525" cap="flat" cmpd="sng" algn="ctr">
                      <a:solidFill>
                        <a:srgbClr val="DDE1E6"/>
                      </a:solidFill>
                      <a:prstDash val="solid"/>
                      <a:round/>
                      <a:headEnd type="none" w="med" len="med"/>
                      <a:tailEnd type="none" w="med" len="med"/>
                    </a:lnT>
                    <a:lnB w="9525" cap="flat" cmpd="sng" algn="ctr">
                      <a:solidFill>
                        <a:srgbClr val="DDE1E6"/>
                      </a:solidFill>
                      <a:prstDash val="solid"/>
                      <a:round/>
                      <a:headEnd type="none" w="med" len="med"/>
                      <a:tailEnd type="none" w="med" len="med"/>
                    </a:lnB>
                    <a:solidFill>
                      <a:srgbClr val="FFFFFF"/>
                    </a:solidFill>
                  </a:tcPr>
                </a:tc>
              </a:tr>
              <a:tr h="512064">
                <a:tc>
                  <a:txBody>
                    <a:bodyPr/>
                    <a:lstStyle/>
                    <a:p>
                      <a:pPr algn="l" indent="0" marL="0">
                        <a:buNone/>
                      </a:pPr>
                      <a:r>
                        <a:rPr lang="en-US" sz="1200" b="1" dirty="0">
                          <a:solidFill>
                            <a:srgbClr val="1B1E22"/>
                          </a:solidFill>
                          <a:latin typeface="Calibri" pitchFamily="34" charset="0"/>
                          <a:ea typeface="Calibri" pitchFamily="34" charset="-122"/>
                          <a:cs typeface="Calibri" pitchFamily="34" charset="-120"/>
                        </a:rPr>
                        <a:t>Obfuscation-invariant</a:t>
                      </a:r>
                      <a:endParaRPr lang="en-US" sz="1200" dirty="0">
                        <a:latin typeface="Calibri" charset="0"/>
                        <a:ea typeface="Calibri" charset="0"/>
                        <a:cs typeface="Calibri" charset="0"/>
                      </a:endParaRPr>
                    </a:p>
                  </a:txBody>
                  <a:tcPr marL="63500" marR="63500" marT="63500" marB="63500" anchor="ctr">
                    <a:lnL w="9525" cap="flat" cmpd="sng" algn="ctr">
                      <a:solidFill>
                        <a:srgbClr val="DDE1E6"/>
                      </a:solidFill>
                      <a:prstDash val="solid"/>
                      <a:round/>
                      <a:headEnd type="none" w="med" len="med"/>
                      <a:tailEnd type="none" w="med" len="med"/>
                    </a:lnL>
                    <a:lnR w="9525" cap="flat" cmpd="sng" algn="ctr">
                      <a:solidFill>
                        <a:srgbClr val="DDE1E6"/>
                      </a:solidFill>
                      <a:prstDash val="solid"/>
                      <a:round/>
                      <a:headEnd type="none" w="med" len="med"/>
                      <a:tailEnd type="none" w="med" len="med"/>
                    </a:lnR>
                    <a:lnT w="9525" cap="flat" cmpd="sng" algn="ctr">
                      <a:solidFill>
                        <a:srgbClr val="DDE1E6"/>
                      </a:solidFill>
                      <a:prstDash val="solid"/>
                      <a:round/>
                      <a:headEnd type="none" w="med" len="med"/>
                      <a:tailEnd type="none" w="med" len="med"/>
                    </a:lnT>
                    <a:lnB w="9525" cap="flat" cmpd="sng" algn="ctr">
                      <a:solidFill>
                        <a:srgbClr val="DDE1E6"/>
                      </a:solidFill>
                      <a:prstDash val="solid"/>
                      <a:round/>
                      <a:headEnd type="none" w="med" len="med"/>
                      <a:tailEnd type="none" w="med" len="med"/>
                    </a:lnB>
                    <a:solidFill>
                      <a:srgbClr val="F1F3F5"/>
                    </a:solidFill>
                  </a:tcPr>
                </a:tc>
                <a:tc>
                  <a:txBody>
                    <a:bodyPr/>
                    <a:lstStyle/>
                    <a:p>
                      <a:pPr algn="ctr" indent="0" marL="0">
                        <a:buNone/>
                      </a:pPr>
                      <a:r>
                        <a:rPr lang="en-US" sz="1200" dirty="0">
                          <a:solidFill>
                            <a:srgbClr val="3A3F46"/>
                          </a:solidFill>
                          <a:latin typeface="Calibri" pitchFamily="34" charset="0"/>
                          <a:ea typeface="Calibri" pitchFamily="34" charset="-122"/>
                          <a:cs typeface="Calibri" pitchFamily="34" charset="-120"/>
                        </a:rPr>
                        <a:t>No — SSI 0.22</a:t>
                      </a:r>
                      <a:endParaRPr lang="en-US" sz="1200" dirty="0">
                        <a:latin typeface="Calibri" charset="0"/>
                        <a:ea typeface="Calibri" charset="0"/>
                        <a:cs typeface="Calibri" charset="0"/>
                      </a:endParaRPr>
                    </a:p>
                  </a:txBody>
                  <a:tcPr marL="63500" marR="63500" marT="63500" marB="63500" anchor="ctr">
                    <a:lnL w="9525" cap="flat" cmpd="sng" algn="ctr">
                      <a:solidFill>
                        <a:srgbClr val="DDE1E6"/>
                      </a:solidFill>
                      <a:prstDash val="solid"/>
                      <a:round/>
                      <a:headEnd type="none" w="med" len="med"/>
                      <a:tailEnd type="none" w="med" len="med"/>
                    </a:lnL>
                    <a:lnR w="9525" cap="flat" cmpd="sng" algn="ctr">
                      <a:solidFill>
                        <a:srgbClr val="DDE1E6"/>
                      </a:solidFill>
                      <a:prstDash val="solid"/>
                      <a:round/>
                      <a:headEnd type="none" w="med" len="med"/>
                      <a:tailEnd type="none" w="med" len="med"/>
                    </a:lnR>
                    <a:lnT w="9525" cap="flat" cmpd="sng" algn="ctr">
                      <a:solidFill>
                        <a:srgbClr val="DDE1E6"/>
                      </a:solidFill>
                      <a:prstDash val="solid"/>
                      <a:round/>
                      <a:headEnd type="none" w="med" len="med"/>
                      <a:tailEnd type="none" w="med" len="med"/>
                    </a:lnT>
                    <a:lnB w="9525" cap="flat" cmpd="sng" algn="ctr">
                      <a:solidFill>
                        <a:srgbClr val="DDE1E6"/>
                      </a:solidFill>
                      <a:prstDash val="solid"/>
                      <a:round/>
                      <a:headEnd type="none" w="med" len="med"/>
                      <a:tailEnd type="none" w="med" len="med"/>
                    </a:lnB>
                    <a:solidFill>
                      <a:srgbClr val="F1F3F5"/>
                    </a:solidFill>
                  </a:tcPr>
                </a:tc>
                <a:tc>
                  <a:txBody>
                    <a:bodyPr/>
                    <a:lstStyle/>
                    <a:p>
                      <a:pPr algn="ctr" indent="0" marL="0">
                        <a:buNone/>
                      </a:pPr>
                      <a:r>
                        <a:rPr lang="en-US" sz="1200" dirty="0">
                          <a:solidFill>
                            <a:srgbClr val="3A3F46"/>
                          </a:solidFill>
                          <a:latin typeface="Calibri" pitchFamily="34" charset="0"/>
                          <a:ea typeface="Calibri" pitchFamily="34" charset="-122"/>
                          <a:cs typeface="Calibri" pitchFamily="34" charset="-120"/>
                        </a:rPr>
                        <a:t>Not reported</a:t>
                      </a:r>
                      <a:endParaRPr lang="en-US" sz="1200" dirty="0">
                        <a:latin typeface="Calibri" charset="0"/>
                        <a:ea typeface="Calibri" charset="0"/>
                        <a:cs typeface="Calibri" charset="0"/>
                      </a:endParaRPr>
                    </a:p>
                  </a:txBody>
                  <a:tcPr marL="63500" marR="63500" marT="63500" marB="63500" anchor="ctr">
                    <a:lnL w="9525" cap="flat" cmpd="sng" algn="ctr">
                      <a:solidFill>
                        <a:srgbClr val="DDE1E6"/>
                      </a:solidFill>
                      <a:prstDash val="solid"/>
                      <a:round/>
                      <a:headEnd type="none" w="med" len="med"/>
                      <a:tailEnd type="none" w="med" len="med"/>
                    </a:lnL>
                    <a:lnR w="9525" cap="flat" cmpd="sng" algn="ctr">
                      <a:solidFill>
                        <a:srgbClr val="DDE1E6"/>
                      </a:solidFill>
                      <a:prstDash val="solid"/>
                      <a:round/>
                      <a:headEnd type="none" w="med" len="med"/>
                      <a:tailEnd type="none" w="med" len="med"/>
                    </a:lnR>
                    <a:lnT w="9525" cap="flat" cmpd="sng" algn="ctr">
                      <a:solidFill>
                        <a:srgbClr val="DDE1E6"/>
                      </a:solidFill>
                      <a:prstDash val="solid"/>
                      <a:round/>
                      <a:headEnd type="none" w="med" len="med"/>
                      <a:tailEnd type="none" w="med" len="med"/>
                    </a:lnT>
                    <a:lnB w="9525" cap="flat" cmpd="sng" algn="ctr">
                      <a:solidFill>
                        <a:srgbClr val="DDE1E6"/>
                      </a:solidFill>
                      <a:prstDash val="solid"/>
                      <a:round/>
                      <a:headEnd type="none" w="med" len="med"/>
                      <a:tailEnd type="none" w="med" len="med"/>
                    </a:lnB>
                    <a:solidFill>
                      <a:srgbClr val="F1F3F5"/>
                    </a:solidFill>
                  </a:tcPr>
                </a:tc>
                <a:tc>
                  <a:txBody>
                    <a:bodyPr/>
                    <a:lstStyle/>
                    <a:p>
                      <a:pPr algn="ctr" indent="0" marL="0">
                        <a:buNone/>
                      </a:pPr>
                      <a:r>
                        <a:rPr lang="en-US" sz="1200" b="1" dirty="0">
                          <a:solidFill>
                            <a:srgbClr val="2F8F82"/>
                          </a:solidFill>
                          <a:latin typeface="Calibri" pitchFamily="34" charset="0"/>
                          <a:ea typeface="Calibri" pitchFamily="34" charset="-122"/>
                          <a:cs typeface="Calibri" pitchFamily="34" charset="-120"/>
                        </a:rPr>
                        <a:t>Yes — SSI 1.00</a:t>
                      </a:r>
                      <a:endParaRPr lang="en-US" sz="1200" dirty="0">
                        <a:latin typeface="Calibri" charset="0"/>
                        <a:ea typeface="Calibri" charset="0"/>
                        <a:cs typeface="Calibri" charset="0"/>
                      </a:endParaRPr>
                    </a:p>
                  </a:txBody>
                  <a:tcPr marL="63500" marR="63500" marT="63500" marB="63500" anchor="ctr">
                    <a:lnL w="9525" cap="flat" cmpd="sng" algn="ctr">
                      <a:solidFill>
                        <a:srgbClr val="DDE1E6"/>
                      </a:solidFill>
                      <a:prstDash val="solid"/>
                      <a:round/>
                      <a:headEnd type="none" w="med" len="med"/>
                      <a:tailEnd type="none" w="med" len="med"/>
                    </a:lnL>
                    <a:lnR w="9525" cap="flat" cmpd="sng" algn="ctr">
                      <a:solidFill>
                        <a:srgbClr val="DDE1E6"/>
                      </a:solidFill>
                      <a:prstDash val="solid"/>
                      <a:round/>
                      <a:headEnd type="none" w="med" len="med"/>
                      <a:tailEnd type="none" w="med" len="med"/>
                    </a:lnR>
                    <a:lnT w="9525" cap="flat" cmpd="sng" algn="ctr">
                      <a:solidFill>
                        <a:srgbClr val="DDE1E6"/>
                      </a:solidFill>
                      <a:prstDash val="solid"/>
                      <a:round/>
                      <a:headEnd type="none" w="med" len="med"/>
                      <a:tailEnd type="none" w="med" len="med"/>
                    </a:lnT>
                    <a:lnB w="9525" cap="flat" cmpd="sng" algn="ctr">
                      <a:solidFill>
                        <a:srgbClr val="DDE1E6"/>
                      </a:solidFill>
                      <a:prstDash val="solid"/>
                      <a:round/>
                      <a:headEnd type="none" w="med" len="med"/>
                      <a:tailEnd type="none" w="med" len="med"/>
                    </a:lnB>
                    <a:solidFill>
                      <a:srgbClr val="F1F3F5"/>
                    </a:solidFill>
                  </a:tcPr>
                </a:tc>
              </a:tr>
              <a:tr h="512064">
                <a:tc>
                  <a:txBody>
                    <a:bodyPr/>
                    <a:lstStyle/>
                    <a:p>
                      <a:pPr algn="l" indent="0" marL="0">
                        <a:buNone/>
                      </a:pPr>
                      <a:r>
                        <a:rPr lang="en-US" sz="1200" b="1" dirty="0">
                          <a:solidFill>
                            <a:srgbClr val="1B1E22"/>
                          </a:solidFill>
                          <a:latin typeface="Calibri" pitchFamily="34" charset="0"/>
                          <a:ea typeface="Calibri" pitchFamily="34" charset="-122"/>
                          <a:cs typeface="Calibri" pitchFamily="34" charset="-120"/>
                        </a:rPr>
                        <a:t>Cost to evade</a:t>
                      </a:r>
                      <a:endParaRPr lang="en-US" sz="1200" dirty="0">
                        <a:latin typeface="Calibri" charset="0"/>
                        <a:ea typeface="Calibri" charset="0"/>
                        <a:cs typeface="Calibri" charset="0"/>
                      </a:endParaRPr>
                    </a:p>
                  </a:txBody>
                  <a:tcPr marL="63500" marR="63500" marT="63500" marB="63500" anchor="ctr">
                    <a:lnL w="9525" cap="flat" cmpd="sng" algn="ctr">
                      <a:solidFill>
                        <a:srgbClr val="DDE1E6"/>
                      </a:solidFill>
                      <a:prstDash val="solid"/>
                      <a:round/>
                      <a:headEnd type="none" w="med" len="med"/>
                      <a:tailEnd type="none" w="med" len="med"/>
                    </a:lnL>
                    <a:lnR w="9525" cap="flat" cmpd="sng" algn="ctr">
                      <a:solidFill>
                        <a:srgbClr val="DDE1E6"/>
                      </a:solidFill>
                      <a:prstDash val="solid"/>
                      <a:round/>
                      <a:headEnd type="none" w="med" len="med"/>
                      <a:tailEnd type="none" w="med" len="med"/>
                    </a:lnR>
                    <a:lnT w="9525" cap="flat" cmpd="sng" algn="ctr">
                      <a:solidFill>
                        <a:srgbClr val="DDE1E6"/>
                      </a:solidFill>
                      <a:prstDash val="solid"/>
                      <a:round/>
                      <a:headEnd type="none" w="med" len="med"/>
                      <a:tailEnd type="none" w="med" len="med"/>
                    </a:lnT>
                    <a:lnB w="9525" cap="flat" cmpd="sng" algn="ctr">
                      <a:solidFill>
                        <a:srgbClr val="DDE1E6"/>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3A3F46"/>
                          </a:solidFill>
                          <a:latin typeface="Calibri" pitchFamily="34" charset="0"/>
                          <a:ea typeface="Calibri" pitchFamily="34" charset="-122"/>
                          <a:cs typeface="Calibri" pitchFamily="34" charset="-120"/>
                        </a:rPr>
                        <a:t>Free re-save</a:t>
                      </a:r>
                      <a:endParaRPr lang="en-US" sz="1200" dirty="0">
                        <a:latin typeface="Calibri" charset="0"/>
                        <a:ea typeface="Calibri" charset="0"/>
                        <a:cs typeface="Calibri" charset="0"/>
                      </a:endParaRPr>
                    </a:p>
                  </a:txBody>
                  <a:tcPr marL="63500" marR="63500" marT="63500" marB="63500" anchor="ctr">
                    <a:lnL w="9525" cap="flat" cmpd="sng" algn="ctr">
                      <a:solidFill>
                        <a:srgbClr val="DDE1E6"/>
                      </a:solidFill>
                      <a:prstDash val="solid"/>
                      <a:round/>
                      <a:headEnd type="none" w="med" len="med"/>
                      <a:tailEnd type="none" w="med" len="med"/>
                    </a:lnL>
                    <a:lnR w="9525" cap="flat" cmpd="sng" algn="ctr">
                      <a:solidFill>
                        <a:srgbClr val="DDE1E6"/>
                      </a:solidFill>
                      <a:prstDash val="solid"/>
                      <a:round/>
                      <a:headEnd type="none" w="med" len="med"/>
                      <a:tailEnd type="none" w="med" len="med"/>
                    </a:lnR>
                    <a:lnT w="9525" cap="flat" cmpd="sng" algn="ctr">
                      <a:solidFill>
                        <a:srgbClr val="DDE1E6"/>
                      </a:solidFill>
                      <a:prstDash val="solid"/>
                      <a:round/>
                      <a:headEnd type="none" w="med" len="med"/>
                      <a:tailEnd type="none" w="med" len="med"/>
                    </a:lnT>
                    <a:lnB w="9525" cap="flat" cmpd="sng" algn="ctr">
                      <a:solidFill>
                        <a:srgbClr val="DDE1E6"/>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3A3F46"/>
                          </a:solidFill>
                          <a:latin typeface="Calibri" pitchFamily="34" charset="0"/>
                          <a:ea typeface="Calibri" pitchFamily="34" charset="-122"/>
                          <a:cs typeface="Calibri" pitchFamily="34" charset="-120"/>
                        </a:rPr>
                        <a:t>Low–medium</a:t>
                      </a:r>
                      <a:endParaRPr lang="en-US" sz="1200" dirty="0">
                        <a:latin typeface="Calibri" charset="0"/>
                        <a:ea typeface="Calibri" charset="0"/>
                        <a:cs typeface="Calibri" charset="0"/>
                      </a:endParaRPr>
                    </a:p>
                  </a:txBody>
                  <a:tcPr marL="63500" marR="63500" marT="63500" marB="63500" anchor="ctr">
                    <a:lnL w="9525" cap="flat" cmpd="sng" algn="ctr">
                      <a:solidFill>
                        <a:srgbClr val="DDE1E6"/>
                      </a:solidFill>
                      <a:prstDash val="solid"/>
                      <a:round/>
                      <a:headEnd type="none" w="med" len="med"/>
                      <a:tailEnd type="none" w="med" len="med"/>
                    </a:lnL>
                    <a:lnR w="9525" cap="flat" cmpd="sng" algn="ctr">
                      <a:solidFill>
                        <a:srgbClr val="DDE1E6"/>
                      </a:solidFill>
                      <a:prstDash val="solid"/>
                      <a:round/>
                      <a:headEnd type="none" w="med" len="med"/>
                      <a:tailEnd type="none" w="med" len="med"/>
                    </a:lnR>
                    <a:lnT w="9525" cap="flat" cmpd="sng" algn="ctr">
                      <a:solidFill>
                        <a:srgbClr val="DDE1E6"/>
                      </a:solidFill>
                      <a:prstDash val="solid"/>
                      <a:round/>
                      <a:headEnd type="none" w="med" len="med"/>
                      <a:tailEnd type="none" w="med" len="med"/>
                    </a:lnT>
                    <a:lnB w="9525" cap="flat" cmpd="sng" algn="ctr">
                      <a:solidFill>
                        <a:srgbClr val="DDE1E6"/>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2F8F82"/>
                          </a:solidFill>
                          <a:latin typeface="Calibri" pitchFamily="34" charset="0"/>
                          <a:ea typeface="Calibri" pitchFamily="34" charset="-122"/>
                          <a:cs typeface="Calibri" pitchFamily="34" charset="-120"/>
                        </a:rPr>
                        <a:t>Must disarm payload</a:t>
                      </a:r>
                      <a:endParaRPr lang="en-US" sz="1200" dirty="0">
                        <a:latin typeface="Calibri" charset="0"/>
                        <a:ea typeface="Calibri" charset="0"/>
                        <a:cs typeface="Calibri" charset="0"/>
                      </a:endParaRPr>
                    </a:p>
                  </a:txBody>
                  <a:tcPr marL="63500" marR="63500" marT="63500" marB="63500" anchor="ctr">
                    <a:lnL w="9525" cap="flat" cmpd="sng" algn="ctr">
                      <a:solidFill>
                        <a:srgbClr val="DDE1E6"/>
                      </a:solidFill>
                      <a:prstDash val="solid"/>
                      <a:round/>
                      <a:headEnd type="none" w="med" len="med"/>
                      <a:tailEnd type="none" w="med" len="med"/>
                    </a:lnL>
                    <a:lnR w="9525" cap="flat" cmpd="sng" algn="ctr">
                      <a:solidFill>
                        <a:srgbClr val="DDE1E6"/>
                      </a:solidFill>
                      <a:prstDash val="solid"/>
                      <a:round/>
                      <a:headEnd type="none" w="med" len="med"/>
                      <a:tailEnd type="none" w="med" len="med"/>
                    </a:lnR>
                    <a:lnT w="9525" cap="flat" cmpd="sng" algn="ctr">
                      <a:solidFill>
                        <a:srgbClr val="DDE1E6"/>
                      </a:solidFill>
                      <a:prstDash val="solid"/>
                      <a:round/>
                      <a:headEnd type="none" w="med" len="med"/>
                      <a:tailEnd type="none" w="med" len="med"/>
                    </a:lnT>
                    <a:lnB w="9525" cap="flat" cmpd="sng" algn="ctr">
                      <a:solidFill>
                        <a:srgbClr val="DDE1E6"/>
                      </a:solidFill>
                      <a:prstDash val="solid"/>
                      <a:round/>
                      <a:headEnd type="none" w="med" len="med"/>
                      <a:tailEnd type="none" w="med" len="med"/>
                    </a:lnB>
                    <a:solidFill>
                      <a:srgbClr val="FFFFFF"/>
                    </a:solidFill>
                  </a:tcPr>
                </a:tc>
              </a:tr>
              <a:tr h="512064">
                <a:tc>
                  <a:txBody>
                    <a:bodyPr/>
                    <a:lstStyle/>
                    <a:p>
                      <a:pPr algn="l" indent="0" marL="0">
                        <a:buNone/>
                      </a:pPr>
                      <a:r>
                        <a:rPr lang="en-US" sz="1200" b="1" dirty="0">
                          <a:solidFill>
                            <a:srgbClr val="1B1E22"/>
                          </a:solidFill>
                          <a:latin typeface="Calibri" pitchFamily="34" charset="0"/>
                          <a:ea typeface="Calibri" pitchFamily="34" charset="-122"/>
                          <a:cs typeface="Calibri" pitchFamily="34" charset="-120"/>
                        </a:rPr>
                        <a:t>Training data needed</a:t>
                      </a:r>
                      <a:endParaRPr lang="en-US" sz="1200" dirty="0">
                        <a:latin typeface="Calibri" charset="0"/>
                        <a:ea typeface="Calibri" charset="0"/>
                        <a:cs typeface="Calibri" charset="0"/>
                      </a:endParaRPr>
                    </a:p>
                  </a:txBody>
                  <a:tcPr marL="63500" marR="63500" marT="63500" marB="63500" anchor="ctr">
                    <a:lnL w="9525" cap="flat" cmpd="sng" algn="ctr">
                      <a:solidFill>
                        <a:srgbClr val="DDE1E6"/>
                      </a:solidFill>
                      <a:prstDash val="solid"/>
                      <a:round/>
                      <a:headEnd type="none" w="med" len="med"/>
                      <a:tailEnd type="none" w="med" len="med"/>
                    </a:lnL>
                    <a:lnR w="9525" cap="flat" cmpd="sng" algn="ctr">
                      <a:solidFill>
                        <a:srgbClr val="DDE1E6"/>
                      </a:solidFill>
                      <a:prstDash val="solid"/>
                      <a:round/>
                      <a:headEnd type="none" w="med" len="med"/>
                      <a:tailEnd type="none" w="med" len="med"/>
                    </a:lnR>
                    <a:lnT w="9525" cap="flat" cmpd="sng" algn="ctr">
                      <a:solidFill>
                        <a:srgbClr val="DDE1E6"/>
                      </a:solidFill>
                      <a:prstDash val="solid"/>
                      <a:round/>
                      <a:headEnd type="none" w="med" len="med"/>
                      <a:tailEnd type="none" w="med" len="med"/>
                    </a:lnT>
                    <a:lnB w="9525" cap="flat" cmpd="sng" algn="ctr">
                      <a:solidFill>
                        <a:srgbClr val="DDE1E6"/>
                      </a:solidFill>
                      <a:prstDash val="solid"/>
                      <a:round/>
                      <a:headEnd type="none" w="med" len="med"/>
                      <a:tailEnd type="none" w="med" len="med"/>
                    </a:lnB>
                    <a:solidFill>
                      <a:srgbClr val="F1F3F5"/>
                    </a:solidFill>
                  </a:tcPr>
                </a:tc>
                <a:tc>
                  <a:txBody>
                    <a:bodyPr/>
                    <a:lstStyle/>
                    <a:p>
                      <a:pPr algn="ctr" indent="0" marL="0">
                        <a:buNone/>
                      </a:pPr>
                      <a:r>
                        <a:rPr lang="en-US" sz="1200" dirty="0">
                          <a:solidFill>
                            <a:srgbClr val="3A3F46"/>
                          </a:solidFill>
                          <a:latin typeface="Calibri" pitchFamily="34" charset="0"/>
                          <a:ea typeface="Calibri" pitchFamily="34" charset="-122"/>
                          <a:cs typeface="Calibri" pitchFamily="34" charset="-120"/>
                        </a:rPr>
                        <a:t>Yes</a:t>
                      </a:r>
                      <a:endParaRPr lang="en-US" sz="1200" dirty="0">
                        <a:latin typeface="Calibri" charset="0"/>
                        <a:ea typeface="Calibri" charset="0"/>
                        <a:cs typeface="Calibri" charset="0"/>
                      </a:endParaRPr>
                    </a:p>
                  </a:txBody>
                  <a:tcPr marL="63500" marR="63500" marT="63500" marB="63500" anchor="ctr">
                    <a:lnL w="9525" cap="flat" cmpd="sng" algn="ctr">
                      <a:solidFill>
                        <a:srgbClr val="DDE1E6"/>
                      </a:solidFill>
                      <a:prstDash val="solid"/>
                      <a:round/>
                      <a:headEnd type="none" w="med" len="med"/>
                      <a:tailEnd type="none" w="med" len="med"/>
                    </a:lnL>
                    <a:lnR w="9525" cap="flat" cmpd="sng" algn="ctr">
                      <a:solidFill>
                        <a:srgbClr val="DDE1E6"/>
                      </a:solidFill>
                      <a:prstDash val="solid"/>
                      <a:round/>
                      <a:headEnd type="none" w="med" len="med"/>
                      <a:tailEnd type="none" w="med" len="med"/>
                    </a:lnR>
                    <a:lnT w="9525" cap="flat" cmpd="sng" algn="ctr">
                      <a:solidFill>
                        <a:srgbClr val="DDE1E6"/>
                      </a:solidFill>
                      <a:prstDash val="solid"/>
                      <a:round/>
                      <a:headEnd type="none" w="med" len="med"/>
                      <a:tailEnd type="none" w="med" len="med"/>
                    </a:lnT>
                    <a:lnB w="9525" cap="flat" cmpd="sng" algn="ctr">
                      <a:solidFill>
                        <a:srgbClr val="DDE1E6"/>
                      </a:solidFill>
                      <a:prstDash val="solid"/>
                      <a:round/>
                      <a:headEnd type="none" w="med" len="med"/>
                      <a:tailEnd type="none" w="med" len="med"/>
                    </a:lnB>
                    <a:solidFill>
                      <a:srgbClr val="F1F3F5"/>
                    </a:solidFill>
                  </a:tcPr>
                </a:tc>
                <a:tc>
                  <a:txBody>
                    <a:bodyPr/>
                    <a:lstStyle/>
                    <a:p>
                      <a:pPr algn="ctr" indent="0" marL="0">
                        <a:buNone/>
                      </a:pPr>
                      <a:r>
                        <a:rPr lang="en-US" sz="1200" dirty="0">
                          <a:solidFill>
                            <a:srgbClr val="3A3F46"/>
                          </a:solidFill>
                          <a:latin typeface="Calibri" pitchFamily="34" charset="0"/>
                          <a:ea typeface="Calibri" pitchFamily="34" charset="-122"/>
                          <a:cs typeface="Calibri" pitchFamily="34" charset="-120"/>
                        </a:rPr>
                        <a:t>Yes</a:t>
                      </a:r>
                      <a:endParaRPr lang="en-US" sz="1200" dirty="0">
                        <a:latin typeface="Calibri" charset="0"/>
                        <a:ea typeface="Calibri" charset="0"/>
                        <a:cs typeface="Calibri" charset="0"/>
                      </a:endParaRPr>
                    </a:p>
                  </a:txBody>
                  <a:tcPr marL="63500" marR="63500" marT="63500" marB="63500" anchor="ctr">
                    <a:lnL w="9525" cap="flat" cmpd="sng" algn="ctr">
                      <a:solidFill>
                        <a:srgbClr val="DDE1E6"/>
                      </a:solidFill>
                      <a:prstDash val="solid"/>
                      <a:round/>
                      <a:headEnd type="none" w="med" len="med"/>
                      <a:tailEnd type="none" w="med" len="med"/>
                    </a:lnL>
                    <a:lnR w="9525" cap="flat" cmpd="sng" algn="ctr">
                      <a:solidFill>
                        <a:srgbClr val="DDE1E6"/>
                      </a:solidFill>
                      <a:prstDash val="solid"/>
                      <a:round/>
                      <a:headEnd type="none" w="med" len="med"/>
                      <a:tailEnd type="none" w="med" len="med"/>
                    </a:lnR>
                    <a:lnT w="9525" cap="flat" cmpd="sng" algn="ctr">
                      <a:solidFill>
                        <a:srgbClr val="DDE1E6"/>
                      </a:solidFill>
                      <a:prstDash val="solid"/>
                      <a:round/>
                      <a:headEnd type="none" w="med" len="med"/>
                      <a:tailEnd type="none" w="med" len="med"/>
                    </a:lnT>
                    <a:lnB w="9525" cap="flat" cmpd="sng" algn="ctr">
                      <a:solidFill>
                        <a:srgbClr val="DDE1E6"/>
                      </a:solidFill>
                      <a:prstDash val="solid"/>
                      <a:round/>
                      <a:headEnd type="none" w="med" len="med"/>
                      <a:tailEnd type="none" w="med" len="med"/>
                    </a:lnB>
                    <a:solidFill>
                      <a:srgbClr val="F1F3F5"/>
                    </a:solidFill>
                  </a:tcPr>
                </a:tc>
                <a:tc>
                  <a:txBody>
                    <a:bodyPr/>
                    <a:lstStyle/>
                    <a:p>
                      <a:pPr algn="ctr" indent="0" marL="0">
                        <a:buNone/>
                      </a:pPr>
                      <a:r>
                        <a:rPr lang="en-US" sz="1200" b="1" dirty="0">
                          <a:solidFill>
                            <a:srgbClr val="2F8F82"/>
                          </a:solidFill>
                          <a:latin typeface="Calibri" pitchFamily="34" charset="0"/>
                          <a:ea typeface="Calibri" pitchFamily="34" charset="-122"/>
                          <a:cs typeface="Calibri" pitchFamily="34" charset="-120"/>
                        </a:rPr>
                        <a:t>No (deterministic)</a:t>
                      </a:r>
                      <a:endParaRPr lang="en-US" sz="1200" dirty="0">
                        <a:latin typeface="Calibri" charset="0"/>
                        <a:ea typeface="Calibri" charset="0"/>
                        <a:cs typeface="Calibri" charset="0"/>
                      </a:endParaRPr>
                    </a:p>
                  </a:txBody>
                  <a:tcPr marL="63500" marR="63500" marT="63500" marB="63500" anchor="ctr">
                    <a:lnL w="9525" cap="flat" cmpd="sng" algn="ctr">
                      <a:solidFill>
                        <a:srgbClr val="DDE1E6"/>
                      </a:solidFill>
                      <a:prstDash val="solid"/>
                      <a:round/>
                      <a:headEnd type="none" w="med" len="med"/>
                      <a:tailEnd type="none" w="med" len="med"/>
                    </a:lnL>
                    <a:lnR w="9525" cap="flat" cmpd="sng" algn="ctr">
                      <a:solidFill>
                        <a:srgbClr val="DDE1E6"/>
                      </a:solidFill>
                      <a:prstDash val="solid"/>
                      <a:round/>
                      <a:headEnd type="none" w="med" len="med"/>
                      <a:tailEnd type="none" w="med" len="med"/>
                    </a:lnR>
                    <a:lnT w="9525" cap="flat" cmpd="sng" algn="ctr">
                      <a:solidFill>
                        <a:srgbClr val="DDE1E6"/>
                      </a:solidFill>
                      <a:prstDash val="solid"/>
                      <a:round/>
                      <a:headEnd type="none" w="med" len="med"/>
                      <a:tailEnd type="none" w="med" len="med"/>
                    </a:lnT>
                    <a:lnB w="9525" cap="flat" cmpd="sng" algn="ctr">
                      <a:solidFill>
                        <a:srgbClr val="DDE1E6"/>
                      </a:solidFill>
                      <a:prstDash val="solid"/>
                      <a:round/>
                      <a:headEnd type="none" w="med" len="med"/>
                      <a:tailEnd type="none" w="med" len="med"/>
                    </a:lnB>
                    <a:solidFill>
                      <a:srgbClr val="F1F3F5"/>
                    </a:solidFill>
                  </a:tcPr>
                </a:tc>
              </a:tr>
            </a:tbl>
          </a:graphicData>
        </a:graphic>
      </p:graphicFrame>
      <p:sp>
        <p:nvSpPr>
          <p:cNvPr id="8" name="Text 5"/>
          <p:cNvSpPr txBox="1"/>
          <p:nvPr/>
        </p:nvSpPr>
        <p:spPr>
          <a:xfrm>
            <a:off x="548640" y="6108192"/>
            <a:ext cx="10972800" cy="457200"/>
          </a:xfrm>
          <a:prstGeom prst="rect">
            <a:avLst/>
          </a:prstGeom>
          <a:noFill/>
          <a:ln/>
        </p:spPr>
        <p:txBody>
          <a:bodyPr wrap="square" lIns="0" tIns="0" rIns="0" bIns="0" rtlCol="0" anchor="ctr"/>
          <a:lstStyle/>
          <a:p>
            <a:pPr indent="0" marL="0">
              <a:buNone/>
            </a:pPr>
            <a:r>
              <a:rPr lang="en-US" sz="1250" i="1" dirty="0">
                <a:solidFill>
                  <a:srgbClr val="3A3F46"/>
                </a:solidFill>
                <a:latin typeface="Calibri" pitchFamily="34" charset="0"/>
                <a:ea typeface="Calibri" pitchFamily="34" charset="-122"/>
                <a:cs typeface="Calibri" pitchFamily="34" charset="-120"/>
              </a:rPr>
              <a:t>Honest scope: the 0.78 EMBER benchmark is NOT improved (no raw evasive files to retrain). The 0.998 is a controlled result that isolates the mechanism; a benign PDF that genuinely auto-runs JS would also be flagged.</a:t>
            </a:r>
            <a:endParaRPr lang="en-US" sz="1250" dirty="0"/>
          </a:p>
        </p:txBody>
      </p:sp>
      <p:sp>
        <p:nvSpPr>
          <p:cNvPr id="9" name="Text 6"/>
          <p:cNvSpPr txBox="1"/>
          <p:nvPr/>
        </p:nvSpPr>
        <p:spPr>
          <a:xfrm>
            <a:off x="502920" y="6528816"/>
            <a:ext cx="6400800" cy="237744"/>
          </a:xfrm>
          <a:prstGeom prst="rect">
            <a:avLst/>
          </a:prstGeom>
          <a:noFill/>
          <a:ln/>
        </p:spPr>
        <p:txBody>
          <a:bodyPr wrap="square" lIns="0" tIns="0" rIns="0" bIns="0" rtlCol="0" anchor="ctr"/>
          <a:lstStyle/>
          <a:p>
            <a:pPr indent="0" marL="0">
              <a:buNone/>
            </a:pPr>
            <a:r>
              <a:rPr lang="en-US" sz="850" spc="150" kern="0" dirty="0">
                <a:solidFill>
                  <a:srgbClr val="9AA0A8"/>
                </a:solidFill>
                <a:latin typeface="Calibri" pitchFamily="34" charset="0"/>
                <a:ea typeface="Calibri" pitchFamily="34" charset="-122"/>
                <a:cs typeface="Calibri" pitchFamily="34" charset="-120"/>
              </a:rPr>
              <a:t>PDFSentry · Reachability over Recognition</a:t>
            </a:r>
            <a:endParaRPr lang="en-US" sz="850" dirty="0"/>
          </a:p>
        </p:txBody>
      </p:sp>
      <p:sp>
        <p:nvSpPr>
          <p:cNvPr id="10" name="Text 7"/>
          <p:cNvSpPr txBox="1"/>
          <p:nvPr/>
        </p:nvSpPr>
        <p:spPr>
          <a:xfrm>
            <a:off x="11323015" y="6510528"/>
            <a:ext cx="457200" cy="256032"/>
          </a:xfrm>
          <a:prstGeom prst="rect">
            <a:avLst/>
          </a:prstGeom>
          <a:noFill/>
          <a:ln/>
        </p:spPr>
        <p:txBody>
          <a:bodyPr wrap="square" lIns="0" tIns="0" rIns="0" bIns="0" rtlCol="0" anchor="ctr"/>
          <a:lstStyle/>
          <a:p>
            <a:pPr algn="r" indent="0" marL="0">
              <a:buNone/>
            </a:pPr>
            <a:r>
              <a:rPr lang="en-US" sz="950" b="1" dirty="0">
                <a:solidFill>
                  <a:srgbClr val="6B7178"/>
                </a:solidFill>
                <a:latin typeface="Calibri" pitchFamily="34" charset="0"/>
                <a:ea typeface="Calibri" pitchFamily="34" charset="-122"/>
                <a:cs typeface="Calibri" pitchFamily="34" charset="-120"/>
              </a:rPr>
              <a:t>16</a:t>
            </a:r>
            <a:endParaRPr lang="en-US" sz="9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502920" y="292608"/>
            <a:ext cx="4572000" cy="274320"/>
          </a:xfrm>
          <a:prstGeom prst="rect">
            <a:avLst/>
          </a:prstGeom>
          <a:noFill/>
          <a:ln/>
        </p:spPr>
        <p:txBody>
          <a:bodyPr wrap="square" lIns="0" tIns="0" rIns="0" bIns="0" rtlCol="0" anchor="ctr"/>
          <a:lstStyle/>
          <a:p>
            <a:pPr indent="0" marL="0">
              <a:buNone/>
            </a:pPr>
            <a:r>
              <a:rPr lang="en-US" sz="1100" b="1" spc="400" kern="0" dirty="0">
                <a:solidFill>
                  <a:srgbClr val="6B7178"/>
                </a:solidFill>
                <a:latin typeface="Calibri" pitchFamily="34" charset="0"/>
                <a:ea typeface="Calibri" pitchFamily="34" charset="-122"/>
                <a:cs typeface="Calibri" pitchFamily="34" charset="-120"/>
              </a:rPr>
              <a:t>PDFSENTRY</a:t>
            </a:r>
            <a:endParaRPr lang="en-US" sz="1100" dirty="0"/>
          </a:p>
        </p:txBody>
      </p:sp>
      <p:sp>
        <p:nvSpPr>
          <p:cNvPr id="3" name="Text 1"/>
          <p:cNvSpPr txBox="1"/>
          <p:nvPr/>
        </p:nvSpPr>
        <p:spPr>
          <a:xfrm>
            <a:off x="6659575" y="292608"/>
            <a:ext cx="5029200" cy="274320"/>
          </a:xfrm>
          <a:prstGeom prst="rect">
            <a:avLst/>
          </a:prstGeom>
          <a:noFill/>
          <a:ln/>
        </p:spPr>
        <p:txBody>
          <a:bodyPr wrap="square" lIns="0" tIns="0" rIns="0" bIns="0" rtlCol="0" anchor="ctr"/>
          <a:lstStyle/>
          <a:p>
            <a:pPr algn="r" indent="0" marL="0">
              <a:buNone/>
            </a:pPr>
            <a:r>
              <a:rPr lang="en-US" sz="1100" spc="300" kern="0" dirty="0">
                <a:solidFill>
                  <a:srgbClr val="6B7178"/>
                </a:solidFill>
                <a:latin typeface="Calibri" pitchFamily="34" charset="0"/>
                <a:ea typeface="Calibri" pitchFamily="34" charset="-122"/>
                <a:cs typeface="Calibri" pitchFamily="34" charset="-120"/>
              </a:rPr>
              <a:t>REVIEW 3 · FINAL</a:t>
            </a:r>
            <a:endParaRPr lang="en-US" sz="1100" dirty="0"/>
          </a:p>
        </p:txBody>
      </p:sp>
      <p:pic>
        <p:nvPicPr>
          <p:cNvPr id="4" name="Image 0" descr="/home/claude/PDFSentry/deck/assets/orn_globe.png">    </p:cNvPr>
          <p:cNvPicPr>
            <a:picLocks noChangeAspect="1"/>
          </p:cNvPicPr>
          <p:nvPr/>
        </p:nvPicPr>
        <p:blipFill>
          <a:blip r:embed="rId2">
            <a:alphaModFix amt="70000"/>
          </a:blip>
          <a:stretch>
            <a:fillRect/>
          </a:stretch>
        </p:blipFill>
        <p:spPr>
          <a:xfrm>
            <a:off x="8229600" y="1554480"/>
            <a:ext cx="3291840" cy="3291840"/>
          </a:xfrm>
          <a:prstGeom prst="rect">
            <a:avLst/>
          </a:prstGeom>
        </p:spPr>
      </p:pic>
      <p:sp>
        <p:nvSpPr>
          <p:cNvPr id="5" name="Text 2"/>
          <p:cNvSpPr txBox="1"/>
          <p:nvPr/>
        </p:nvSpPr>
        <p:spPr>
          <a:xfrm>
            <a:off x="548640" y="1737360"/>
            <a:ext cx="7315200" cy="365760"/>
          </a:xfrm>
          <a:prstGeom prst="rect">
            <a:avLst/>
          </a:prstGeom>
          <a:noFill/>
          <a:ln/>
        </p:spPr>
        <p:txBody>
          <a:bodyPr wrap="square" lIns="0" tIns="0" rIns="0" bIns="0" rtlCol="0" anchor="ctr"/>
          <a:lstStyle/>
          <a:p>
            <a:pPr indent="0" marL="0">
              <a:buNone/>
            </a:pPr>
            <a:r>
              <a:rPr lang="en-US" sz="1400" b="1" spc="500" kern="0" dirty="0">
                <a:solidFill>
                  <a:srgbClr val="2F8F82"/>
                </a:solidFill>
                <a:latin typeface="Calibri" pitchFamily="34" charset="0"/>
                <a:ea typeface="Calibri" pitchFamily="34" charset="-122"/>
                <a:cs typeface="Calibri" pitchFamily="34" charset="-120"/>
              </a:rPr>
              <a:t>PROJECT DEMONSTRATION</a:t>
            </a:r>
            <a:endParaRPr lang="en-US" sz="1400" dirty="0"/>
          </a:p>
        </p:txBody>
      </p:sp>
      <p:sp>
        <p:nvSpPr>
          <p:cNvPr id="6" name="Text 3"/>
          <p:cNvSpPr txBox="1"/>
          <p:nvPr/>
        </p:nvSpPr>
        <p:spPr>
          <a:xfrm>
            <a:off x="475488" y="2148840"/>
            <a:ext cx="7589520" cy="1371600"/>
          </a:xfrm>
          <a:prstGeom prst="rect">
            <a:avLst/>
          </a:prstGeom>
          <a:noFill/>
          <a:ln/>
        </p:spPr>
        <p:txBody>
          <a:bodyPr wrap="square" lIns="0" tIns="0" rIns="0" bIns="0" rtlCol="0" anchor="ctr"/>
          <a:lstStyle/>
          <a:p>
            <a:pPr indent="0" marL="0">
              <a:lnSpc>
                <a:spcPct val="95000"/>
              </a:lnSpc>
              <a:buNone/>
            </a:pPr>
            <a:r>
              <a:rPr lang="en-US" sz="4400" dirty="0">
                <a:solidFill>
                  <a:srgbClr val="1B1E22"/>
                </a:solidFill>
                <a:latin typeface="Arial Black" pitchFamily="34" charset="0"/>
                <a:ea typeface="Arial Black" pitchFamily="34" charset="-122"/>
                <a:cs typeface="Arial Black" pitchFamily="34" charset="-120"/>
              </a:rPr>
              <a:t>Detection. Robustness. Assurance.</a:t>
            </a:r>
            <a:endParaRPr lang="en-US" sz="4400" dirty="0"/>
          </a:p>
        </p:txBody>
      </p:sp>
      <p:sp>
        <p:nvSpPr>
          <p:cNvPr id="7" name="Text 4"/>
          <p:cNvSpPr txBox="1"/>
          <p:nvPr/>
        </p:nvSpPr>
        <p:spPr>
          <a:xfrm>
            <a:off x="566928" y="3520440"/>
            <a:ext cx="7223760" cy="1828800"/>
          </a:xfrm>
          <a:prstGeom prst="rect">
            <a:avLst/>
          </a:prstGeom>
          <a:noFill/>
          <a:ln/>
        </p:spPr>
        <p:txBody>
          <a:bodyPr wrap="square" lIns="0" tIns="0" rIns="0" bIns="0" rtlCol="0" anchor="t"/>
          <a:lstStyle/>
          <a:p>
            <a:pPr marL="342900" indent="-342900">
              <a:lnSpc>
                <a:spcPct val="112000"/>
              </a:lnSpc>
              <a:spcAft>
                <a:spcPts val="900"/>
              </a:spcAft>
              <a:buSzPct val="100000"/>
              <a:buChar char="•"/>
            </a:pPr>
            <a:r>
              <a:rPr lang="en-US" sz="1500" dirty="0">
                <a:solidFill>
                  <a:srgbClr val="3A3F46"/>
                </a:solidFill>
                <a:latin typeface="Calibri" pitchFamily="34" charset="0"/>
                <a:ea typeface="Calibri" pitchFamily="34" charset="-122"/>
                <a:cs typeface="Calibri" pitchFamily="34" charset="-120"/>
              </a:rPr>
              <a:t>Live dashboard — 11 interactive views, every number traceable.</a:t>
            </a:r>
            <a:endParaRPr lang="en-US" sz="1500" dirty="0"/>
          </a:p>
          <a:p>
            <a:pPr marL="342900" indent="-342900">
              <a:lnSpc>
                <a:spcPct val="112000"/>
              </a:lnSpc>
              <a:spcAft>
                <a:spcPts val="900"/>
              </a:spcAft>
              <a:buSzPct val="100000"/>
              <a:buChar char="•"/>
            </a:pPr>
            <a:r>
              <a:rPr lang="en-US" sz="1500" dirty="0">
                <a:solidFill>
                  <a:srgbClr val="3A3F46"/>
                </a:solidFill>
                <a:latin typeface="Calibri" pitchFamily="34" charset="0"/>
                <a:ea typeface="Calibri" pitchFamily="34" charset="-122"/>
                <a:cs typeface="Calibri" pitchFamily="34" charset="-120"/>
              </a:rPr>
              <a:t>GitHub — full code, scripts, tests and stored artifacts.</a:t>
            </a:r>
            <a:endParaRPr lang="en-US" sz="1500" dirty="0"/>
          </a:p>
          <a:p>
            <a:pPr marL="342900" indent="-342900">
              <a:lnSpc>
                <a:spcPct val="112000"/>
              </a:lnSpc>
              <a:spcAft>
                <a:spcPts val="900"/>
              </a:spcAft>
              <a:buSzPct val="100000"/>
              <a:buChar char="•"/>
            </a:pPr>
            <a:r>
              <a:rPr lang="en-US" sz="1500" dirty="0">
                <a:solidFill>
                  <a:srgbClr val="3A3F46"/>
                </a:solidFill>
                <a:latin typeface="Calibri" pitchFamily="34" charset="0"/>
                <a:ea typeface="Calibri" pitchFamily="34" charset="-122"/>
                <a:cs typeface="Calibri" pitchFamily="34" charset="-120"/>
              </a:rPr>
              <a:t>Static throughout — nothing is ever executed.</a:t>
            </a:r>
            <a:endParaRPr lang="en-US" sz="1500" dirty="0"/>
          </a:p>
        </p:txBody>
      </p:sp>
      <p:sp>
        <p:nvSpPr>
          <p:cNvPr id="8" name="Text 5"/>
          <p:cNvSpPr txBox="1"/>
          <p:nvPr/>
        </p:nvSpPr>
        <p:spPr>
          <a:xfrm>
            <a:off x="548640" y="5715000"/>
            <a:ext cx="10972800" cy="320040"/>
          </a:xfrm>
          <a:prstGeom prst="rect">
            <a:avLst/>
          </a:prstGeom>
          <a:noFill/>
          <a:ln/>
        </p:spPr>
        <p:txBody>
          <a:bodyPr wrap="square" lIns="0" tIns="0" rIns="0" bIns="0" rtlCol="0" anchor="ctr"/>
          <a:lstStyle/>
          <a:p>
            <a:pPr indent="0" marL="0">
              <a:buNone/>
            </a:pPr>
            <a:r>
              <a:rPr lang="en-US" sz="1350" b="1" dirty="0">
                <a:solidFill>
                  <a:srgbClr val="1B1E22"/>
                </a:solidFill>
                <a:latin typeface="Calibri" pitchFamily="34" charset="0"/>
                <a:ea typeface="Calibri" pitchFamily="34" charset="-122"/>
                <a:cs typeface="Calibri" pitchFamily="34" charset="-120"/>
              </a:rPr>
              <a:t>Repository   </a:t>
            </a:r>
            <a:pPr indent="0" marL="0">
              <a:buNone/>
            </a:pPr>
            <a:r>
              <a:rPr lang="en-US" sz="1350" dirty="0">
                <a:solidFill>
                  <a:srgbClr val="2F8F82"/>
                </a:solidFill>
                <a:latin typeface="Calibri" pitchFamily="34" charset="0"/>
                <a:ea typeface="Calibri" pitchFamily="34" charset="-122"/>
                <a:cs typeface="Calibri" pitchFamily="34" charset="-120"/>
              </a:rPr>
              <a:t>github.com/heyalokx/PDFSentry</a:t>
            </a:r>
            <a:endParaRPr lang="en-US" sz="1350" dirty="0"/>
          </a:p>
        </p:txBody>
      </p:sp>
      <p:sp>
        <p:nvSpPr>
          <p:cNvPr id="9" name="Text 6"/>
          <p:cNvSpPr txBox="1"/>
          <p:nvPr/>
        </p:nvSpPr>
        <p:spPr>
          <a:xfrm>
            <a:off x="548640" y="6099048"/>
            <a:ext cx="10972800" cy="320040"/>
          </a:xfrm>
          <a:prstGeom prst="rect">
            <a:avLst/>
          </a:prstGeom>
          <a:noFill/>
          <a:ln/>
        </p:spPr>
        <p:txBody>
          <a:bodyPr wrap="square" lIns="0" tIns="0" rIns="0" bIns="0" rtlCol="0" anchor="ctr"/>
          <a:lstStyle/>
          <a:p>
            <a:pPr indent="0" marL="0">
              <a:buNone/>
            </a:pPr>
            <a:r>
              <a:rPr lang="en-US" sz="1350" b="1" dirty="0">
                <a:solidFill>
                  <a:srgbClr val="1B1E22"/>
                </a:solidFill>
                <a:latin typeface="Calibri" pitchFamily="34" charset="0"/>
                <a:ea typeface="Calibri" pitchFamily="34" charset="-122"/>
                <a:cs typeface="Calibri" pitchFamily="34" charset="-120"/>
              </a:rPr>
              <a:t>Live dashboard   </a:t>
            </a:r>
            <a:pPr indent="0" marL="0">
              <a:buNone/>
            </a:pPr>
            <a:r>
              <a:rPr lang="en-US" sz="1350" dirty="0">
                <a:solidFill>
                  <a:srgbClr val="2F8F82"/>
                </a:solidFill>
                <a:latin typeface="Calibri" pitchFamily="34" charset="0"/>
                <a:ea typeface="Calibri" pitchFamily="34" charset="-122"/>
                <a:cs typeface="Calibri" pitchFamily="34" charset="-120"/>
              </a:rPr>
              <a:t>published interactive dashboard (link in repo README)</a:t>
            </a:r>
            <a:endParaRPr lang="en-US" sz="13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17</Slides>
  <Notes>17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17</vt:i4>
      </vt:variant>
    </vt:vector>
  </HeadingPairs>
  <TitlesOfParts>
    <vt:vector size="2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vector>
  </TitlesOfParts>
  <Company>VIT</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Alok Singh</dc:creator>
  <cp:lastModifiedBy>Alok Singh</cp:lastModifiedBy>
  <cp:revision>1</cp:revision>
  <dcterms:created xsi:type="dcterms:W3CDTF">2026-10-28T14:08:36Z</dcterms:created>
  <dcterms:modified xsi:type="dcterms:W3CDTF">2026-10-28T14:08:36Z</dcterms:modified>
</cp:coreProperties>
</file>