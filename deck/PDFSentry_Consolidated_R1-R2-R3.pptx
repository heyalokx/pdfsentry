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Ordinary</c:v>
                </c:pt>
              </c:strCache>
            </c:strRef>
          </c:tx>
          <c:spPr>
            <a:solidFill>
              <a:srgbClr val="2F8F8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F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PR-AUC</c:v>
                  </c:pt>
                  <c:pt idx="1">
                    <c:v>ROC-AUC</c:v>
                  </c:pt>
                  <c:pt idx="2">
                    <c:v>Recall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0.9933</c:v>
                </c:pt>
                <c:pt idx="1">
                  <c:v>0.9913</c:v>
                </c:pt>
                <c:pt idx="2">
                  <c:v>0.973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Evasive</c:v>
                </c:pt>
              </c:strCache>
            </c:strRef>
          </c:tx>
          <c:spPr>
            <a:solidFill>
              <a:srgbClr val="C08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F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PR-AUC</c:v>
                  </c:pt>
                  <c:pt idx="1">
                    <c:v>ROC-AUC</c:v>
                  </c:pt>
                  <c:pt idx="2">
                    <c:v>Recall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0.7864</c:v>
                </c:pt>
                <c:pt idx="1">
                  <c:v>0.9075</c:v>
                </c:pt>
                <c:pt idx="2">
                  <c:v>0.559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A3F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2e4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17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attention</c:v>
                </c:pt>
              </c:strCache>
            </c:strRef>
          </c:tx>
          <c:spPr>
            <a:solidFill>
              <a:srgbClr val="6B7178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F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17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1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717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4473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strings</c:v>
                  </c:pt>
                  <c:pt idx="1">
                    <c:v>byte histogram</c:v>
                  </c:pt>
                  <c:pt idx="2">
                    <c:v>byte entropy</c:v>
                  </c:pt>
                  <c:pt idx="3">
                    <c:v>structure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29</c:v>
                </c:pt>
                <c:pt idx="2">
                  <c:v>9</c:v>
                </c:pt>
                <c:pt idx="3">
                  <c:v>0.4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A3F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9525" cap="flat">
              <a:solidFill>
                <a:srgbClr val="e2e4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C08A2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A3F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8f82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EMBER score alone</c:v>
                  </c:pt>
                  <c:pt idx="1">
                    <c:v>EMBER + reachability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0.649</c:v>
                </c:pt>
                <c:pt idx="1">
                  <c:v>0.998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3A3F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2e4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EMBER score</c:v>
                </c:pt>
              </c:strCache>
            </c:strRef>
          </c:tx>
          <c:spPr>
            <a:solidFill>
              <a:srgbClr val="C08A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3F4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8f8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f8f8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f8f82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08a2e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baseline</c:v>
                  </c:pt>
                  <c:pt idx="1">
                    <c:v>recompress</c:v>
                  </c:pt>
                  <c:pt idx="2">
                    <c:v>decompress</c:v>
                  </c:pt>
                  <c:pt idx="3">
                    <c:v>objstm+</c:v>
                  </c:pt>
                  <c:pt idx="4">
                    <c:v>objstm−</c:v>
                  </c:pt>
                  <c:pt idx="5">
                    <c:v>normalize</c:v>
                  </c:pt>
                  <c:pt idx="6">
                    <c:v>linearize</c:v>
                  </c:pt>
                  <c:pt idx="7">
                    <c:v>encrypt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0.8</c:v>
                </c:pt>
                <c:pt idx="1">
                  <c:v>0.57</c:v>
                </c:pt>
                <c:pt idx="2">
                  <c:v>0.02</c:v>
                </c:pt>
                <c:pt idx="3">
                  <c:v>0</c:v>
                </c:pt>
                <c:pt idx="4">
                  <c:v>0.8</c:v>
                </c:pt>
                <c:pt idx="5">
                  <c:v>0.07</c:v>
                </c:pt>
                <c:pt idx="6">
                  <c:v>0.73</c:v>
                </c:pt>
                <c:pt idx="7">
                  <c:v>0.98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A3F4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2e4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1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18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19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Slide-30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Slide-31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image" Target="../media/image-3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BCSE321L · MALWARE ANALYSIS</a:t>
            </a:r>
            <a:endParaRPr lang="en-US" sz="1100" dirty="0"/>
          </a:p>
        </p:txBody>
      </p:sp>
      <p:pic>
        <p:nvPicPr>
          <p:cNvPr id="4" name="Image 0" descr="/home/claude/PDFSentry/deck/assets/orn_globe.png">    </p:cNvPr>
          <p:cNvPicPr>
            <a:picLocks noChangeAspect="1"/>
          </p:cNvPicPr>
          <p:nvPr/>
        </p:nvPicPr>
        <p:blipFill>
          <a:blip r:embed="rId2">
            <a:alphaModFix amt="72000"/>
          </a:blip>
          <a:stretch>
            <a:fillRect/>
          </a:stretch>
        </p:blipFill>
        <p:spPr>
          <a:xfrm>
            <a:off x="7955280" y="1325880"/>
            <a:ext cx="3657600" cy="3657600"/>
          </a:xfrm>
          <a:prstGeom prst="rect">
            <a:avLst/>
          </a:prstGeom>
        </p:spPr>
      </p:pic>
      <p:pic>
        <p:nvPicPr>
          <p:cNvPr id="5" name="Image 1" descr="/home/claude/PDFSentry/deck/assets/orn_arcs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10241280" y="4572000"/>
            <a:ext cx="1371600" cy="1371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1783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REVIEW · R1 · R2 · R3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75488" y="2167128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spc="100" kern="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PDFSentry</a:t>
            </a:r>
            <a:endParaRPr lang="en-US" sz="8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611880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1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Explainable, Drift-Resilient Static Detection of Malicious PDF Files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48056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over recognition — reading what a PDF will do, not just what it contains.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44068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Alok Singh  23BCI0158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Mrinali Charhate  23BCI0073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Aarya Ashish Nagvekar  23BCI0061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BCSE321L — Malware Analysis · Vellore Institute of Technology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this deck covers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4767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— Proposal   </a:t>
            </a:r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objectives, existing vs proposed system, samples, tools, datasets, methodology and expected outcome.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816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— Implementation   </a:t>
            </a:r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 architecture, tools installed, datasets collected, static-analysis results, SHAP diagnosis, findings and blockers.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033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8503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— Final   </a:t>
            </a:r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results across three pillars — Detection, Robustness, Assurance — malware characteristics, IoCs, comparison and demo.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72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5371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   </a:t>
            </a:r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byte/string model sees what a file contains; PDFSentry parses the object graph and asks whether an automatic trigger can reach a dangerous action.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366760" y="1965960"/>
            <a:ext cx="3291840" cy="4297680"/>
          </a:xfrm>
          <a:prstGeom prst="roundRect">
            <a:avLst>
              <a:gd name="adj" fmla="val 1944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4108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41080" y="2560320"/>
            <a:ext cx="2788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reproduce a state-of-the-art PDF detector, prove why it fails on evasive malware, and add a structural reachability signal that is explainable and obfuscation-invariant — without ever executing a file.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pic>
        <p:nvPicPr>
          <p:cNvPr id="4" name="Image 0" descr="/home/claude/PDFSentry/deck/assets/orn_star.png">    </p:cNvPr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9144000" y="1005840"/>
            <a:ext cx="2103120" cy="2103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6916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9AA0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R1</a:t>
            </a:r>
            <a:endParaRPr lang="en-US" sz="15000" dirty="0"/>
          </a:p>
        </p:txBody>
      </p:sp>
      <p:sp>
        <p:nvSpPr>
          <p:cNvPr id="6" name="Text 3"/>
          <p:cNvSpPr txBox="1"/>
          <p:nvPr/>
        </p:nvSpPr>
        <p:spPr>
          <a:xfrm>
            <a:off x="512064" y="3703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spc="200" kern="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PROPOSAL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we target, our proposed system, and the plan to build and evaluate it.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15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spc="5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Domain · Problem · Motivation · Objectives · Existing vs Proposed · Samples · Tools · Datasets · Methodology · Expected outcome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DOMAIN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title &amp; domain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static, explainable detector for malicious PDFs, built around a structural idea rather than metrics alone.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23160"/>
            <a:ext cx="108813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— Explainable, Drift-Resilient Static Detection of Malicious PDF Files.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malware analysis · machine-learning security · document-borne threat detection.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PDF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most common malware delivery vectors — portable, trusted by users, and rich in active-content features (JavaScript, launch actions, embedded files).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built and defended research project with a genuinely novel structural idea — not a survey, and not just a benchmark score.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PDF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top malware delivery vector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5371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Static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execution, zero detonation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0275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C08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Novel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0275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over recognition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benchmark numbers hide a dangerous blind spot on exactly the malware that matters most.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23160"/>
            <a:ext cx="108813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solved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State-of-the-art detectors report near-perfect scores on ordinary PDF malware.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Breaks on evasion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evasive malware — files that already slipped past antivirus — EMBER2024 drops from PR-AUC 0.9933 to 0.7841 on its own challenge set.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detectors read byte and string statistics; they are structurally blind to a document’s object graph and its auto-execution behaviour.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355 of 805 real evasive PDFs pass straight through — precisely the malware that reaches an inbox after a gateway.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C08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0.9933 → 0.7841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PR-AUC: ordinary → evasive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5371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B447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355 / 805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evasive PDFs missed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0275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B447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44%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0275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evasive malware slips through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Motivation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6596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Highest-value target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Evasive PDFs are what remain after an AV gateway — detecting them has outsized security value.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analysts need a reason, not just a probability — a verdict they can verify and act on.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resilience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statistics shift as attackers re-encode and re-compress; a structural signal should be stable by construction.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over appearance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question is not “does it look malicious?” but “can it act maliciously when opened?”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brief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rewards a genuinely new idea and real engineering over another high score on a known benchmark.</a:t>
            </a:r>
            <a:endParaRPr lang="en-US" sz="1600" dirty="0"/>
          </a:p>
        </p:txBody>
      </p:sp>
      <p:pic>
        <p:nvPicPr>
          <p:cNvPr id="7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120640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47672"/>
            <a:ext cx="6080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 · Reproduce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Re-establish the EMBER2024 PDF benchmark on the authors’ released model, as a verified baseline.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697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679192"/>
            <a:ext cx="6080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 · Diagnose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SHAP to explain why evasive malware is systematically missed.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29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410712"/>
            <a:ext cx="6080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 · Build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trigger-reachability analyzer over the PDF object graph (engine TRA-1.0).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142232"/>
            <a:ext cx="6080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 · Fuse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that reachability + EMBER recovers structural evasions a byte model cannot.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892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873752"/>
            <a:ext cx="6080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O5 · Harden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obfuscation-invariance — a verdict stable under lossless re-encoding (semantic stability).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623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605272"/>
            <a:ext cx="6080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O6 · Assure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verifiable, explainable verdicts and an interactive dashboard.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366760" y="1965960"/>
            <a:ext cx="3291840" cy="4297680"/>
          </a:xfrm>
          <a:prstGeom prst="roundRect">
            <a:avLst>
              <a:gd name="adj" fmla="val 1944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64108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641080" y="2560320"/>
            <a:ext cx="2788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objective is falsifiable and traced to a stored artifact. We separate what is proven on real data from what is demonstrated in a controlled setting.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Threat model &amp; assumptions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boundary for what PDFSentry defends against — and, honestly, what it does not.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2316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goal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PDF that auto-executes a dangerous action (JavaScript, Launch, EmbeddedFile) on open, while reading as benign to an ML detector.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capability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of file structure — can compress, encrypt, reorder objects and hide payloads in object streams.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 constraint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analysis only — no execution, no sandbox detonation (safety + reproducibility).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auto-execution threats reachable from a trigger; byte-level obfuscation of those threats.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social-engineering PDFs with no active content, and exploits in the viewer binary itself.</a:t>
            </a:r>
            <a:endParaRPr lang="en-US" sz="1600" dirty="0"/>
          </a:p>
        </p:txBody>
      </p:sp>
      <p:pic>
        <p:nvPicPr>
          <p:cNvPr id="8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120640"/>
            <a:ext cx="1097280" cy="1097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vs PROPOSED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Existing system vs proposed system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current approaches fall short, and what PDFSentry adds on top of them.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108813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29840"/>
                <a:gridCol w="2529840"/>
                <a:gridCol w="25298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 signatures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EMBER2024 (byte ML)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PDFSentry (ours)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what the file DOES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(bytes/strings)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reachability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Explainable verdict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Post-hoc SHAP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witness path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 to re-encoding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(SSI 0.22)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(SSI 1.00)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 data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(deterministic rule)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/ evasive malware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on evasive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Targets the evasion mechanism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610819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does not replace EMBER — it supplies the structural evidence a byte/string model structurally lacks.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Malware / samples to be analyzed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evasive malware for evidence; controlled, harmless twins for mechanism — never live execution.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23160"/>
            <a:ext cx="108813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EMBER2024 challenge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805 real evasive PDFs that first evaded antivirus — the authors release these as feature vectors.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CIC-Evasive-PDFMal2022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10,025 labelled PDFs (UNB) — used for evasion-cost mapping on a count-based feature set.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twins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PDFs carrying a harmless reachable payload (app.alert) across 4 trigger wirings — for mechanism and robustness studies.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boundary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static. No PDF is opened; no JavaScript, launch action or embedded file is ever executed.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805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evasive PDFs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5371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10,025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 labelled PDFs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0275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0275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ever executed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· DATASETS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 required &amp; dataset sources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6596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pikepdf — static object-graph recovery; the file is parsed, never executed.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thrember (EMBER v3 feature extractor, 2568 dimensions).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(TreeExplainer) for per-feature-family attribution of the model’s decisions.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· FastAPI service · pytest · a self-contained ECharts dashboard.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EMBER2024 (FutureComputing4AI, KDD 2025) · CIC-Evasive-PDFMal2022 (University of New Brunswick).</a:t>
            </a:r>
            <a:endParaRPr lang="en-US" sz="1600" dirty="0"/>
          </a:p>
        </p:txBody>
      </p:sp>
      <p:pic>
        <p:nvPicPr>
          <p:cNvPr id="7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120640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Proposed methodology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4767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parse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with pikepdf — never executed — and recover the object-reference graph.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816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surface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 auto / interaction triggers: /OpenAction, /AA, /Names/JavaScript, action chains.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033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8503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BFS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Shortest-path search from each trigger to a dangerous capability.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72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5371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taxonomy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· PRESENT_DORMANT · ACTIVE_ONINTERACT · ACTIVE_ONOPEN, each with a minimal witness.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440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42239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the 65-D reachability vector with the EMBER score for the final decision.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366760" y="1965960"/>
            <a:ext cx="3291840" cy="4297680"/>
          </a:xfrm>
          <a:prstGeom prst="roundRect">
            <a:avLst>
              <a:gd name="adj" fmla="val 1944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4108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2560320"/>
            <a:ext cx="2788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asks “does this look like malware?”  Reachability asks “can an automatic trigger reach a dangerous action?” — the question that actually defines the threat.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PROPOSAL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Expected outcome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set out to deliver, stated as measurable goals.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3322320" cy="1645920"/>
          </a:xfrm>
          <a:prstGeom prst="roundRect">
            <a:avLst>
              <a:gd name="adj" fmla="val 3889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92608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Structural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94176"/>
            <a:ext cx="277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detector that reads behaviour, supplying the signal byte-ML lacks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8160" y="2743200"/>
            <a:ext cx="3322320" cy="1645920"/>
          </a:xfrm>
          <a:prstGeom prst="roundRect">
            <a:avLst>
              <a:gd name="adj" fmla="val 3889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02480" y="292608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Explainable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602480" y="3694176"/>
            <a:ext cx="277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verifiable witness path accompanying every verdict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07680" y="2743200"/>
            <a:ext cx="3322320" cy="1645920"/>
          </a:xfrm>
          <a:prstGeom prst="roundRect">
            <a:avLst>
              <a:gd name="adj" fmla="val 3889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82000" y="292608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08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Drift-resilient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382000" y="3694176"/>
            <a:ext cx="277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 under obfuscation, measured and not merely asserted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3322320" cy="1645920"/>
          </a:xfrm>
          <a:prstGeom prst="roundRect">
            <a:avLst>
              <a:gd name="adj" fmla="val 3889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480060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Reproducible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568696"/>
            <a:ext cx="277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reported number traced to a stored JSON artifact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328160" y="4617720"/>
            <a:ext cx="3322320" cy="1645920"/>
          </a:xfrm>
          <a:prstGeom prst="roundRect">
            <a:avLst>
              <a:gd name="adj" fmla="val 3889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602480" y="480060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3A3F4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602480" y="5568696"/>
            <a:ext cx="277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line between what is proven and what is projected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107680" y="4617720"/>
            <a:ext cx="3322320" cy="1645920"/>
          </a:xfrm>
          <a:prstGeom prst="roundRect">
            <a:avLst>
              <a:gd name="adj" fmla="val 3889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82000" y="480060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Usable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8382000" y="5568696"/>
            <a:ext cx="277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dashboard for the defence and live demonstration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pic>
        <p:nvPicPr>
          <p:cNvPr id="4" name="Image 0" descr="/home/claude/PDFSentry/deck/assets/orn_arcs.png">    </p:cNvPr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9326880" y="1097280"/>
            <a:ext cx="1920240" cy="1920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6916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9AA0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R2</a:t>
            </a:r>
            <a:endParaRPr lang="en-US" sz="15000" dirty="0"/>
          </a:p>
        </p:txBody>
      </p:sp>
      <p:sp>
        <p:nvSpPr>
          <p:cNvPr id="6" name="Text 3"/>
          <p:cNvSpPr txBox="1"/>
          <p:nvPr/>
        </p:nvSpPr>
        <p:spPr>
          <a:xfrm>
            <a:off x="512064" y="3703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spc="200" kern="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IMPLEMENTATION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built, the tools and data in place, and the first measured results.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15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spc="5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 methodology · Architecture · Tools installed · Datasets collected · Static &amp; behavioural results · SHAP · Findings · Problems · Status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Finalized methodology &amp; system architecture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10789920" cy="3545312"/>
          </a:xfrm>
          <a:prstGeom prst="roundRect">
            <a:avLst>
              <a:gd name="adj" fmla="val 1290"/>
            </a:avLst>
          </a:prstGeom>
          <a:solidFill>
            <a:srgbClr val="0F141B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127000" dist="50800" dir="5400000">
              <a:srgbClr val="7c8795">
                <a:alpha val="40000"/>
              </a:srgbClr>
            </a:outerShdw>
          </a:effectLst>
        </p:spPr>
      </p:sp>
      <p:pic>
        <p:nvPicPr>
          <p:cNvPr id="7" name="Image 0" descr="/home/claude/PDFSentry/deck/assets/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4560"/>
            <a:ext cx="10607040" cy="33624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68500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PDFSentry pipeline — static throughout; the fusion node combines structural reachability with the EMBER score to produce a typed, witnessed verdict.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INSTALLED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Tools installed &amp; working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stack is built, tested and reproducible — not slideware.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23160"/>
            <a:ext cx="108813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parser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pikepdf operational — object-graph recovery + reachability engine (TRA-1.0).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EMBER2024 released PDF model loaded via LightGBM; thrember built from source (not on PyPI).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TreeExplainer over the full 2568-D EMBER vector, grouped by feature family.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&amp; tests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service; 23 pytest cases passing across parsing, reachability and fusion.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 ECharts dashboard (library inlined) — 11 interactive views.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cases passing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5371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2568-D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 feature vector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0275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0275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 views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COLLECTED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Datasets &amp; malware samples collected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65960"/>
            <a:ext cx="108813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EMBER2024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Authors’ PDF model + ordinary test set + the 805 evasive challenge PDFs (released as features).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corpus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real PDF fixtures + 250 generated benign documents (links, forms, bookmarks) for false-positive testing.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Weaponized twins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bases × 4 trigger wirings × 8 lossless transforms, each carrying a harmless payload.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sample set is scripted and regenerable; all results fold into stored JSON artifacts.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0467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285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documents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5371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× 8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wirings × transforms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672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0275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traced to artifacts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RESULTS · O1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Static analysis results — reproducing the gap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EMBER model, two regimes. Ordinary malware looks solved; evasive malware collapses precision.</a:t>
            </a:r>
            <a:endParaRPr lang="en-US" sz="15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2514600"/>
          <a:ext cx="7040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909560" y="26517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08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0.7864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43814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evasive PR-AUC (reproduced)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40690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B447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355/805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485546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evasive PDFs missed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54864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0.9933</a:t>
            </a:r>
            <a:endParaRPr lang="en-US" sz="4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627278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PR-AUC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· O2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SHAP diagnosis — the structural void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EMBER model spends its attention on the evasive malware it misses (mean |SHAP| by feature family).</a:t>
            </a:r>
            <a:endParaRPr lang="en-US" sz="15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2514600"/>
          <a:ext cx="7040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909560" y="26517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B447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~0%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43814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on structure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40690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3A3F4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~60%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485546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string statistics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54864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C08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627278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looks like caught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(STATIC)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Behavioural reasoning — without execution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template’s “dynamic analysis” is answered by static behavioural reachability — safer, and reproducible.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2316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design, static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sandbox, no detonation — PDFs are never opened. This removes all execution risk and keeps results reproducible.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as proxy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dynamic tracing, we statically prove whether an auto-trigger can reach a dangerous action.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void confirmed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shows the model acts on string/byte statistics and essentially nothing structural — so it cannot separate evasive malware from benign files.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fill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supplies exactly that missing structural evidence, as a 65-D feature vector fused with the EMBER score.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961327" y="3090672"/>
            <a:ext cx="4791456" cy="3054096"/>
          </a:xfrm>
          <a:prstGeom prst="roundRect">
            <a:avLst>
              <a:gd name="adj" fmla="val 2096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pic>
        <p:nvPicPr>
          <p:cNvPr id="9" name="Image 0" descr="/home/claude/PDFSentry/deck/assets/dash_overvie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055" y="3200400"/>
            <a:ext cx="4572000" cy="283464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071055" y="61447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+ SHAP in the dashboard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Screenshots — interactive dashboard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7863840" cy="4584070"/>
          </a:xfrm>
          <a:prstGeom prst="roundRect">
            <a:avLst>
              <a:gd name="adj" fmla="val 997"/>
            </a:avLst>
          </a:prstGeom>
          <a:solidFill>
            <a:srgbClr val="0F141B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127000" dist="50800" dir="5400000">
              <a:srgbClr val="7c8795">
                <a:alpha val="40000"/>
              </a:srgbClr>
            </a:outerShdw>
          </a:effectLst>
        </p:spPr>
      </p:sp>
      <p:pic>
        <p:nvPicPr>
          <p:cNvPr id="7" name="Image 0" descr="/home/claude/PDFSentry/deck/assets/dash_overvie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4560"/>
            <a:ext cx="7680960" cy="44011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549640" y="233172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Traceable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KPI links to a stored JSON artifact — nothing is hand-typed.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329184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pillars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Detection, Robustness and Assurance, each a clickable view.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25196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 curves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vs evasive, rendered from the real EMBER model.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1208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ECharts inlined — opens offline, shareable as a single file.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Important findings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65960"/>
            <a:ext cx="108813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collapse is real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 PR-AUC 0.9933 → 0.7864 on evasive malware; 355/805 missed.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are structural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malware is measurably more compressed than caught malware — median /FlateDecode 12 vs 7 (p &lt; 10⁻¹⁵), higher entropy, larger size.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recovers it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controlled structural evasions, EMBER + reachability fusion lifts ROC-AUC from 0.649 to 0.998.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Confound-free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real-malware evidence uses EMBER’s own released features — no new tooling, no execution, no circular labels.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0467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 &lt; 10⁻¹⁵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gap on real misses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5371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 vs 7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/FlateDecode: missed vs caught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672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0275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C08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0.649 → 0.998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ROC-AUC (controlled)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Problems encountered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6596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malware unobtainable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 releases the 805 challenge as features only; CIC raw PDFs triggered AV quarantine and download limits.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workaround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EMBER’s released features for confound-free real-malware evidence, and controlled twins for the mechanism.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friction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thrember is not on PyPI (built from source); a signify import bug was stubbed around.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boundary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safe way to execute live malware — so the whole pipeline stays static, which became a design strength.</a:t>
            </a:r>
            <a:endParaRPr lang="en-US" sz="1600" dirty="0"/>
          </a:p>
        </p:txBody>
      </p:sp>
      <p:pic>
        <p:nvPicPr>
          <p:cNvPr id="7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120640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IMPLEMENTATION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 completed vs remaining (at Review 2)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4767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 reproduction, SHAP diagnosis, reachability engine + 65-D features, fusion study, dashboard v1.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816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· robustness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obfuscation-invariance (semantic stability).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033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8503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· assurance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verdicts: witnesses, false-positive and determinism measurement.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72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5371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· rigour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controls and honest-scope framing.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440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42239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· delivery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packaging, dashboard polish and write-up.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366760" y="1965960"/>
            <a:ext cx="3291840" cy="4297680"/>
          </a:xfrm>
          <a:prstGeom prst="roundRect">
            <a:avLst>
              <a:gd name="adj" fmla="val 1944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4108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→ R3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2560320"/>
            <a:ext cx="2788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“remaining” item was completed for Review 3. The two new pillars — Robustness and Assurance — and the negative controls are the headline additions.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pic>
        <p:nvPicPr>
          <p:cNvPr id="4" name="Image 0" descr="/home/claude/PDFSentry/deck/assets/orn_globe.png">    </p:cNvPr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9052560" y="914400"/>
            <a:ext cx="2377440" cy="2377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6916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dirty="0">
                <a:solidFill>
                  <a:srgbClr val="9AA0A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R3</a:t>
            </a:r>
            <a:endParaRPr lang="en-US" sz="15000" dirty="0"/>
          </a:p>
        </p:txBody>
      </p:sp>
      <p:sp>
        <p:nvSpPr>
          <p:cNvPr id="6" name="Text 3"/>
          <p:cNvSpPr txBox="1"/>
          <p:nvPr/>
        </p:nvSpPr>
        <p:spPr>
          <a:xfrm>
            <a:off x="512064" y="3703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spc="200" kern="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FINAL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complete system and its results across three pillars — Detection, Robustness, Assurance.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15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spc="5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methodology · Taxonomy · Implementation · Three pillars · Characteristics · IoCs · Detection results · Comparison · Limits · Conclusion · Demo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METHODOLOGY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Final methodology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4767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parse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pikepdf recovers the object-reference graph; the file is never executed.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816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surface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 every auto / interaction trigger across the known PDF execution vectors.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033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8503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BFS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Shortest-path search from trigger to dangerous capability; record the minimal witness.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72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5371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65-D reach vector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verdicts, hop counts, concealment signatures and trigger classes as features.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440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542239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 verdict   </a:t>
            </a:r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the EMBER score; emit a typed verdict with a human-checkable path.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366760" y="1965960"/>
            <a:ext cx="3291840" cy="4297680"/>
          </a:xfrm>
          <a:prstGeom prst="roundRect">
            <a:avLst>
              <a:gd name="adj" fmla="val 1944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4108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UNCHANGED, PROVEN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2560320"/>
            <a:ext cx="2788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methodology promised at Review 1 is the one that shipped — now measured for accuracy, robustness and assurance.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Reachability verdict taxonomy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4767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   </a:t>
            </a:r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dangerous capability present in the document at all.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816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PRESENT_DORMANT   </a:t>
            </a:r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capability exists but no trigger can reach it — inert.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033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8503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ACTIVE_ONINTERACT   </a:t>
            </a:r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Reachable only on user interaction (e.g. a clickable link) — a capability, not an auto-threat.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572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55371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ACTIVE_ONOPEN   </a:t>
            </a:r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action auto-fires on open — the threat class PDFSentry is built to catch.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366760" y="1965960"/>
            <a:ext cx="3291840" cy="4297680"/>
          </a:xfrm>
          <a:prstGeom prst="roundRect">
            <a:avLst>
              <a:gd name="adj" fmla="val 1944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64108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≠ INTENT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641080" y="2560320"/>
            <a:ext cx="27889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four-state taxonomy is what lets PDFSentry separate a benign clickable link from a weaponised auto-run payload — and report exactly which it found.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Complete implementation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built system, end to end — reproducible, tested and deployable.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3322320" cy="1645920"/>
          </a:xfrm>
          <a:prstGeom prst="roundRect">
            <a:avLst>
              <a:gd name="adj" fmla="val 3889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92608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TRA-1.0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94176"/>
            <a:ext cx="277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trigger-reachability engine (static, deterministic)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28160" y="2743200"/>
            <a:ext cx="3322320" cy="1645920"/>
          </a:xfrm>
          <a:prstGeom prst="roundRect">
            <a:avLst>
              <a:gd name="adj" fmla="val 3889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02480" y="292608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65-D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602480" y="3694176"/>
            <a:ext cx="277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feature vector fused with EMBER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07680" y="2743200"/>
            <a:ext cx="3322320" cy="1645920"/>
          </a:xfrm>
          <a:prstGeom prst="roundRect">
            <a:avLst>
              <a:gd name="adj" fmla="val 3889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82000" y="292608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382000" y="3694176"/>
            <a:ext cx="277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cases passing (parse · reach · fusion)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617720"/>
            <a:ext cx="3322320" cy="1645920"/>
          </a:xfrm>
          <a:prstGeom prst="roundRect">
            <a:avLst>
              <a:gd name="adj" fmla="val 3889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2960" y="480060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08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11 views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568696"/>
            <a:ext cx="277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ECharts dashboard, self-contained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328160" y="4617720"/>
            <a:ext cx="3322320" cy="1645920"/>
          </a:xfrm>
          <a:prstGeom prst="roundRect">
            <a:avLst>
              <a:gd name="adj" fmla="val 3889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602480" y="480060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285</a:t>
            </a:r>
            <a:endParaRPr lang="en-US" sz="3400" dirty="0"/>
          </a:p>
        </p:txBody>
      </p:sp>
      <p:sp>
        <p:nvSpPr>
          <p:cNvPr id="21" name="Text 19"/>
          <p:cNvSpPr txBox="1"/>
          <p:nvPr/>
        </p:nvSpPr>
        <p:spPr>
          <a:xfrm>
            <a:off x="4602480" y="5568696"/>
            <a:ext cx="277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documents for false-positive testing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107680" y="4617720"/>
            <a:ext cx="3322320" cy="1645920"/>
          </a:xfrm>
          <a:prstGeom prst="roundRect">
            <a:avLst>
              <a:gd name="adj" fmla="val 3889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82000" y="4800600"/>
            <a:ext cx="277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704</a:t>
            </a:r>
            <a:endParaRPr lang="en-US" sz="3400" dirty="0"/>
          </a:p>
        </p:txBody>
      </p:sp>
      <p:sp>
        <p:nvSpPr>
          <p:cNvPr id="24" name="Text 22"/>
          <p:cNvSpPr txBox="1"/>
          <p:nvPr/>
        </p:nvSpPr>
        <p:spPr>
          <a:xfrm>
            <a:off x="8382000" y="5568696"/>
            <a:ext cx="277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obfuscation variants in the stability study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OVERVIEW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pillars of the final result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94767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Detection   </a:t>
            </a:r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over recognition — fusion lifts controlled ROC-AUC 0.649 → 0.998.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4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81635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Robustness   </a:t>
            </a:r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stability — verdict invariant to lossless obfuscation (SSI 1.000 vs 0.216).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7033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685032"/>
            <a:ext cx="6080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Assurance   </a:t>
            </a:r>
            <a:pPr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verdicts — 0/285 false positives, 1-hop witnesses, deterministic, training-free.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366760" y="1965960"/>
            <a:ext cx="3291840" cy="3017520"/>
          </a:xfrm>
          <a:prstGeom prst="roundRect">
            <a:avLst>
              <a:gd name="adj" fmla="val 2121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641080" y="2194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2560320"/>
            <a:ext cx="2788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one metric, but a complete argument: it works, it holds under attack, and you can verify it by hand.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01 · Detection results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controlled structural evasions, EMBER alone is near-blind; adding the reachability signal makes it near-perfect.</a:t>
            </a:r>
            <a:endParaRPr lang="en-US" sz="15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2514600"/>
          <a:ext cx="7040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909560" y="26517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+0.349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43814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from the structural signal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40690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485546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recall on reachable threats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54864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4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627278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on 285 benign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02 · Robustness — semantic stability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malicious behaviour, eight lossless re-saves. EMBER’s score swings across the scale; reachability never moves.</a:t>
            </a:r>
            <a:endParaRPr lang="en-US" sz="15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2514600"/>
          <a:ext cx="70408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7909560" y="26517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B447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78.4%</a:t>
            </a:r>
            <a:endParaRPr lang="en-US" sz="42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43814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docs get BOTH EMBER verdicts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40690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1.000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7909560" y="485546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stability index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54864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rgbClr val="C08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0.216</a:t>
            </a:r>
            <a:endParaRPr lang="en-US" sz="42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6272784"/>
            <a:ext cx="3931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EMBER stability index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03 · Assurance — verifiable verdicts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7863840" cy="4584070"/>
          </a:xfrm>
          <a:prstGeom prst="roundRect">
            <a:avLst>
              <a:gd name="adj" fmla="val 997"/>
            </a:avLst>
          </a:prstGeom>
          <a:solidFill>
            <a:srgbClr val="0F141B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127000" dist="50800" dir="5400000">
              <a:srgbClr val="7c8795">
                <a:alpha val="40000"/>
              </a:srgbClr>
            </a:outerShdw>
          </a:effectLst>
        </p:spPr>
      </p:sp>
      <p:pic>
        <p:nvPicPr>
          <p:cNvPr id="7" name="Image 0" descr="/home/claude/PDFSentry/deck/assets/dash_assuranc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4560"/>
            <a:ext cx="7680960" cy="44011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549640" y="233172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alarm ships a minimal witness: catalog → trigger → dangerous node.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329184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285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 on the benign corpus (auto-exec gate).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25196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verdict + path over repeated runs; no training data.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1208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~1.2 ms median per document — gateway-deployable.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Malware characteristics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evasive PDFs do to survive: automate, conceal, and camouflage as ordinary compression.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23160"/>
            <a:ext cx="108813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Auto-execution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dangerous action (JavaScript, Launch, EmbeddedFile) wired to fire on open via /OpenAction, /AA or /Names.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Concealment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payload hidden inside a compressed object stream — present in behaviour, invisible to a token count.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camouflage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/FlateDecode and entropy make the file read as “just compressed” to a statistical model.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Indirection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chains (GoTo → Next) reach the payload at depth, defeating shallow pattern checks.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entropy &gt; 7.9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camouflage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9768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55371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B447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naive = 0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auto-run payload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0275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depth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830275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indirection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Indicators of Compromise (IoCs)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Structural, checkable indicators — each maps to a reachability feature, not a fragile byte signature.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2316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Reachable auto-trigger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/OpenAction | /AA | /Names/JavaScript with a path to /JS, /Launch or /EmbeddedFile → ACTIVE_ONOPEN.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Hidden-gap signature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ACTIVE capability whose naive token count is 0 — a contradiction only concealment produces.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Object-stream hiding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wrapped in an ObjStm; /FlateDecode count far above the benign median (≈ 12 vs 7).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tells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entropy &gt; 7.9 and file size well above benign, with a JS token count of 0.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action chains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GoTo → Next sequences terminating at a dangerous node.</a:t>
            </a:r>
            <a:endParaRPr lang="en-US" sz="1600" dirty="0"/>
          </a:p>
        </p:txBody>
      </p:sp>
      <p:pic>
        <p:nvPicPr>
          <p:cNvPr id="8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120640"/>
            <a:ext cx="1097280" cy="1097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Comparison / results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against the byte-ML baseline and a classic structural-path detector.</a:t>
            </a:r>
            <a:endParaRPr lang="en-US" sz="15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108813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29840"/>
                <a:gridCol w="2529840"/>
                <a:gridCol w="25298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EMBER2024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PDFSentry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E2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what the file DOES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(bytes/strings)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 (static paths)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(reachability)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Explainable verdict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Post-hoc SHAP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Witness path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Obfuscation-invariant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SSI 0.22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SSI 1.00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to evade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re-save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Low–medium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 disarm payload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1E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data needed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F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F8F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(deterministic)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5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6108192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scope: the 0.78 EMBER benchmark is NOT improved (no raw evasive files to retrain). The 0.998 is a controlled result that isolates the mechanism.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Screenshots — reachability &amp; robustness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7863840" cy="4584070"/>
          </a:xfrm>
          <a:prstGeom prst="roundRect">
            <a:avLst>
              <a:gd name="adj" fmla="val 997"/>
            </a:avLst>
          </a:prstGeom>
          <a:solidFill>
            <a:srgbClr val="0F141B"/>
          </a:solidFill>
          <a:ln w="12700">
            <a:solidFill>
              <a:srgbClr val="2B3542"/>
            </a:solidFill>
            <a:prstDash val="solid"/>
          </a:ln>
          <a:effectLst>
            <a:outerShdw sx="100000" sy="100000" kx="0" ky="0" algn="bl" rotWithShape="0" blurRad="127000" dist="50800" dir="5400000">
              <a:srgbClr val="7c8795">
                <a:alpha val="40000"/>
              </a:srgbClr>
            </a:outerShdw>
          </a:effectLst>
        </p:spPr>
      </p:sp>
      <p:pic>
        <p:nvPicPr>
          <p:cNvPr id="7" name="Image 0" descr="/home/claude/PDFSentry/deck/assets/dash_stabilit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94560"/>
            <a:ext cx="7680960" cy="44011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549640" y="233172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any weaponized twin; its EMBER score-swing plots live.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549640" y="329184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Invariance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verdict held constant across all re-saves.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425196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graph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force-directed view traces the catalog→danger path.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5212080"/>
            <a:ext cx="31848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control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feature-only recovery rule fails — motivating true reachability.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 scope &amp; limitations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plainly so the contribution is credible: what is proven, and what is projected.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2316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not beaten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did NOT raise EMBER’s 0.78 evasive score — retraining needs raw evasive PDFs we could not obtain.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mechanism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0.998 fusion is on controlled weaponized twins; it isolates the signal, it is not a benchmark claim.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≠ intent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flags a reachable dangerous capability; a benign PDF that genuinely auto-runs JS would be flagged too.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only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dynamic cross-validation — by design, for safety and reproducibility.</a:t>
            </a:r>
            <a:endParaRPr lang="en-US" sz="1600" dirty="0"/>
          </a:p>
        </p:txBody>
      </p:sp>
      <p:pic>
        <p:nvPicPr>
          <p:cNvPr id="8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120640"/>
            <a:ext cx="1097280" cy="1097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65960"/>
            <a:ext cx="108813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idea, built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Reachability over recognition — a structural, static detector that reads what a PDF will do.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results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(0.649→0.998 controlled), Robustness (SSI 1.000 vs 0.216), Assurance (0/285 FP, verifiable).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the gap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Byte-ML spends ~0% on structure; evasive misses are measurably more compressed (p &lt; 10⁻¹⁵).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&amp; reproducible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traces to an artifact; scope is stated without overclaim.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0467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0.998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(controlled ROC-AUC)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5371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1.000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(stability index)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6720" y="5074920"/>
            <a:ext cx="3383280" cy="1097280"/>
          </a:xfrm>
          <a:prstGeom prst="roundRect">
            <a:avLst>
              <a:gd name="adj" fmla="val 5833"/>
            </a:avLst>
          </a:prstGeom>
          <a:solidFill>
            <a:srgbClr val="EEF0F2"/>
          </a:solidFill>
          <a:ln w="9525">
            <a:solidFill>
              <a:srgbClr val="CED2D8"/>
            </a:solidFill>
            <a:prstDash val="solid"/>
          </a:ln>
          <a:effectLst>
            <a:outerShdw sx="100000" sy="100000" kx="0" ky="0" algn="bl" rotWithShape="0" blurRad="101600" dist="38100" dir="5400000">
              <a:srgbClr val="9aa0a8">
                <a:alpha val="3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302752" y="5230368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F8F8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 / 285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5769864"/>
            <a:ext cx="287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 (false positives)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786384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7899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Future enhancement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965960"/>
            <a:ext cx="10881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raw evasive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raw evasive PDFs to retrain a reachability-augmented model and test the 0.78 benchmark directly.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cross-check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a sample to validate reachability verdicts against observed behaviour.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deployment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~1.2 ms/file makes an email / browser gateway pre-filter realistic.</a:t>
            </a:r>
            <a:endParaRPr lang="en-US" sz="16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PDF 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6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reachability abstraction to Office OOXML and other active-content formats.</a:t>
            </a:r>
            <a:endParaRPr lang="en-US" sz="1600" dirty="0"/>
          </a:p>
        </p:txBody>
      </p:sp>
      <p:pic>
        <p:nvPicPr>
          <p:cNvPr id="7" name="Image 0" descr="/home/claude/PDFSentry/deck/assets/orn_ring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561320" y="5120640"/>
            <a:ext cx="1097280" cy="10972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02920" y="652881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50" kern="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 · Reachability over Recognition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1323015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PDFSENTRY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659575" y="29260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300" kern="0" dirty="0">
                <a:solidFill>
                  <a:srgbClr val="6B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FINAL</a:t>
            </a:r>
            <a:endParaRPr lang="en-US" sz="1100" dirty="0"/>
          </a:p>
        </p:txBody>
      </p:sp>
      <p:pic>
        <p:nvPicPr>
          <p:cNvPr id="4" name="Image 0" descr="/home/claude/PDFSentry/deck/assets/orn_globe.png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8229600" y="1554480"/>
            <a:ext cx="3291840" cy="3291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DEMONSTRATION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75488" y="2148840"/>
            <a:ext cx="7589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dirty="0">
                <a:solidFill>
                  <a:srgbClr val="1B1E2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Detection. Robustness. Assurance.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3520440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— 11 interactive views, every number traceable.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— full code, scripts, tests and stored artifacts.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3A3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throughout — nothing is ever executed.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  </a:t>
            </a:r>
            <a:pPr indent="0" marL="0">
              <a:buNone/>
            </a:pPr>
            <a:r>
              <a:rPr lang="en-US" sz="135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github.com/heyalokx/PDFSentry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0990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  </a:t>
            </a:r>
            <a:pPr indent="0" marL="0">
              <a:buNone/>
            </a:pPr>
            <a:r>
              <a:rPr lang="en-US" sz="1350" dirty="0">
                <a:solidFill>
                  <a:srgbClr val="2F8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interactive dashboard (link in repo README)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VIT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Alok Singh</dc:creator>
  <cp:lastModifiedBy>Alok Singh</cp:lastModifiedBy>
  <cp:revision>1</cp:revision>
  <dcterms:created xsi:type="dcterms:W3CDTF">2026-10-28T13:50:34Z</dcterms:created>
  <dcterms:modified xsi:type="dcterms:W3CDTF">2026-10-28T13:50:34Z</dcterms:modified>
</cp:coreProperties>
</file>