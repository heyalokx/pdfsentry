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3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4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Ordinary</c:v>
                </c:pt>
              </c:strCache>
            </c:strRef>
          </c:tx>
          <c:spPr>
            <a:solidFill>
              <a:srgbClr val="2F8F8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PR-AUC</c:v>
                  </c:pt>
                  <c:pt idx="1">
                    <c:v>ROC-AUC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0.9933</c:v>
                </c:pt>
                <c:pt idx="1">
                  <c:v>0.9913</c:v>
                </c:pt>
                <c:pt idx="2">
                  <c:v>0.973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Evasive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PR-AUC</c:v>
                  </c:pt>
                  <c:pt idx="1">
                    <c:v>ROC-AUC</c:v>
                  </c:pt>
                  <c:pt idx="2">
                    <c:v>Recall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0.7864</c:v>
                </c:pt>
                <c:pt idx="1">
                  <c:v>0.9075</c:v>
                </c:pt>
                <c:pt idx="2">
                  <c:v>0.559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A3F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71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</c:v>
                </c:pt>
              </c:strCache>
            </c:strRef>
          </c:tx>
          <c:spPr>
            <a:solidFill>
              <a:srgbClr val="6B717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1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71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1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4473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strings</c:v>
                  </c:pt>
                  <c:pt idx="1">
                    <c:v>byte histogram</c:v>
                  </c:pt>
                  <c:pt idx="2">
                    <c:v>byte entropy</c:v>
                  </c:pt>
                  <c:pt idx="3">
                    <c:v>structure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29</c:v>
                </c:pt>
                <c:pt idx="2">
                  <c:v>9</c:v>
                </c:pt>
                <c:pt idx="3">
                  <c:v>0.4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A3F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EMBER score alone</c:v>
                  </c:pt>
                  <c:pt idx="1">
                    <c:v>EMBER + reachability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0.649</c:v>
                </c:pt>
                <c:pt idx="1">
                  <c:v>0.998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3A3F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EMBER score</c:v>
                </c:pt>
              </c:strCache>
            </c:strRef>
          </c:tx>
          <c:spPr>
            <a:solidFill>
              <a:srgbClr val="C08A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A3F4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8f8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08a2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baseline</c:v>
                  </c:pt>
                  <c:pt idx="1">
                    <c:v>recompress</c:v>
                  </c:pt>
                  <c:pt idx="2">
                    <c:v>decompress</c:v>
                  </c:pt>
                  <c:pt idx="3">
                    <c:v>objstm+</c:v>
                  </c:pt>
                  <c:pt idx="4">
                    <c:v>objstm−</c:v>
                  </c:pt>
                  <c:pt idx="5">
                    <c:v>normalize</c:v>
                  </c:pt>
                  <c:pt idx="6">
                    <c:v>linearize</c:v>
                  </c:pt>
                  <c:pt idx="7">
                    <c:v>encrypt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</c:v>
                </c:pt>
                <c:pt idx="1">
                  <c:v>0.57</c:v>
                </c:pt>
                <c:pt idx="2">
                  <c:v>0.02</c:v>
                </c:pt>
                <c:pt idx="3">
                  <c:v>0</c:v>
                </c:pt>
                <c:pt idx="4">
                  <c:v>0.8</c:v>
                </c:pt>
                <c:pt idx="5">
                  <c:v>0.07</c:v>
                </c:pt>
                <c:pt idx="6">
                  <c:v>0.73</c:v>
                </c:pt>
                <c:pt idx="7">
                  <c:v>0.98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A3F4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2e4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8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9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30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31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jpg"/><Relationship Id="rId3" Type="http://schemas.openxmlformats.org/officeDocument/2006/relationships/image" Target="../media/image-3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jpg"/><Relationship Id="rId3" Type="http://schemas.openxmlformats.org/officeDocument/2006/relationships/image" Target="../media/image-4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image" Target="../media/image-44-2.png"/><Relationship Id="rId3" Type="http://schemas.openxmlformats.org/officeDocument/2006/relationships/image" Target="../media/image-4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BCSE321L · MALWARE ANALYSIS</a:t>
            </a:r>
            <a:endParaRPr lang="en-US" sz="1100" dirty="0"/>
          </a:p>
        </p:txBody>
      </p:sp>
      <p:pic>
        <p:nvPicPr>
          <p:cNvPr id="4" name="Image 0" descr="/home/claude/PDFSentry/deck/assets/orn_globe.png">    </p:cNvPr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7955280" y="1325880"/>
            <a:ext cx="3657600" cy="3657600"/>
          </a:xfrm>
          <a:prstGeom prst="rect">
            <a:avLst/>
          </a:prstGeom>
        </p:spPr>
      </p:pic>
      <p:pic>
        <p:nvPicPr>
          <p:cNvPr id="5" name="Image 1" descr="/home/claude/PDFSentry/deck/assets/orn_arcs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10241280" y="4572000"/>
            <a:ext cx="1371600" cy="1371600"/>
          </a:xfrm>
          <a:prstGeom prst="rect">
            <a:avLst/>
          </a:prstGeom>
        </p:spPr>
      </p:pic>
      <p:pic>
        <p:nvPicPr>
          <p:cNvPr id="6" name="Image 2" descr="/home/claude/PDFSentry/deck/assets/orn_star.png">    </p:cNvPr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7269480" y="2011680"/>
            <a:ext cx="777240" cy="777240"/>
          </a:xfrm>
          <a:prstGeom prst="rect">
            <a:avLst/>
          </a:prstGeom>
        </p:spPr>
      </p:pic>
      <p:pic>
        <p:nvPicPr>
          <p:cNvPr id="7" name="Image 3" descr="/home/claude/PDFSentry/deck/assets/orn_star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1201400" y="1188720"/>
            <a:ext cx="457200" cy="4572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54864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REVIEW · R1 · R2 · R3</a:t>
            </a:r>
            <a:endParaRPr lang="en-US" sz="1400" dirty="0"/>
          </a:p>
        </p:txBody>
      </p:sp>
      <p:sp>
        <p:nvSpPr>
          <p:cNvPr id="9" name="Text 3"/>
          <p:cNvSpPr txBox="1"/>
          <p:nvPr/>
        </p:nvSpPr>
        <p:spPr>
          <a:xfrm>
            <a:off x="475488" y="2167128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spc="100" kern="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PDFSentry</a:t>
            </a:r>
            <a:endParaRPr lang="en-US" sz="8200" dirty="0"/>
          </a:p>
        </p:txBody>
      </p:sp>
      <p:sp>
        <p:nvSpPr>
          <p:cNvPr id="10" name="Text 4"/>
          <p:cNvSpPr txBox="1"/>
          <p:nvPr/>
        </p:nvSpPr>
        <p:spPr>
          <a:xfrm>
            <a:off x="548640" y="36118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Drift-Resilient Static Detection of Malicious PDF Files</a:t>
            </a:r>
            <a:endParaRPr lang="en-US" sz="2100" dirty="0"/>
          </a:p>
        </p:txBody>
      </p:sp>
      <p:sp>
        <p:nvSpPr>
          <p:cNvPr id="11" name="Text 5"/>
          <p:cNvSpPr txBox="1"/>
          <p:nvPr/>
        </p:nvSpPr>
        <p:spPr>
          <a:xfrm>
            <a:off x="548640" y="44805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reading what a PDF will do, not just what it contains.</a:t>
            </a:r>
            <a:endParaRPr lang="en-US" sz="13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54406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Singh  23BCI0158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Mrinali Charhate  23BCI0073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Ashish Nagvekar  23BCI0061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BCSE321L — Malware Analysis · Vellore Institute of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— Proposal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objectives, existing vs proposed system, samples, tools, datasets, methodology and expected outcome.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Implementation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architecture, tools installed, datasets collected, static-analysis results, SHAP diagnosis, findings and blockers.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— Final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across three pillars — Detection, Robustness, Assurance — malware characteristics, IoCs, comparison and demo.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byte/string model sees what a file contains; PDFSentry parses the object graph and asks whether an automatic trigger can reach a dangerous action.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5603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 a state-of-the-art PDF detector, prove why it fails on evasive malware, and add a structural reachability signal that is explainable and obfuscation-invariant — without ever executing a file.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pic>
        <p:nvPicPr>
          <p:cNvPr id="4" name="Image 0" descr="/home/claude/PDFSentry/deck/assets/orn_star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144000" y="100584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91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9AA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</a:t>
            </a:r>
            <a:endParaRPr lang="en-US" sz="1500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3703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200" kern="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PROPOSAL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target, our proposed system, and the plan to build and evaluate it.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spc="5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Domain · Problem · Motivation · Objectives · Existing vs Proposed · Samples · Tools · Datasets · Methodology · Expected outcome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DOMAIN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title &amp; domain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static, explainable detector for malicious PDFs, built around a structural idea rather than metrics alone.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— Explainable, Drift-Resilient Static Detection of Malicious PDF Files.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malware analysis · machine-learning security · document-borne threat detection.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PDF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common malware delivery vectors — portable, trusted by users, and rich in active-content features (JavaScript, launch actions, embedded files).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 and defended research project with a genuinely novel structural idea — not a survey, and not just a benchmark score.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PDF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 malware delivery vector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execution, zero detonation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Novel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benchmark numbers hide a dangerous blind spot on exactly the malware that matters most.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solved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detectors report near-perfect scores on ordinary PDF malware.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evasion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evasive malware — files that already slipped past antivirus — EMBER2024 drops from PR-AUC 0.9933 to 0.7841 on its own challenge set.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detectors read byte and string statistics; they are structurally blind to a document’s object graph and its auto-execution behaviour.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 of 805 real evasive PDFs pass straight through — precisely the malware that reaches an inbox after a gateway.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0.9933 → 0.7841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PR-AUC: ordinary → evasive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355 / 805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evasive PDFs missed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44%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evasive malware slips through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Highest-value target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Evasive PDFs are what remain after an AV gateway — detecting them has outsized security value.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analysts need a reason, not just a probability — a verdict they can verify and act on.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resilience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statistics shift as attackers re-encode and re-compress; a structural signal should be stable by construction.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over appearance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 not “does it look malicious?” but “can it act maliciously when opened?”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brief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rewards a genuinely new idea and real engineering over another high score on a known benchmark.</a:t>
            </a:r>
            <a:endParaRPr lang="en-US" sz="1600" dirty="0"/>
          </a:p>
        </p:txBody>
      </p:sp>
      <p:pic>
        <p:nvPicPr>
          <p:cNvPr id="7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 · Reproduce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Re-establish the EMBER2024 PDF benchmark on the authors’ released model, as a verified baseline.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7919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· Diagnose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to explain why evasive malware is systematically missed.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1071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 · Build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trigger-reachability analyzer over the PDF object graph (engine TRA-1.0).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14223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 · Fuse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reachability + EMBER recovers structural evasions a byte model cannot.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7375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 · Harden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obfuscation-invariance — a verdict stable under lossless re-encoding (semantic stability).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605272"/>
            <a:ext cx="6080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 · Assure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verifiable, explainable verdicts and an interactive dashboard.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366760" y="1965960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25603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is falsifiable and traced to a stored artifact. We separate what is proven on real data from what is demonstrated in a controlled setting.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model &amp; assumptions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boundary for what PDFSentry defends against — and, honestly, what it does not.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goal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PDF that auto-executes a dangerous action (JavaScript, Launch, EmbeddedFile) on open, while reading as benign to an ML detector.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capability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file structure — can compress, encrypt, reorder objects and hide payloads in object streams.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constraint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only — no execution, no sandbox detonation (safety + reproducibility).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auto-execution threats reachable from a trigger; byte-level obfuscation of those threats.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social-engineering PDFs with no active content, and exploits in the viewer binary itself.</a:t>
            </a:r>
            <a:endParaRPr lang="en-US" sz="1600" dirty="0"/>
          </a:p>
        </p:txBody>
      </p:sp>
      <p:pic>
        <p:nvPicPr>
          <p:cNvPr id="8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system vs proposed system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current approaches fall short, and what PDFSentry adds on top of them.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29840"/>
                <a:gridCol w="2529840"/>
                <a:gridCol w="25298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 signatures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EMBER2024 (byte 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PDFSentry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what the file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(bytes/strings)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reachability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 SHAP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 witness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re-encoding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(SSI 0.22)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(SSI 1.00)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training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(deterministic rule)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/ evasive malware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on evasive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the evasion mechanism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108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does not replace EMBER — it supplies the structural evidence a byte/string model structurally lacks.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Malware / samples to be analyzed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evasive malware for evidence; controlled, harmless twins for mechanism — never live execution.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EMBER2024 challenge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 real evasive PDFs that first evaded antivirus — the authors release these as feature vectors.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CIC-Evasive-PDFMal2022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10,025 labelled PDFs (UNB) — used for evasion-cost mapping on a count-based feature set.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twins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PDFs carrying a harmless reachable payload (app.alert) across 4 trigger wirings — for mechanism and robustness studies.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static. No PDF is opened; no JavaScript, launch action or embedded file is ever executed.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805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evasive PDFs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10,025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 labelled PDFs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ever executed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· DATASETS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required &amp; dataset sources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pikepdf — static object-graph recovery; the file is parsed, never executed.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+ thrember (EMBER v3 feature extractor, 2568 dimensions).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(TreeExplainer) for per-feature-family attribution of the model’s decisions.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FastAPI service · pytest · a self-contained ECharts dashboard.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EMBER2024 (FutureComputing4AI, KDD 2025) · CIC-Evasive-PDFMal2022 (University of New Brunswick).</a:t>
            </a:r>
            <a:endParaRPr lang="en-US" sz="1600" dirty="0"/>
          </a:p>
        </p:txBody>
      </p:sp>
      <p:pic>
        <p:nvPicPr>
          <p:cNvPr id="7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parse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pikepdf — never executed — and recover the object-reference graph.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surface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auto / interaction triggers: /OpenAction, /AA, /Names/JavaScript, action chains.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BFS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search from each trigger to a dangerous capability.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taxonomy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· PRESENT_DORMANT · ACTIVE_ONINTERACT · ACTIVE_ONOPEN, each with a minimal witness.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42239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65-D reachability vector with the EMBER score for the final decision.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1965960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5603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asks “does this look like malware?”  Reachability asks “can an automatic trigger reach a dangerous action?” — the question that actually defines the threat.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PROPOSAL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set out to deliver, stated as measurable goals.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Structural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9417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 that reads behaviour, supplying the signal byte-ML lacks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8160" y="274320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02480" y="292608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Explainable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369417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 witness path accompanying every verdict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7680" y="274320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82000" y="292608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Drift-resilient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82000" y="369417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under obfuscation, measured and not merely asserted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80060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Reproducible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6869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number traced to a stored JSON artifact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8160" y="461772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02480" y="480060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A3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602480" y="556869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line between what is proven and what is projected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07680" y="461772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82000" y="480060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Usable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8382000" y="556869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for the defence and live demonstration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pic>
        <p:nvPicPr>
          <p:cNvPr id="4" name="Image 0" descr="/home/claude/PDFSentry/deck/assets/orn_arcs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326880" y="109728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91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9AA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R2</a:t>
            </a:r>
            <a:endParaRPr lang="en-US" sz="1500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3703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200" kern="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the tools and data in place, and the first measured results.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spc="5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methodology · Architecture · Tools installed · Datasets collected · Static &amp; behavioural results · SHAP · Findings · Problems · Status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Finalized methodology &amp; 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0789920" cy="3545312"/>
          </a:xfrm>
          <a:prstGeom prst="roundRect">
            <a:avLst>
              <a:gd name="adj" fmla="val 1290"/>
            </a:avLst>
          </a:prstGeom>
          <a:solidFill>
            <a:srgbClr val="0F141B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127000" dist="50800" dir="5400000">
              <a:srgbClr val="7c8795">
                <a:alpha val="40000"/>
              </a:srgbClr>
            </a:outerShdw>
          </a:effectLst>
        </p:spPr>
      </p:sp>
      <p:pic>
        <p:nvPicPr>
          <p:cNvPr id="7" name="Image 0" descr="/home/claude/PDFSentry/deck/assets/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10607040" cy="33624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6850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PDFSentry pipeline — static throughout; the fusion node combines structural reachability with the EMBER score to produce a typed, witnessed verdict.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INSTALLED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installed &amp; working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 is built, tested and reproducible — not slideware.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parser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pikepdf operational — object-graph recovery + reachability engine (TRA-1.0).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EMBER2024 released PDF model loaded via LightGBM; thrember built from source (not on PyPI).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over the full 2568-D EMBER vector, grouped by feature family.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tests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service; 23 pytest cases passing across parsing, reachability and fusion.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ECharts dashboard (library inlined) — 11 interactive views.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cases passing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2568-D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feature vector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views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Datasets &amp; malware samples collected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EMBER2024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Authors’ PDF model + ordinary test set + the 805 evasive challenge PDFs (released as features).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corpus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real PDF fixtures + 250 generated benign documents (links, forms, bookmarks) for false-positive testing.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Weaponized twins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bases × 4 trigger wirings × 8 lossless transforms, each carrying a harmless payload.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sample set is scripted and regenerable; all results fold into stored JSON artifacts.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285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documents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× 8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wirings × transforms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traced to artifacts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RESULTS · O1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Static analysis results — reproducing the gap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EMBER model, two regimes. Ordinary malware looks solved; evasive malware collapses precision.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90956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0.7864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4381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evasive PR-AUC (reproduced)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355/805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8554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evasive PDFs missed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0.9933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6272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PR-AUC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O2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diagnosis — the structural void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EMBER model spends its attention on the evasive malware it misses (mean |SHAP| by feature family).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90956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~0%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4381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on structure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A3F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~60%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8554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string statistics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6272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looks like caught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(STATIC)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Behavioural reasoning — without execution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template’s “dynamic analysis” is answered by static behavioural reachability — safer, and reproducible.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design, static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sandbox, no detonation — PDFs are never opened. This removes all execution risk and keeps results reproducible.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as proxy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dynamic tracing, we statically prove whether an auto-trigger can reach a dangerous action.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void confirmed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the model acts on string/byte statistics and essentially nothing structural — so it cannot separate evasive malware from benign files.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fill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supplies exactly that missing structural evidence, as a 65-D feature vector fused with the EMBER score.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61327" y="3090672"/>
            <a:ext cx="4791456" cy="3054096"/>
          </a:xfrm>
          <a:prstGeom prst="roundRect">
            <a:avLst>
              <a:gd name="adj" fmla="val 2096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pic>
        <p:nvPicPr>
          <p:cNvPr id="9" name="Image 0" descr="/home/claude/PDFSentry/deck/assets/shot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3200400"/>
            <a:ext cx="4572000" cy="2834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071055" y="6144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+ SHAP in the dashboard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Screenshots — interactive dashboard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7863840" cy="4983480"/>
          </a:xfrm>
          <a:prstGeom prst="roundRect">
            <a:avLst>
              <a:gd name="adj" fmla="val 917"/>
            </a:avLst>
          </a:prstGeom>
          <a:solidFill>
            <a:srgbClr val="0F141B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127000" dist="50800" dir="5400000">
              <a:srgbClr val="7c8795">
                <a:alpha val="40000"/>
              </a:srgbClr>
            </a:outerShdw>
          </a:effectLst>
        </p:spPr>
      </p:sp>
      <p:pic>
        <p:nvPicPr>
          <p:cNvPr id="7" name="Image 0" descr="/home/claude/PDFSentry/deck/assets/shot_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7680960" cy="4800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49640" y="233172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links to a stored JSON artifact — nothing is hand-typed.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29184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Robustness and Assurance, each a clickable view.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25196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 curves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vs evasive, rendered from the real EMBER model.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521208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inlined — opens offline, shareable as a single file.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Important findings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 is real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PR-AUC 0.9933 → 0.7864 on evasive malware; 355/805 missed.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are structural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malware is measurably more compressed than caught malware — median /FlateDecode 12 vs 7 (p &lt; 10⁻¹⁵), higher entropy, larger size.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recovers it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controlled structural evasions, EMBER + reachability fusion lifts ROC-AUC from 0.649 to 0.998.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Confound-free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real-malware evidence uses EMBER’s own released features — no new tooling, no execution, no circular labels.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 &lt; 10⁻¹⁵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gap on real misses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vs 7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/FlateDecode: missed vs caught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0.649 → 0.998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ROC-AUC (controlled)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Problems encountered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malware unobtainable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releases the 805 challenge as features only; CIC raw PDFs triggered AV quarantine and download limits.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workaround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EMBER’s released features for confound-free real-malware evidence, and controlled twins for the mechanism.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friction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thrember is not on PyPI (built from source); a signify import bug was stubbed around.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boundary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way to execute live malware — so the whole pipeline stays static, which became a design strength.</a:t>
            </a:r>
            <a:endParaRPr lang="en-US" sz="1600" dirty="0"/>
          </a:p>
        </p:txBody>
      </p:sp>
      <p:pic>
        <p:nvPicPr>
          <p:cNvPr id="7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· IMPLEMENTATION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 completed vs remaining (at Review 2)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reproduction, SHAP diagnosis, reachability engine + 65-D features, fusion study, dashboard v1.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robustness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obfuscation-invariance (semantic stability).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assurance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verdicts: witnesses, false-positive and determinism measurement.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rigour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controls and honest-scope framing.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42239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delivery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packaging, dashboard polish and write-up.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1965960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5603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“remaining” item was completed for Review 3. The two new pillars — Robustness and Assurance — and the negative controls are the headline additions.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pic>
        <p:nvPicPr>
          <p:cNvPr id="4" name="Image 0" descr="/home/claude/PDFSentry/deck/assets/orn_globe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9052560" y="91440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691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dirty="0">
                <a:solidFill>
                  <a:srgbClr val="9AA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R3</a:t>
            </a:r>
            <a:endParaRPr lang="en-US" sz="15000" dirty="0"/>
          </a:p>
        </p:txBody>
      </p:sp>
      <p:sp>
        <p:nvSpPr>
          <p:cNvPr id="6" name="Text 3"/>
          <p:cNvSpPr txBox="1"/>
          <p:nvPr/>
        </p:nvSpPr>
        <p:spPr>
          <a:xfrm>
            <a:off x="512064" y="3703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200" kern="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</a:t>
            </a:r>
            <a:endParaRPr lang="en-US" sz="5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system and its results across three pillars — Detection, Robustness, Assurance.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spc="5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methodology · Taxonomy · Implementation · Three pillars · Characteristics · IoCs · Detection results · Comparison · Limits · Conclusion · Demo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METHODOLOGY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methodology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parse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pikepdf recovers the object-reference graph; the file is never executed.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surface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every auto / interaction trigger across the known PDF execution vectors.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BFS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Shortest-path search from trigger to dangerous capability; record the minimal witness.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65-D reach vector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verdicts, hop counts, concealment signatures and trigger classes as features.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40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42239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verdict   </a:t>
            </a:r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the EMBER score; emit a typed verdict with a human-checkable path.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66760" y="1965960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UNCHANGED, PROVEN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25603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promised at Review 1 is the one that shipped — now measured for accuracy, robustness and assurance.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Reachability verdict taxonomy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dangerous capability present in the document at all.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PRESENT_DORMANT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capability exists but no trigger can reach it — inert.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ACTIVE_ONINTERACT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only on user interaction (e.g. a clickable link) — a capability, not an auto-threat.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5371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ACTIVE_ONOPEN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action auto-fires on open — the threat class PDFSentry is built to catch.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3291840" cy="4297680"/>
          </a:xfrm>
          <a:prstGeom prst="roundRect">
            <a:avLst>
              <a:gd name="adj" fmla="val 1944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≠ INTENT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2560320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four-state taxonomy is what lets PDFSentry separate a benign clickable link from a weaponised auto-run payload — and report exactly which it found.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implementation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 system, end to end — reproducible, tested and deployable.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92608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TRA-1.0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9417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trigger-reachability engine (static, deterministic)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8160" y="274320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02480" y="292608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65-D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4602480" y="369417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feature vector fused with EMBER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7680" y="274320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82000" y="292608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382000" y="369417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cases passing (parse · reach · fusion)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480060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views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56869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ECharts dashboard, self-contained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28160" y="461772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602480" y="480060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285</a:t>
            </a:r>
            <a:endParaRPr lang="en-US" sz="3400" dirty="0"/>
          </a:p>
        </p:txBody>
      </p:sp>
      <p:sp>
        <p:nvSpPr>
          <p:cNvPr id="21" name="Text 19"/>
          <p:cNvSpPr txBox="1"/>
          <p:nvPr/>
        </p:nvSpPr>
        <p:spPr>
          <a:xfrm>
            <a:off x="4602480" y="556869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documents for false-positive testing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07680" y="4617720"/>
            <a:ext cx="3322320" cy="1645920"/>
          </a:xfrm>
          <a:prstGeom prst="roundRect">
            <a:avLst>
              <a:gd name="adj" fmla="val 3889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82000" y="4800600"/>
            <a:ext cx="277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704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8382000" y="5568696"/>
            <a:ext cx="277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variants in the stability study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OVERVIEW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pillars of the final result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4767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Detection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fusion lifts controlled ROC-AUC 0.649 → 0.998.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Robustness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stability — verdict invariant to lossless obfuscation (SSI 1.000 vs 0.216).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685032"/>
            <a:ext cx="6080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Assurance   </a:t>
            </a:r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verdicts — 0/285 false positives, 1-hop witnesses, deterministic, training-free.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66760" y="1965960"/>
            <a:ext cx="3291840" cy="3017520"/>
          </a:xfrm>
          <a:prstGeom prst="roundRect">
            <a:avLst>
              <a:gd name="adj" fmla="val 2121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41080" y="2194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41080" y="2560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metric, but a complete argument: it works, it holds under attack, and you can verify it by hand.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01 · Detection results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controlled structural evasions, EMBER alone is near-blind; adding the reachability signal makes it near-perfect.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90956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+0.349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4381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from the structural signal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8554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recall on reachable threats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6272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285 benign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02 · Robustness — semantic stability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malicious behaviour, eight lossless re-saves. EMBER’s score swings across the scale; reachability never moves.</a:t>
            </a:r>
            <a:endParaRPr lang="en-US" sz="15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51460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909560" y="26517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78.4%</a:t>
            </a:r>
            <a:endParaRPr lang="en-US" sz="42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343814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docs get BOTH EMBER verdicts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909560" y="40690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1.000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7909560" y="48554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stability index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5486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08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0.216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62727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stability index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Pillar 03 · Assurance — verifiable verdicts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7863840" cy="4983480"/>
          </a:xfrm>
          <a:prstGeom prst="roundRect">
            <a:avLst>
              <a:gd name="adj" fmla="val 917"/>
            </a:avLst>
          </a:prstGeom>
          <a:solidFill>
            <a:srgbClr val="0F141B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127000" dist="50800" dir="5400000">
              <a:srgbClr val="7c8795">
                <a:alpha val="40000"/>
              </a:srgbClr>
            </a:outerShdw>
          </a:effectLst>
        </p:spPr>
      </p:sp>
      <p:pic>
        <p:nvPicPr>
          <p:cNvPr id="7" name="Image 0" descr="/home/claude/PDFSentry/deck/assets/shot_assuranc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7680960" cy="4800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49640" y="233172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alarm ships a minimal witness: catalog → trigger → dangerous node.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29184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285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on the benign corpus (auto-exec gate).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425196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verdict + path over repeated runs; no training data.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5212080"/>
            <a:ext cx="3184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3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 ms median per document — gateway-deployable.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Malware characteristics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evasive PDFs do to survive: automate, conceal, and camouflage as ordinary compression.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Auto-execution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action (JavaScript, Launch, EmbeddedFile) wired to fire on open via /OpenAction, /AA or /Names.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Concealment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payload hidden inside a compressed object stream — present in behaviour, invisible to a token count.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camouflage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/FlateDecode and entropy make the file read as “just compressed” to a statistical model.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Indirection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chains (GoTo → Next) reach the payload at depth, defeating shallow pattern checks.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entropy &gt; 7.9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camouflage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B447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naive = 0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auto-run payload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depth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indirection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Indicators of Compromise (IoCs)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checkable indicators — each maps to a reachability feature, not a fragile byte signature.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auto-trigger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/OpenAction | /AA | /Names/JavaScript with a path to /JS, /Launch or /EmbeddedFile → ACTIVE_ONOPEN.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Hidden-gap signature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ACTIVE capability whose naive token count is 0 — a contradiction only concealment produces.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Object-stream hiding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wrapped in an ObjStm; /FlateDecode count far above the benign median (≈ 12 vs 7).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tells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entropy &gt; 7.9 and file size well above benign, with a JS token count of 0.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action chains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 → Next sequences terminating at a dangerous node.</a:t>
            </a:r>
            <a:endParaRPr lang="en-US" sz="1600" dirty="0"/>
          </a:p>
        </p:txBody>
      </p:sp>
      <p:pic>
        <p:nvPicPr>
          <p:cNvPr id="8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 / results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against the byte-ML baseline and a classic structural-path detector.</a:t>
            </a:r>
            <a:endParaRPr lang="en-US" sz="15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29840"/>
                <a:gridCol w="2529840"/>
                <a:gridCol w="25298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EMBER2024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PDFSentry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E2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what the file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(bytes/strings)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(static paths)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(reachability)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verdict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Post-hoc SHAP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path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Obfuscation-invariant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SSI 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reported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SSI 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evade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re-save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disarm payload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F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F8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(deterministic)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1081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the 0.78 EMBER benchmark is NOT improved (no raw evasive files to retrain). The 0.998 is a controlled result that isolates the mechanism.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</a:t>
            </a:r>
            <a:endParaRPr lang="en-US" sz="1100" dirty="0"/>
          </a:p>
        </p:txBody>
      </p:sp>
      <p:pic>
        <p:nvPicPr>
          <p:cNvPr id="4" name="Image 0" descr="/home/claude/PDFSentry/deck/assets/orn_star_w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9326880" y="914400"/>
            <a:ext cx="19202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· SECURITY OPERATIONS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75488" y="2240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000" spc="100" kern="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Command Center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shipped as a working PDF-security portal — ingest, risk-score, triage, and prove every verdict.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CONSOLE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241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PDF, parsed and risk-scored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79880" y="1719072"/>
            <a:ext cx="8631936" cy="5442966"/>
          </a:xfrm>
          <a:prstGeom prst="roundRect">
            <a:avLst>
              <a:gd name="adj" fmla="val 840"/>
            </a:avLst>
          </a:prstGeom>
          <a:solidFill>
            <a:srgbClr val="0B0E14"/>
          </a:solidFill>
          <a:ln w="12700">
            <a:solidFill>
              <a:srgbClr val="34D6C2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home/claude/PDFSentry/deck/assets/shot_conso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88" y="1783080"/>
            <a:ext cx="8503920" cy="53149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718947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 artifacts triaged — an auto-exec threat open, with its indicators and the reachability witness that justifies quarantine.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241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Fleet posture at a glance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4632" y="2039112"/>
            <a:ext cx="5340096" cy="3385566"/>
          </a:xfrm>
          <a:prstGeom prst="roundRect">
            <a:avLst>
              <a:gd name="adj" fmla="val 1350"/>
            </a:avLst>
          </a:prstGeom>
          <a:solidFill>
            <a:srgbClr val="0B0E14"/>
          </a:solidFill>
          <a:ln w="12700">
            <a:solidFill>
              <a:srgbClr val="34D6C2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home/claude/PDFSentry/deck/assets/shot_op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212080" cy="32575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47039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0.00% false positives · 1.17 ms · 100% deterministic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3912" y="2039112"/>
            <a:ext cx="5340096" cy="3385566"/>
          </a:xfrm>
          <a:prstGeom prst="roundRect">
            <a:avLst>
              <a:gd name="adj" fmla="val 1350"/>
            </a:avLst>
          </a:prstGeom>
          <a:solidFill>
            <a:srgbClr val="0B0E14"/>
          </a:solidFill>
          <a:ln w="12700">
            <a:solidFill>
              <a:srgbClr val="34D6C2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/home/claude/PDFSentry/deck/assets/shot_evasio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212080" cy="32575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0" y="547039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evasion — fusion lifts 0.649 → 0.998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ANALYSIS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241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attack path, traced live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79880" y="1719072"/>
            <a:ext cx="8631936" cy="5442966"/>
          </a:xfrm>
          <a:prstGeom prst="roundRect">
            <a:avLst>
              <a:gd name="adj" fmla="val 840"/>
            </a:avLst>
          </a:prstGeom>
          <a:solidFill>
            <a:srgbClr val="0B0E14"/>
          </a:solidFill>
          <a:ln w="12700">
            <a:solidFill>
              <a:srgbClr val="34D6C2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home/claude/PDFSentry/deck/assets/shot_liv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888" y="1783080"/>
            <a:ext cx="8503920" cy="53149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718947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says benign; PDFSentry says dangerous — and the object graph lights the catalog → trigger → JavaScript path.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PORTAL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2412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science behind the verdict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84632" y="2039112"/>
            <a:ext cx="5340096" cy="3385566"/>
          </a:xfrm>
          <a:prstGeom prst="roundRect">
            <a:avLst>
              <a:gd name="adj" fmla="val 1350"/>
            </a:avLst>
          </a:prstGeom>
          <a:solidFill>
            <a:srgbClr val="0B0E14"/>
          </a:solidFill>
          <a:ln w="12700">
            <a:solidFill>
              <a:srgbClr val="34D6C2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7" name="Image 0" descr="/home/claude/PDFSentry/deck/assets/shot_realm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5212080" cy="32575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47039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evasive malware — the compression signature (p &lt; 10⁻¹⁵)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53912" y="2039112"/>
            <a:ext cx="5340096" cy="3385566"/>
          </a:xfrm>
          <a:prstGeom prst="roundRect">
            <a:avLst>
              <a:gd name="adj" fmla="val 1350"/>
            </a:avLst>
          </a:prstGeom>
          <a:solidFill>
            <a:srgbClr val="0B0E14"/>
          </a:solidFill>
          <a:ln w="12700">
            <a:solidFill>
              <a:srgbClr val="34D6C2"/>
            </a:solidFill>
            <a:prstDash val="solid"/>
          </a:ln>
          <a:effectLst>
            <a:outerShdw sx="100000" sy="100000" kx="0" ky="0" algn="bl" rotWithShape="0" blurRad="203200" dist="76200" dir="5400000">
              <a:srgbClr val="000000">
                <a:alpha val="55000"/>
              </a:srgbClr>
            </a:outerShdw>
          </a:effectLst>
        </p:spPr>
      </p:sp>
      <p:pic>
        <p:nvPicPr>
          <p:cNvPr id="10" name="Image 1" descr="/home/claude/PDFSentry/deck/assets/shot_stabilit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212080" cy="32575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217920" y="547039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stability — SSI 1.000 vs EMBER 0.216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C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3" name="Text 9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Honest scope &amp; limitations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so the contribution is credible: what is proven, and what is projected.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231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not beaten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 NOT raise EMBER’s 0.78 evasive score — retraining needs raw evasive PDFs we could not obtain.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mechanism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0.998 fusion is on controlled weaponized twins; it isolates the signal, it is not a benchmark claim.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≠ intent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flags a reachable dangerous capability; a benign PDF that genuinely auto-runs JS would be flagged too.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only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cross-validation — by design, for safety and reproducibility.</a:t>
            </a:r>
            <a:endParaRPr lang="en-US" sz="1600" dirty="0"/>
          </a:p>
        </p:txBody>
      </p:sp>
      <p:pic>
        <p:nvPicPr>
          <p:cNvPr id="8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idea, built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a structural, static detector that reads what a PDF will do.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results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(0.649→0.998 controlled), Robustness (SSI 1.000 vs 0.216), Assurance (0/285 FP, verifiable).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gap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Byte-ML spends ~0% on structure; evasive misses are measurably more compressed (p &lt; 10⁻¹⁵).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&amp; reproducible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to an artifact; scope is stated without overclaim.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0.998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(controlled ROC-AUC)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5371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1.000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(stability index)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5074920"/>
            <a:ext cx="3383280" cy="1097280"/>
          </a:xfrm>
          <a:prstGeom prst="roundRect">
            <a:avLst>
              <a:gd name="adj" fmla="val 5833"/>
            </a:avLst>
          </a:prstGeom>
          <a:solidFill>
            <a:srgbClr val="EEF0F2"/>
          </a:solidFill>
          <a:ln w="9525">
            <a:solidFill>
              <a:srgbClr val="CED2D8"/>
            </a:solidFill>
            <a:prstDash val="solid"/>
          </a:ln>
          <a:effectLst>
            <a:outerShdw sx="100000" sy="100000" kx="0" ky="0" algn="bl" rotWithShape="0" blurRad="101600" dist="38100" dir="5400000">
              <a:srgbClr val="9aa0a8">
                <a:alpha val="3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02752" y="523036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F8F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/ 285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5769864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(false positives)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· FINAL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12064" y="786384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F8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7899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1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65960"/>
            <a:ext cx="10881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raw evasive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raw evasive PDFs to retrain a reachability-augmented model and test the 0.78 benchmark directly.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cross-check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a sample to validate reachability verdicts against observed behaviour.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deployment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 ms/file makes an email / browser gateway pre-filter realistic.</a:t>
            </a:r>
            <a:endParaRPr lang="en-US" sz="16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PDF  </a:t>
            </a:r>
            <a:pPr indent="0" marL="0">
              <a:lnSpc>
                <a:spcPct val="118000"/>
              </a:lnSpc>
              <a:spcAft>
                <a:spcPts val="1300"/>
              </a:spcAft>
              <a:buNone/>
            </a:pPr>
            <a:r>
              <a:rPr lang="en-US" sz="1600" dirty="0">
                <a:solidFill>
                  <a:srgbClr val="3A3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reachability abstraction to Office OOXML and other active-content formats.</a:t>
            </a:r>
            <a:endParaRPr lang="en-US" sz="1600" dirty="0"/>
          </a:p>
        </p:txBody>
      </p:sp>
      <p:pic>
        <p:nvPicPr>
          <p:cNvPr id="7" name="Image 0" descr="/home/claude/PDFSentry/deck/assets/orn_ring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561320" y="5120640"/>
            <a:ext cx="1097280" cy="10972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6528816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A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Reachability over Recognition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32301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659575" y="292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PDFSENTRY · R3</a:t>
            </a:r>
            <a:endParaRPr lang="en-US" sz="1100" dirty="0"/>
          </a:p>
        </p:txBody>
      </p:sp>
      <p:pic>
        <p:nvPicPr>
          <p:cNvPr id="4" name="Image 0" descr="/home/claude/PDFSentry/deck/assets/orn_star_w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9692640" y="822960"/>
            <a:ext cx="1737360" cy="1737360"/>
          </a:xfrm>
          <a:prstGeom prst="rect">
            <a:avLst/>
          </a:prstGeom>
        </p:spPr>
      </p:pic>
      <p:pic>
        <p:nvPicPr>
          <p:cNvPr id="5" name="Image 1" descr="/home/claude/PDFSentry/deck/assets/orn_star_w.png">    </p:cNvPr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8321040" y="3108960"/>
            <a:ext cx="868680" cy="8686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475488" y="23317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Detection. Robustness.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rgbClr val="EEF1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Assurance.</a:t>
            </a:r>
            <a:endParaRPr lang="en-US" sz="52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39319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over recognition — reading what a PDF will do, not what it looks like.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portal, 23 tests, and every number traced to an artifact.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by design — static throughout, nothing ever executed.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pPr indent="0" marL="0">
              <a:buNone/>
            </a:pPr>
            <a:r>
              <a:rPr lang="en-US" sz="135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github.com/heyalokx/PDFSentry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904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E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  </a:t>
            </a:r>
            <a:pPr indent="0" marL="0">
              <a:buNone/>
            </a:pPr>
            <a:r>
              <a:rPr lang="en-US" sz="1350" dirty="0">
                <a:solidFill>
                  <a:srgbClr val="34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interactive dashboard (link in repo README)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VIT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Alok Singh</dc:creator>
  <cp:lastModifiedBy>Alok Singh</cp:lastModifiedBy>
  <cp:revision>1</cp:revision>
  <dcterms:created xsi:type="dcterms:W3CDTF">2026-10-29T11:02:11Z</dcterms:created>
  <dcterms:modified xsi:type="dcterms:W3CDTF">2026-10-29T11:02:11Z</dcterms:modified>
</cp:coreProperties>
</file>