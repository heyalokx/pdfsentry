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2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Ordinary</c:v>
                </c:pt>
              </c:strCache>
            </c:strRef>
          </c:tx>
          <c:spPr>
            <a:solidFill>
              <a:srgbClr val="2F8F8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F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PR-AUC</c:v>
                  </c:pt>
                  <c:pt idx="1">
                    <c:v>ROC-AUC</c:v>
                  </c:pt>
                  <c:pt idx="2">
                    <c:v>Recall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0.9933</c:v>
                </c:pt>
                <c:pt idx="1">
                  <c:v>0.9913</c:v>
                </c:pt>
                <c:pt idx="2">
                  <c:v>0.973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Evasive</c:v>
                </c:pt>
              </c:strCache>
            </c:strRef>
          </c:tx>
          <c:spPr>
            <a:solidFill>
              <a:srgbClr val="C08A2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F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PR-AUC</c:v>
                  </c:pt>
                  <c:pt idx="1">
                    <c:v>ROC-AUC</c:v>
                  </c:pt>
                  <c:pt idx="2">
                    <c:v>Recall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0.7864</c:v>
                </c:pt>
                <c:pt idx="1">
                  <c:v>0.9075</c:v>
                </c:pt>
                <c:pt idx="2">
                  <c:v>0.559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A3F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1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2e4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1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B717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C08A2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A3F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8a2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8f82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EMBER score alone</c:v>
                  </c:pt>
                  <c:pt idx="1">
                    <c:v>EMBER + reachability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0.649</c:v>
                </c:pt>
                <c:pt idx="1">
                  <c:v>0.998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3A3F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1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2e4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1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EMBER score</c:v>
                </c:pt>
              </c:strCache>
            </c:strRef>
          </c:tx>
          <c:spPr>
            <a:solidFill>
              <a:srgbClr val="C08A2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F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8a2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8a2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8f8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f8f8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8a2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f8f82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08a2e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08a2e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baseline</c:v>
                  </c:pt>
                  <c:pt idx="1">
                    <c:v>recompress</c:v>
                  </c:pt>
                  <c:pt idx="2">
                    <c:v>decompress</c:v>
                  </c:pt>
                  <c:pt idx="3">
                    <c:v>objstm+</c:v>
                  </c:pt>
                  <c:pt idx="4">
                    <c:v>objstm−</c:v>
                  </c:pt>
                  <c:pt idx="5">
                    <c:v>normalize</c:v>
                  </c:pt>
                  <c:pt idx="6">
                    <c:v>linearize</c:v>
                  </c:pt>
                  <c:pt idx="7">
                    <c:v>encrypt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0.8</c:v>
                </c:pt>
                <c:pt idx="1">
                  <c:v>0.57</c:v>
                </c:pt>
                <c:pt idx="2">
                  <c:v>0.02</c:v>
                </c:pt>
                <c:pt idx="3">
                  <c:v>0</c:v>
                </c:pt>
                <c:pt idx="4">
                  <c:v>0.8</c:v>
                </c:pt>
                <c:pt idx="5">
                  <c:v>0.07</c:v>
                </c:pt>
                <c:pt idx="6">
                  <c:v>0.73</c:v>
                </c:pt>
                <c:pt idx="7">
                  <c:v>0.98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A3F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1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2e4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1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17-image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Slide-27-image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Slide-28-image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jpeg"/><Relationship Id="rId2" Type="http://schemas.openxmlformats.org/officeDocument/2006/relationships/image" Target="../media/image-2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jpe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jpe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jpeg"/><Relationship Id="rId2" Type="http://schemas.openxmlformats.org/officeDocument/2006/relationships/image" Target="../media/image-3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jpe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jpe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jpe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jpe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BCSE321L · MALWARE ANALYSIS</a:t>
            </a:r>
            <a:endParaRPr lang="en-US" sz="1100" dirty="0"/>
          </a:p>
        </p:txBody>
      </p:sp>
      <p:pic>
        <p:nvPicPr>
          <p:cNvPr id="4" name="Image 0" descr="/home/claude/PDFSentry/deck/assets/orn_globe.png">    </p:cNvPr>
          <p:cNvPicPr>
            <a:picLocks noChangeAspect="1"/>
          </p:cNvPicPr>
          <p:nvPr/>
        </p:nvPicPr>
        <p:blipFill>
          <a:blip r:embed="rId2">
            <a:alphaModFix amt="72000"/>
          </a:blip>
          <a:stretch>
            <a:fillRect/>
          </a:stretch>
        </p:blipFill>
        <p:spPr>
          <a:xfrm>
            <a:off x="7955280" y="1371600"/>
            <a:ext cx="3657600" cy="3657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REVIEW · R1 · R2 · R3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75488" y="2212848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0" spc="100" kern="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PDFSentry</a:t>
            </a:r>
            <a:endParaRPr lang="en-US" sz="8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6576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1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Explainable, Drift-Resilient Static Detection of Malicious PDF Files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349240"/>
            <a:ext cx="6766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Alok Singh  23BCI0158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Mrinali Charhate  23BCI0073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Aarya Ashish Nagvekar  23BCI0061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BCSE321L — Malware Analysis · Vellore Institute of Technology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this deck covers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19072"/>
            <a:ext cx="6080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— Proposal 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Problem, objectives, proposed system, methodology, datasets and expected outcome.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786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560320"/>
            <a:ext cx="6080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— Implementation 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tools, datasets collected, static analysis results, findings and blockers.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4198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401568"/>
            <a:ext cx="6080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— Final 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results across three pillars — Detection, Robustness, Assurance — IoCs, comparison and demo.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26110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4242816"/>
            <a:ext cx="6080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 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byte/string model sees what a file contains; PDFSentry sees what it will do when opened.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366760" y="1737360"/>
            <a:ext cx="3291840" cy="4114800"/>
          </a:xfrm>
          <a:prstGeom prst="roundRect">
            <a:avLst>
              <a:gd name="adj" fmla="val 1944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641080" y="19659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641080" y="2331720"/>
            <a:ext cx="2788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reproduce a state-of-the-art PDF detector, prove why it fails on evasive malware, and add a structural reachability signal that is explainable and obfuscation-invariant.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· PROPOSAL</a:t>
            </a:r>
            <a:endParaRPr lang="en-US" sz="1100" dirty="0"/>
          </a:p>
        </p:txBody>
      </p:sp>
      <p:pic>
        <p:nvPicPr>
          <p:cNvPr id="4" name="Image 0" descr="/home/claude/PDFSentry/deck/assets/orn_star.png">    </p:cNvPr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9144000" y="1005840"/>
            <a:ext cx="2103120" cy="2103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78308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dirty="0">
                <a:solidFill>
                  <a:srgbClr val="9AA0A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R1</a:t>
            </a:r>
            <a:endParaRPr lang="en-US" sz="15000" dirty="0"/>
          </a:p>
        </p:txBody>
      </p:sp>
      <p:sp>
        <p:nvSpPr>
          <p:cNvPr id="6" name="Text 3"/>
          <p:cNvSpPr txBox="1"/>
          <p:nvPr/>
        </p:nvSpPr>
        <p:spPr>
          <a:xfrm>
            <a:off x="512064" y="37947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spc="200" kern="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PROPOSAL</a:t>
            </a:r>
            <a:endParaRPr lang="en-US" sz="5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8463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Problem, objectives, proposed system, datasets, methodology and expected outcome.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· PROPOSAL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Project title &amp; domain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36192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static, explainable detector for malicious PDFs — built around a structural idea, not just metrics.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194560"/>
            <a:ext cx="6309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— Explainable, Drift-Resilient Static Detection of Malicious PDF Files.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malware analysis · machine-learning security · document-borne threats.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BCSE321L Malware Analysis — a built, defended research project, not a survey.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PDF: one of the most common malware delivery vectors in phishing and targeted attacks.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24367" y="2724912"/>
            <a:ext cx="3328416" cy="2147011"/>
          </a:xfrm>
          <a:prstGeom prst="roundRect">
            <a:avLst>
              <a:gd name="adj" fmla="val 2981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pic>
        <p:nvPicPr>
          <p:cNvPr id="8" name="Image 0" descr="/home/claude/PDFSentry/deck/assets/orn_glob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4095" y="2834640"/>
            <a:ext cx="3108960" cy="19275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· PROPOSAL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Problem statement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3619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benchmark numbers hide a dangerous blind spot on exactly the malware that evades defences.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194560"/>
            <a:ext cx="10881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ML detectors look solved on ordinary malware but collapse on evasive malware — files that already slipped past antivirus.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EMBER2024, a state-of-the-art PDF detector, drops from PR-AUC 0.9933 (ordinary) to 0.7841 (evasive) on its own challenge set.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detectors read byte and string statistics; they are blind to a document’s structure and auto-execution behaviour.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355 of 805 real evasive PDFs slip straight through — the ones that matter most.</a:t>
            </a:r>
            <a:endParaRPr lang="en-US" sz="1500" dirty="0"/>
          </a:p>
        </p:txBody>
      </p:sp>
      <p:pic>
        <p:nvPicPr>
          <p:cNvPr id="7" name="Image 0" descr="/home/claude/PDFSentry/deck/assets/orn_ring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561320" y="5257800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· PROPOSAL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Motivation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10881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risk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Evasive PDFs are what reach inboxes after passing an AV gateway — detecting them has outsized value.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Analysts need a reason, not just a score — a verdict they can verify and act on.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Byte-statistics drift as attackers re-encode; a structural signal should be stable by construction.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 over metrics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 rewards a genuinely new idea and real engineering, not another high score on a known benchmark.</a:t>
            </a:r>
            <a:endParaRPr lang="en-US" sz="1500" dirty="0"/>
          </a:p>
        </p:txBody>
      </p:sp>
      <p:pic>
        <p:nvPicPr>
          <p:cNvPr id="6" name="Image 0" descr="/home/claude/PDFSentry/deck/assets/orn_ring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561320" y="5257800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· PROPOSAL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Objectives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19072"/>
            <a:ext cx="10195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 · Reproduce 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Re-establish the EMBER2024 PDF benchmark on the authors’ released model.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505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432304"/>
            <a:ext cx="10195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O2 · Diagnose 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SHAP to show why evasive malware is missed.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1638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145536"/>
            <a:ext cx="10195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O3 · Build 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trigger-reachability analyzer over the PDF object graph.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8770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858768"/>
            <a:ext cx="10195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O4 · Fuse 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reachability + EMBER recovers structural evasions.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5902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572000"/>
            <a:ext cx="10195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O5 · Harden 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obfuscation-invariance (semantic stability).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303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5285232"/>
            <a:ext cx="10195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O6 · Assure 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verifiable, explainable verdicts + an interactive dashboard.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· PROPOSAL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Existing system vs proposed system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08813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29840"/>
                <a:gridCol w="2529840"/>
                <a:gridCol w="25298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 signatures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EMBER2024 (byte ML)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PDFSentry (ours)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what the file DOES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(bytes/strings)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8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reachability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Explainable verdict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Post-hoc SHAP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8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Witness path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Robust to re-encoding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8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(by design)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training data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Signatures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8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(deterministic rule)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6126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does not replace EMBER — it supplies the structural evidence EMBER structurally lacks.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· PROPOSAL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Malware / samples to be analyzed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3619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evasive malware for evidence; controlled, harmless twins for mechanism — never live execution.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194560"/>
            <a:ext cx="10881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EMBER2024 challenge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805 real evasive PDFs that first evaded antivirus (released as features).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CIC-Evasive-PDFMal2022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10,025 labelled PDFs — used for evasion-cost mapping.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twins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PDFs carrying a harmless reachable payload (app.alert) — for mechanism studies.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STATIC. No PDF is ever opened, no JavaScript or action is ever executed.</a:t>
            </a:r>
            <a:endParaRPr lang="en-US" sz="1500" dirty="0"/>
          </a:p>
        </p:txBody>
      </p:sp>
      <p:pic>
        <p:nvPicPr>
          <p:cNvPr id="7" name="Image 0" descr="/home/claude/PDFSentry/deck/assets/orn_ring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561320" y="5257800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· PROPOSAL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Tools required &amp; dataset sources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10881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pikepdf — static object-graph recovery (never executes the file).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+ thrember (EMBER v3 feature extractor, 2568-D).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(TreeExplainer) for feature-family attribution.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 · FastAPI · pytest · ECharts dashboard.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EMBER2024 (FutureComputing4AI, KDD 2025) · CIC-Evasive-PDFMal2022 (UNB).</a:t>
            </a:r>
            <a:endParaRPr lang="en-US" sz="1500" dirty="0"/>
          </a:p>
        </p:txBody>
      </p:sp>
      <p:pic>
        <p:nvPicPr>
          <p:cNvPr id="6" name="Image 0" descr="/home/claude/PDFSentry/deck/assets/orn_ring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561320" y="5257800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· PROPOSAL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Proposed methodology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19072"/>
            <a:ext cx="6080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parse 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with pikepdf — never executed — recover the object-reference graph.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786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560320"/>
            <a:ext cx="6080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surface 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Enumerate auto / interaction triggers: /OpenAction, /AA, /Names/JavaScript, action chains.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4198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401568"/>
            <a:ext cx="6080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Reachability BFS 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Shortest-path search from each trigger to a dangerous capability.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26110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4242816"/>
            <a:ext cx="6080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taxonomy 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 · PRESENT_DORMANT · ACTIVE_ONINTERACT · ACTIVE_ONOPEN, with a minimal witness.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10235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5084064"/>
            <a:ext cx="6080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the 65-D reachability vector with the EMBER score for the final decision.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366760" y="1737360"/>
            <a:ext cx="3291840" cy="4114800"/>
          </a:xfrm>
          <a:prstGeom prst="roundRect">
            <a:avLst>
              <a:gd name="adj" fmla="val 1944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641080" y="19659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641080" y="2331720"/>
            <a:ext cx="2788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asks “does this look like malware?”  Reachability asks “can an automatic trigger reach a dangerous action?” — the question that actually defines the threat.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· PROPOSAL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Expected outcome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3619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project set out to deliver.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3322320" cy="1783080"/>
          </a:xfrm>
          <a:prstGeom prst="roundRect">
            <a:avLst>
              <a:gd name="adj" fmla="val 3590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2807208"/>
            <a:ext cx="277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Structural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630168"/>
            <a:ext cx="277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detector that reads behaviour, supplying the signal byte-ML lacks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8160" y="2606040"/>
            <a:ext cx="3322320" cy="1783080"/>
          </a:xfrm>
          <a:prstGeom prst="roundRect">
            <a:avLst>
              <a:gd name="adj" fmla="val 3590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02480" y="2807208"/>
            <a:ext cx="277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Explainable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602480" y="3630168"/>
            <a:ext cx="277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verifiable witness path with every verdict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07680" y="2606040"/>
            <a:ext cx="3322320" cy="1783080"/>
          </a:xfrm>
          <a:prstGeom prst="roundRect">
            <a:avLst>
              <a:gd name="adj" fmla="val 3590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82000" y="2807208"/>
            <a:ext cx="277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08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Drift-resilient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8382000" y="3630168"/>
            <a:ext cx="277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 under obfuscation, measured not asserted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617720"/>
            <a:ext cx="3322320" cy="1783080"/>
          </a:xfrm>
          <a:prstGeom prst="roundRect">
            <a:avLst>
              <a:gd name="adj" fmla="val 3590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22960" y="4818888"/>
            <a:ext cx="277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Reproducible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641848"/>
            <a:ext cx="277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traced to a stored artifact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328160" y="4617720"/>
            <a:ext cx="3322320" cy="1783080"/>
          </a:xfrm>
          <a:prstGeom prst="roundRect">
            <a:avLst>
              <a:gd name="adj" fmla="val 3590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602480" y="4818888"/>
            <a:ext cx="277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3A3F4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Honest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4602480" y="5641848"/>
            <a:ext cx="277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separation of what is proven from what is projected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107680" y="4617720"/>
            <a:ext cx="3322320" cy="1783080"/>
          </a:xfrm>
          <a:prstGeom prst="roundRect">
            <a:avLst>
              <a:gd name="adj" fmla="val 3590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382000" y="4818888"/>
            <a:ext cx="277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Usable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8382000" y="5641848"/>
            <a:ext cx="277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dashboard for the defence and demo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· IMPLEMENTATION</a:t>
            </a:r>
            <a:endParaRPr lang="en-US" sz="1100" dirty="0"/>
          </a:p>
        </p:txBody>
      </p:sp>
      <p:pic>
        <p:nvPicPr>
          <p:cNvPr id="4" name="Image 0" descr="/home/claude/PDFSentry/deck/assets/orn_arcs.png">    </p:cNvPr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9326880" y="1097280"/>
            <a:ext cx="1920240" cy="1920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78308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dirty="0">
                <a:solidFill>
                  <a:srgbClr val="9AA0A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R2</a:t>
            </a:r>
            <a:endParaRPr lang="en-US" sz="15000" dirty="0"/>
          </a:p>
        </p:txBody>
      </p:sp>
      <p:sp>
        <p:nvSpPr>
          <p:cNvPr id="6" name="Text 3"/>
          <p:cNvSpPr txBox="1"/>
          <p:nvPr/>
        </p:nvSpPr>
        <p:spPr>
          <a:xfrm>
            <a:off x="512064" y="37947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spc="200" kern="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IMPLEMENTATION</a:t>
            </a:r>
            <a:endParaRPr lang="en-US" sz="5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8463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tooling, datasets collected, static analysis results, findings and blockers.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· IMPLEMENTATION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Finalized methodology &amp; system architecture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10789920" cy="3545312"/>
          </a:xfrm>
          <a:prstGeom prst="roundRect">
            <a:avLst>
              <a:gd name="adj" fmla="val 1290"/>
            </a:avLst>
          </a:prstGeom>
          <a:solidFill>
            <a:srgbClr val="0F141B"/>
          </a:solidFill>
          <a:ln w="12700">
            <a:solidFill>
              <a:srgbClr val="2B3542"/>
            </a:solidFill>
            <a:prstDash val="solid"/>
          </a:ln>
          <a:effectLst>
            <a:outerShdw sx="100000" sy="100000" kx="0" ky="0" algn="bl" rotWithShape="0" blurRad="127000" dist="50800" dir="5400000">
              <a:srgbClr val="7c8795">
                <a:alpha val="40000"/>
              </a:srgbClr>
            </a:outerShdw>
          </a:effectLst>
        </p:spPr>
      </p:sp>
      <p:pic>
        <p:nvPicPr>
          <p:cNvPr id="6" name="Image 0" descr="/home/claude/PDFSentry/deck/assets/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10607040" cy="33624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45640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PDFSentry pipeline — static throughout; the fusion node combines structural reachability with the EMBER score.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· IMPLEMENTATION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Tools installed &amp; working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3619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stack is built and reproducible — not slideware.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194560"/>
            <a:ext cx="10881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parser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pikepdf operational — object graph + reachability engine (TRA-1.0).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EMBER2024 released PDF model loaded via LightGBM; thrember built from source.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TreeExplainer over the full 2568-D EMBER vector.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&amp; tests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service; 23 pytest cases passing across parsing, reachability and fusion.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Self-contained ECharts dashboard (ECharts inlined) — 11 interactive views.</a:t>
            </a:r>
            <a:endParaRPr lang="en-US" sz="1500" dirty="0"/>
          </a:p>
        </p:txBody>
      </p:sp>
      <p:pic>
        <p:nvPicPr>
          <p:cNvPr id="7" name="Image 0" descr="/home/claude/PDFSentry/deck/assets/orn_ring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561320" y="5257800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· IMPLEMENTATION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Datasets &amp; malware samples collected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10881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EMBER2024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Authors’ PDF model + ordinary test set + 805 evasive challenge PDFs (released as features).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corpus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real PDF fixtures + 250 generated benign documents for false-positive testing.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Weaponized twins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bases × 4 trigger wirings × 8 lossless transforms, each with a harmless payload.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sample set is scripted and regenerable; results fold into stored JSON artifacts.</a:t>
            </a:r>
            <a:endParaRPr lang="en-US" sz="1500" dirty="0"/>
          </a:p>
        </p:txBody>
      </p:sp>
      <p:pic>
        <p:nvPicPr>
          <p:cNvPr id="6" name="Image 0" descr="/home/claude/PDFSentry/deck/assets/orn_ring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561320" y="5257800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· IMPLEMENTATION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Static analysis results — reproducing the gap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3619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EMBER model, two regimes. Ordinary malware looks solved; evasive malware collapses precision.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228600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909560" y="242316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C08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0.7864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7909560" y="320954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evasive PR-AUC (reproduced)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38862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B447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355/805</a:t>
            </a:r>
            <a:endParaRPr lang="en-US" sz="42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46725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evasive PDFs missed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909560" y="53492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0.9933</a:t>
            </a:r>
            <a:endParaRPr lang="en-US" sz="4200" dirty="0"/>
          </a:p>
        </p:txBody>
      </p:sp>
      <p:sp>
        <p:nvSpPr>
          <p:cNvPr id="12" name="Text 9"/>
          <p:cNvSpPr txBox="1"/>
          <p:nvPr/>
        </p:nvSpPr>
        <p:spPr>
          <a:xfrm>
            <a:off x="7909560" y="613562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ordinary PR-AUC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· IMPLEMENTATION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Behavioural reasoning — without execution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36192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template’s “dynamic analysis” is answered by static behavioural reachability — safer and reproducible.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194560"/>
            <a:ext cx="6309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design, static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sandbox, no detonation — PDFs are never opened. This removes all execution risk and is reproducible.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Reachability as proxy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dynamic tracing, we statically prove whether an auto-trigger can reach a dangerous action.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diagnosis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EMBER model, attribution is ~60% string features, ~29% byte histogram, and essentially 0% structure.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detector has no structural signal to separate evasive malware from benign files — the void we fill.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961327" y="3090672"/>
            <a:ext cx="4791456" cy="3054096"/>
          </a:xfrm>
          <a:prstGeom prst="roundRect">
            <a:avLst>
              <a:gd name="adj" fmla="val 2096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pic>
        <p:nvPicPr>
          <p:cNvPr id="8" name="Image 0" descr="/home/claude/PDFSentry/deck/assets/dash_overview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1055" y="3200400"/>
            <a:ext cx="4572000" cy="28346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071055" y="61447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+ reproduction in the dashboard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· IMPLEMENTATION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Screenshots — interactive dashboard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7863840" cy="4584070"/>
          </a:xfrm>
          <a:prstGeom prst="roundRect">
            <a:avLst>
              <a:gd name="adj" fmla="val 997"/>
            </a:avLst>
          </a:prstGeom>
          <a:solidFill>
            <a:srgbClr val="0F141B"/>
          </a:solidFill>
          <a:ln w="12700">
            <a:solidFill>
              <a:srgbClr val="2B3542"/>
            </a:solidFill>
            <a:prstDash val="solid"/>
          </a:ln>
          <a:effectLst>
            <a:outerShdw sx="100000" sy="100000" kx="0" ky="0" algn="bl" rotWithShape="0" blurRad="127000" dist="50800" dir="5400000">
              <a:srgbClr val="7c8795">
                <a:alpha val="40000"/>
              </a:srgbClr>
            </a:outerShdw>
          </a:effectLst>
        </p:spPr>
      </p:sp>
      <p:pic>
        <p:nvPicPr>
          <p:cNvPr id="6" name="Image 0" descr="/home/claude/PDFSentry/deck/assets/dash_overview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680960" cy="440119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549640" y="2103120"/>
            <a:ext cx="3184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Traceable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KPI links to a stored JSON artifact — nothing is hand-typed.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017520"/>
            <a:ext cx="3184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pillars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Detection, Robustness and Assurance, each a clickable view.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3931920"/>
            <a:ext cx="3184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 curves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Ordinary vs evasive rendered from the real EMBER model.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846320"/>
            <a:ext cx="3184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Self-contained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ECharts inlined — opens offline, shareable as one file.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· IMPLEMENTATION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Important findings (Review 2)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10881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 is real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EMBER PR-AUC 0.9933 → 0.7864 on evasive malware; 355/805 missed.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Misses are structural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malware is measurably more compressed than caught malware — /FlateDecode 12 vs 7 (p &lt; 10⁻¹⁵), higher entropy, larger size.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Reachability recovers it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controlled structural evasions, EMBER+reachability fusion lifts ROC-AUC from 0.649 to 0.998.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Confound-free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real-malware evidence uses EMBER’s own released features — no new tooling, no execution.</a:t>
            </a:r>
            <a:endParaRPr lang="en-US" sz="1500" dirty="0"/>
          </a:p>
        </p:txBody>
      </p:sp>
      <p:pic>
        <p:nvPicPr>
          <p:cNvPr id="6" name="Image 0" descr="/home/claude/PDFSentry/deck/assets/orn_ring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561320" y="5257800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· IMPLEMENTATION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Problems encountered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10881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malware unobtainable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EMBER releases the 805 challenge as features only; CIC raw PDFs triggered AV quarantine and download limits.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workaround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EMBER’s released features for confound-free real-malware evidence, and controlled twins for the mechanism.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Tooling friction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thrember is not on PyPI (built from source); a signify import bug was stubbed around.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boundary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safe way to execute live malware — so the whole pipeline stays static, which became a design strength.</a:t>
            </a:r>
            <a:endParaRPr lang="en-US" sz="1500" dirty="0"/>
          </a:p>
        </p:txBody>
      </p:sp>
      <p:pic>
        <p:nvPicPr>
          <p:cNvPr id="6" name="Image 0" descr="/home/claude/PDFSentry/deck/assets/orn_ring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561320" y="5257800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· IMPLEMENTATION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 completed vs remaining (at Review 2)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19072"/>
            <a:ext cx="6080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EMBER reproduction, SHAP diagnosis, reachability engine + 65-D features, fusion study, dashboard v1.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786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560320"/>
            <a:ext cx="6080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· robustness 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obfuscation-invariance (semantic stability).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4198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401568"/>
            <a:ext cx="6080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· assurance 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verdicts: witnesses, false-positive and determinism measurement.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26110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4242816"/>
            <a:ext cx="6080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· rigour 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controls and honest-scope framing.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10235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5084064"/>
            <a:ext cx="6080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· delivery 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packaging, dashboard polish and write-up.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366760" y="1737360"/>
            <a:ext cx="3291840" cy="4114800"/>
          </a:xfrm>
          <a:prstGeom prst="roundRect">
            <a:avLst>
              <a:gd name="adj" fmla="val 1944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641080" y="19659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→ R3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641080" y="2331720"/>
            <a:ext cx="2788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“remaining” item below was completed for Review 3 — the two new pillars (Robustness, Assurance) and the negative controls are the headline additions.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pic>
        <p:nvPicPr>
          <p:cNvPr id="4" name="Image 0" descr="/home/claude/PDFSentry/deck/assets/orn_globe.png">    </p:cNvPr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9052560" y="914400"/>
            <a:ext cx="2377440" cy="23774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78308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dirty="0">
                <a:solidFill>
                  <a:srgbClr val="9AA0A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R3</a:t>
            </a:r>
            <a:endParaRPr lang="en-US" sz="15000" dirty="0"/>
          </a:p>
        </p:txBody>
      </p:sp>
      <p:sp>
        <p:nvSpPr>
          <p:cNvPr id="6" name="Text 3"/>
          <p:cNvSpPr txBox="1"/>
          <p:nvPr/>
        </p:nvSpPr>
        <p:spPr>
          <a:xfrm>
            <a:off x="512064" y="37947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spc="200" kern="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FINAL</a:t>
            </a:r>
            <a:endParaRPr lang="en-US" sz="5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8463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methodology, complete implementation, results across three pillars, IoCs, comparison and demo.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Final methodology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19072"/>
            <a:ext cx="6080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parse 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pikepdf recovers the object-reference graph; the file is never executed.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786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560320"/>
            <a:ext cx="6080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surface 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Enumerate every auto / interaction trigger across the known PDF execution vectors.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4198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401568"/>
            <a:ext cx="6080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Reachability BFS 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Shortest-path search from trigger to dangerous capability; record the minimal witness.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26110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4242816"/>
            <a:ext cx="6080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65-D reach vector 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verdicts, hops, concealment signatures and trigger classes as features.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10235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5084064"/>
            <a:ext cx="6080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+ verdict 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with the EMBER score; emit a typed verdict with a human-checkable path.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366760" y="1737360"/>
            <a:ext cx="3291840" cy="4114800"/>
          </a:xfrm>
          <a:prstGeom prst="roundRect">
            <a:avLst>
              <a:gd name="adj" fmla="val 1944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641080" y="19659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UNCHANGED, PROVEN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641080" y="2331720"/>
            <a:ext cx="2788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methodology promised at Review 1 is the one that shipped — now measured for accuracy, robustness and assurance.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Complete implementation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3619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built system, end to end — reproducible and tested.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3322320" cy="1783080"/>
          </a:xfrm>
          <a:prstGeom prst="roundRect">
            <a:avLst>
              <a:gd name="adj" fmla="val 3590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2807208"/>
            <a:ext cx="277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TRA-1.0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630168"/>
            <a:ext cx="277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trigger-reachability engine (static, deterministic)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8160" y="2606040"/>
            <a:ext cx="3322320" cy="1783080"/>
          </a:xfrm>
          <a:prstGeom prst="roundRect">
            <a:avLst>
              <a:gd name="adj" fmla="val 3590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02480" y="2807208"/>
            <a:ext cx="277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65-D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4602480" y="3630168"/>
            <a:ext cx="277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reachability feature vector fused with EMBER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07680" y="2606040"/>
            <a:ext cx="3322320" cy="1783080"/>
          </a:xfrm>
          <a:prstGeom prst="roundRect">
            <a:avLst>
              <a:gd name="adj" fmla="val 3590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82000" y="2807208"/>
            <a:ext cx="277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382000" y="3630168"/>
            <a:ext cx="277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cases passing (parse · reach · fusion)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617720"/>
            <a:ext cx="3322320" cy="1783080"/>
          </a:xfrm>
          <a:prstGeom prst="roundRect">
            <a:avLst>
              <a:gd name="adj" fmla="val 3590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22960" y="4818888"/>
            <a:ext cx="277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08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11 views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641848"/>
            <a:ext cx="277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ECharts dashboard, self-contained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328160" y="4617720"/>
            <a:ext cx="3322320" cy="1783080"/>
          </a:xfrm>
          <a:prstGeom prst="roundRect">
            <a:avLst>
              <a:gd name="adj" fmla="val 3590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602480" y="4818888"/>
            <a:ext cx="277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285</a:t>
            </a:r>
            <a:endParaRPr lang="en-US" sz="3400" dirty="0"/>
          </a:p>
        </p:txBody>
      </p:sp>
      <p:sp>
        <p:nvSpPr>
          <p:cNvPr id="20" name="Text 18"/>
          <p:cNvSpPr txBox="1"/>
          <p:nvPr/>
        </p:nvSpPr>
        <p:spPr>
          <a:xfrm>
            <a:off x="4602480" y="5641848"/>
            <a:ext cx="277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documents for false-positive testing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107680" y="4617720"/>
            <a:ext cx="3322320" cy="1783080"/>
          </a:xfrm>
          <a:prstGeom prst="roundRect">
            <a:avLst>
              <a:gd name="adj" fmla="val 3590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382000" y="4818888"/>
            <a:ext cx="277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704</a:t>
            </a:r>
            <a:endParaRPr lang="en-US" sz="3400" dirty="0"/>
          </a:p>
        </p:txBody>
      </p:sp>
      <p:sp>
        <p:nvSpPr>
          <p:cNvPr id="23" name="Text 21"/>
          <p:cNvSpPr txBox="1"/>
          <p:nvPr/>
        </p:nvSpPr>
        <p:spPr>
          <a:xfrm>
            <a:off x="8382000" y="5641848"/>
            <a:ext cx="277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obfuscation variants in the stability study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pillars of the final result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19072"/>
            <a:ext cx="6080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Detection 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Reachability over recognition — fusion lifts controlled ROC-AUC 0.649 → 0.998.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786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560320"/>
            <a:ext cx="6080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Robustness 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stability — verdict invariant to lossless obfuscation (SSI 1.000 vs 0.216).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4198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401568"/>
            <a:ext cx="6080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Assurance 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verdicts — 0/285 false positives, 1-hop witnesses, deterministic, training-free.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366760" y="1737360"/>
            <a:ext cx="3291840" cy="2926080"/>
          </a:xfrm>
          <a:prstGeom prst="roundRect">
            <a:avLst>
              <a:gd name="adj" fmla="val 2188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641080" y="19659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641080" y="2331720"/>
            <a:ext cx="2788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→ Robustness → Assurance. Not one metric, but a complete argument: it works, it holds under attack, and you can verify it.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Pillar 01 · Detection results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3619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controlled structural evasions, EMBER alone is near-blind; adding the reachability signal makes it near-perfect.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228600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909560" y="242316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+0.349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7909560" y="320954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from the structural signal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38862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42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46725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reachability recall on reachable threats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909560" y="53492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4200" dirty="0"/>
          </a:p>
        </p:txBody>
      </p:sp>
      <p:sp>
        <p:nvSpPr>
          <p:cNvPr id="12" name="Text 9"/>
          <p:cNvSpPr txBox="1"/>
          <p:nvPr/>
        </p:nvSpPr>
        <p:spPr>
          <a:xfrm>
            <a:off x="7909560" y="613562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positives on 285 benign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Pillar 02 · Robustness — semantic stability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3619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malicious behaviour, eight lossless re-saves. EMBER’s score swings across the scale; reachability never moves.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228600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909560" y="242316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B447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78.4%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7909560" y="320954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docs get BOTH EMBER verdicts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38862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1.000</a:t>
            </a:r>
            <a:endParaRPr lang="en-US" sz="42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46725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reachability stability index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909560" y="53492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C08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0.216</a:t>
            </a:r>
            <a:endParaRPr lang="en-US" sz="4200" dirty="0"/>
          </a:p>
        </p:txBody>
      </p:sp>
      <p:sp>
        <p:nvSpPr>
          <p:cNvPr id="12" name="Text 9"/>
          <p:cNvSpPr txBox="1"/>
          <p:nvPr/>
        </p:nvSpPr>
        <p:spPr>
          <a:xfrm>
            <a:off x="7909560" y="613562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EMBER stability index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Pillar 03 · Assurance — verifiable verdicts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7863840" cy="4584070"/>
          </a:xfrm>
          <a:prstGeom prst="roundRect">
            <a:avLst>
              <a:gd name="adj" fmla="val 997"/>
            </a:avLst>
          </a:prstGeom>
          <a:solidFill>
            <a:srgbClr val="0F141B"/>
          </a:solidFill>
          <a:ln w="12700">
            <a:solidFill>
              <a:srgbClr val="2B3542"/>
            </a:solidFill>
            <a:prstDash val="solid"/>
          </a:ln>
          <a:effectLst>
            <a:outerShdw sx="100000" sy="100000" kx="0" ky="0" algn="bl" rotWithShape="0" blurRad="127000" dist="50800" dir="5400000">
              <a:srgbClr val="7c8795">
                <a:alpha val="40000"/>
              </a:srgbClr>
            </a:outerShdw>
          </a:effectLst>
        </p:spPr>
      </p:sp>
      <p:pic>
        <p:nvPicPr>
          <p:cNvPr id="6" name="Image 0" descr="/home/claude/PDFSentry/deck/assets/dash_assuranc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680960" cy="440119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549640" y="2103120"/>
            <a:ext cx="3184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alarm ships a minimal witness: catalog → trigger → dangerous node.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017520"/>
            <a:ext cx="3184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285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positives on the benign corpus (auto-exec gate).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3931920"/>
            <a:ext cx="3184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verdict + path over repeated runs; no training data.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846320"/>
            <a:ext cx="3184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~1.2 ms median per document — gateway-deployable.</a:t>
            </a:r>
            <a:endParaRPr lang="en-US" sz="13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Malware characteristics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3619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evasive PDFs do to survive: automate, conceal, and camouflage as ordinary compression.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194560"/>
            <a:ext cx="10881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Auto-execution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dangerous action (JavaScript, Launch, EmbeddedFile) wired to fire on open via /OpenAction, /AA or /Names.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Concealment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payload hidden inside a compressed object stream — present in behaviour, invisible to a token count.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 camouflage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/FlateDecode and entropy make the file read as “just compressed” to a statistical model.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Indirection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chains (GoTo → Next) reach the payload at depth, defeating shallow pattern checks.</a:t>
            </a:r>
            <a:endParaRPr lang="en-US" sz="1500" dirty="0"/>
          </a:p>
        </p:txBody>
      </p:sp>
      <p:pic>
        <p:nvPicPr>
          <p:cNvPr id="7" name="Image 0" descr="/home/claude/PDFSentry/deck/assets/orn_ring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561320" y="5257800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Indicators of Compromise (IoCs)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3619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Structural, checkable indicators — each maps to a reachability feature, not a fragile byte signature.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194560"/>
            <a:ext cx="10881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Reachable auto-trigger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/OpenAction | /AA | /Names/JavaScript with a path to /JS, /Launch or /EmbeddedFile → ACTIVE_ONOPEN.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Hidden-gap signature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ACTIVE capability whose naive token count is 0 — a contradiction only concealment produces.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Object-stream hiding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wrapped in an ObjStm; /FlateDecode count far above the benign median (≈ 12 vs 7).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tells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 entropy &gt; 7.9 and file size well above benign, with a JS token count of 0.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action chains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GoTo → Next sequences terminating at a dangerous node.</a:t>
            </a:r>
            <a:endParaRPr lang="en-US" sz="1500" dirty="0"/>
          </a:p>
        </p:txBody>
      </p:sp>
      <p:pic>
        <p:nvPicPr>
          <p:cNvPr id="7" name="Image 0" descr="/home/claude/PDFSentry/deck/assets/orn_ring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561320" y="5257800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Comparison / results</a:t>
            </a:r>
            <a:endParaRPr lang="en-US" sz="3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08813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29840"/>
                <a:gridCol w="2529840"/>
                <a:gridCol w="25298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EMBER2024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Hidost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PDFSentry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what the file DOES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(bytes/strings)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(static paths)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8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(reachability)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Explainable verdict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Post-hoc SHAP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8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Witness path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Obfuscation-invariant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SSI 0.22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reported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8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SSI 1.00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to evade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re-save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Low–medium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8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 disarm payload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data needed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8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(deterministic)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6126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scope: the 0.78 EMBER benchmark is NOT improved (no raw evasive files to retrain). The 0.998 is a controlled result that isolates the mechanism.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Screenshots — reachability &amp; robustness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7863840" cy="4584070"/>
          </a:xfrm>
          <a:prstGeom prst="roundRect">
            <a:avLst>
              <a:gd name="adj" fmla="val 997"/>
            </a:avLst>
          </a:prstGeom>
          <a:solidFill>
            <a:srgbClr val="0F141B"/>
          </a:solidFill>
          <a:ln w="12700">
            <a:solidFill>
              <a:srgbClr val="2B3542"/>
            </a:solidFill>
            <a:prstDash val="solid"/>
          </a:ln>
          <a:effectLst>
            <a:outerShdw sx="100000" sy="100000" kx="0" ky="0" algn="bl" rotWithShape="0" blurRad="127000" dist="50800" dir="5400000">
              <a:srgbClr val="7c8795">
                <a:alpha val="40000"/>
              </a:srgbClr>
            </a:outerShdw>
          </a:effectLst>
        </p:spPr>
      </p:sp>
      <p:pic>
        <p:nvPicPr>
          <p:cNvPr id="6" name="Image 0" descr="/home/claude/PDFSentry/deck/assets/dash_stabilit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680960" cy="440119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549640" y="2103120"/>
            <a:ext cx="3184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any weaponized twin; its EMBER score-swing plots live.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017520"/>
            <a:ext cx="3184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Invariance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Reachability verdict held constant across all re-saves.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3931920"/>
            <a:ext cx="3184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graph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force-directed view traces the catalog→danger path.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846320"/>
            <a:ext cx="3184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control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feature-only recovery rule fails — motivating true reachability.</a:t>
            </a:r>
            <a:endParaRPr lang="en-US" sz="13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Honest scope &amp; limitations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3619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plainly so the contribution is credible: what is proven, and what is projected.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194560"/>
            <a:ext cx="10881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not beaten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did NOT raise EMBER’s 0.78 evasive score — retraining needs raw evasive PDFs we could not obtain.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mechanism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0.998 fusion is on controlled weaponized twins; it isolates the signal, it is not a benchmark claim.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≠ intent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Reachability flags a reachable dangerous capability; a benign PDF that genuinely auto-runs JS would be flagged too.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only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dynamic cross-validation — by design, for safety and reproducibility.</a:t>
            </a:r>
            <a:endParaRPr lang="en-US" sz="1500" dirty="0"/>
          </a:p>
        </p:txBody>
      </p:sp>
      <p:pic>
        <p:nvPicPr>
          <p:cNvPr id="7" name="Image 0" descr="/home/claude/PDFSentry/deck/assets/orn_ring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561320" y="5257800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10881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idea, built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Reachability over recognition — a structural, static detector that reads what a PDF will do.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results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(0.649→0.998 controlled), Robustness (SSI 1.000 vs 0.216), Assurance (0/285 FP, verifiable).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 the gap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Byte-ML spends ~0% on structure; evasive misses are measurably more compressed (p &lt; 10⁻¹⁵).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&amp; reproducible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traces to an artifact; scope is stated without overclaim.</a:t>
            </a:r>
            <a:endParaRPr lang="en-US" sz="1500" dirty="0"/>
          </a:p>
        </p:txBody>
      </p:sp>
      <p:pic>
        <p:nvPicPr>
          <p:cNvPr id="6" name="Image 0" descr="/home/claude/PDFSentry/deck/assets/orn_ring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561320" y="5257800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Future enhancement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10881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raw evasive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Obtain raw evasive PDFs to retrain a reachability-augmented model and test the 0.78 directly.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cross-check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a sample to validate reachability verdicts against observed behaviour.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deployment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~1.2 ms/file makes an email / browser gateway pre-filter realistic.</a:t>
            </a:r>
            <a:endParaRPr lang="en-US" sz="15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PDF 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reachability abstraction to Office OOXML and other active-content formats.</a:t>
            </a:r>
            <a:endParaRPr lang="en-US" sz="1500" dirty="0"/>
          </a:p>
        </p:txBody>
      </p:sp>
      <p:pic>
        <p:nvPicPr>
          <p:cNvPr id="6" name="Image 0" descr="/home/claude/PDFSentry/deck/assets/orn_ring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561320" y="5257800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pic>
        <p:nvPicPr>
          <p:cNvPr id="4" name="Image 0" descr="/home/claude/PDFSentry/deck/assets/orn_globe.png">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8229600" y="1554480"/>
            <a:ext cx="3291840" cy="3291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737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DEMONSTRATION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75488" y="2148840"/>
            <a:ext cx="7589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Detection. Robustness. Assurance.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3566160"/>
            <a:ext cx="7223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— 11 interactive views, every number traceable.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— full code, scripts, tests and stored artifacts.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throughout — nothing is ever executed.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  </a:t>
            </a:r>
            <a:pPr indent="0" marL="0">
              <a:buNone/>
            </a:pPr>
            <a:r>
              <a:rPr lang="en-US" sz="135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github.com/heyalokx/PDFSentry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053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  </a:t>
            </a:r>
            <a:pPr indent="0" marL="0">
              <a:buNone/>
            </a:pPr>
            <a:r>
              <a:rPr lang="en-US" sz="135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interactive dashboard (link in repo README)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VIT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Alok Singh</dc:creator>
  <cp:lastModifiedBy>Alok Singh</cp:lastModifiedBy>
  <cp:revision>1</cp:revision>
  <dcterms:created xsi:type="dcterms:W3CDTF">2026-10-28T13:11:25Z</dcterms:created>
  <dcterms:modified xsi:type="dcterms:W3CDTF">2026-10-28T13:11:25Z</dcterms:modified>
</cp:coreProperties>
</file>